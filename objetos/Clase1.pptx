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2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media/image11.png" ContentType="image/png"/>
  <Override PartName="/ppt/media/image7.png" ContentType="image/png"/>
  <Override PartName="/ppt/media/image4.gif" ContentType="image/gif"/>
  <Override PartName="/ppt/media/image16.png" ContentType="image/png"/>
  <Override PartName="/ppt/media/image13.png" ContentType="image/png"/>
  <Override PartName="/ppt/media/image9.png" ContentType="image/png"/>
  <Override PartName="/ppt/media/image18.png" ContentType="image/png"/>
  <Override PartName="/ppt/media/image20.png" ContentType="image/png"/>
  <Override PartName="/ppt/media/image5.gif" ContentType="image/gif"/>
  <Override PartName="/ppt/media/image8.png" ContentType="image/png"/>
  <Override PartName="/ppt/media/image17.png" ContentType="image/png"/>
  <Override PartName="/ppt/media/image12.png" ContentType="image/png"/>
  <Override PartName="/ppt/media/image3.jpeg" ContentType="image/jpeg"/>
  <Override PartName="/ppt/media/image6.png" ContentType="image/png"/>
  <Override PartName="/ppt/media/image15.png" ContentType="image/png"/>
  <Override PartName="/ppt/media/image28.png" ContentType="image/png"/>
  <Override PartName="/ppt/media/image27.png" ContentType="image/png"/>
  <Override PartName="/ppt/media/image26.png" ContentType="image/png"/>
  <Override PartName="/ppt/media/image25.png" ContentType="image/png"/>
  <Override PartName="/ppt/media/image24.png" ContentType="image/png"/>
  <Override PartName="/ppt/media/image23.png" ContentType="image/png"/>
  <Override PartName="/ppt/media/image22.png" ContentType="image/png"/>
  <Override PartName="/ppt/media/image14.png" ContentType="image/png"/>
  <Override PartName="/ppt/media/image2.gif" ContentType="image/gif"/>
  <Override PartName="/ppt/media/image21.png" ContentType="image/png"/>
  <Override PartName="/ppt/media/image19.png" ContentType="image/png"/>
  <Override PartName="/ppt/media/image10.png" ContentType="image/png"/>
  <Override PartName="/ppt/media/image1.png" ContentType="image/png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14.xml.rels" ContentType="application/vnd.openxmlformats-package.relationships+xml"/>
  <Override PartName="/ppt/slides/_rels/slide32.xml.rels" ContentType="application/vnd.openxmlformats-package.relationships+xml"/>
  <Override PartName="/ppt/slides/_rels/slide31.xml.rels" ContentType="application/vnd.openxmlformats-package.relationships+xml"/>
  <Override PartName="/ppt/slides/_rels/slide29.xml.rels" ContentType="application/vnd.openxmlformats-package.relationships+xml"/>
  <Override PartName="/ppt/slides/_rels/slide5.xml.rels" ContentType="application/vnd.openxmlformats-package.relationships+xml"/>
  <Override PartName="/ppt/slides/_rels/slide22.xml.rels" ContentType="application/vnd.openxmlformats-package.relationships+xml"/>
  <Override PartName="/ppt/slides/_rels/slide1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30.xml.rels" ContentType="application/vnd.openxmlformats-package.relationships+xml"/>
  <Override PartName="/ppt/slides/_rels/slide28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27.xml.rels" ContentType="application/vnd.openxmlformats-package.relationships+xml"/>
  <Override PartName="/ppt/slides/_rels/slide18.xml.rels" ContentType="application/vnd.openxmlformats-package.relationships+xml"/>
  <Override PartName="/ppt/slides/_rels/slide11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25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1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5.xml" ContentType="application/vnd.openxmlformats-officedocument.presentationml.slide+xml"/>
  <Override PartName="/ppt/slides/slide13.xml" ContentType="application/vnd.openxmlformats-officedocument.presentationml.slide+xml"/>
  <Override PartName="/ppt/slides/slide25.xml" ContentType="application/vnd.openxmlformats-officedocument.presentationml.slide+xml"/>
  <Override PartName="/ppt/slides/slide30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15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2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</p:sld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  <p:sldId id="271" r:id="rId29"/>
    <p:sldId id="272" r:id="rId30"/>
    <p:sldId id="273" r:id="rId31"/>
    <p:sldId id="274" r:id="rId32"/>
    <p:sldId id="275" r:id="rId33"/>
    <p:sldId id="276" r:id="rId34"/>
    <p:sldId id="277" r:id="rId35"/>
    <p:sldId id="278" r:id="rId36"/>
    <p:sldId id="279" r:id="rId37"/>
    <p:sldId id="280" r:id="rId38"/>
    <p:sldId id="281" r:id="rId39"/>
    <p:sldId id="282" r:id="rId40"/>
    <p:sldId id="283" r:id="rId41"/>
    <p:sldId id="284" r:id="rId42"/>
    <p:sldId id="285" r:id="rId43"/>
    <p:sldId id="286" r:id="rId44"/>
    <p:sldId id="287" r:id="rId45"/>
  </p:sldIdLst>
  <p:sldSz cx="10080625" cy="755967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0.xml"/><Relationship Id="rId34" Type="http://schemas.openxmlformats.org/officeDocument/2006/relationships/slide" Target="slides/slide21.xml"/><Relationship Id="rId35" Type="http://schemas.openxmlformats.org/officeDocument/2006/relationships/slide" Target="slides/slide22.xml"/><Relationship Id="rId36" Type="http://schemas.openxmlformats.org/officeDocument/2006/relationships/slide" Target="slides/slide23.xml"/><Relationship Id="rId37" Type="http://schemas.openxmlformats.org/officeDocument/2006/relationships/slide" Target="slides/slide24.xml"/><Relationship Id="rId38" Type="http://schemas.openxmlformats.org/officeDocument/2006/relationships/slide" Target="slides/slide25.xml"/><Relationship Id="rId39" Type="http://schemas.openxmlformats.org/officeDocument/2006/relationships/slide" Target="slides/slide26.xml"/><Relationship Id="rId40" Type="http://schemas.openxmlformats.org/officeDocument/2006/relationships/slide" Target="slides/slide27.xml"/><Relationship Id="rId41" Type="http://schemas.openxmlformats.org/officeDocument/2006/relationships/slide" Target="slides/slide28.xml"/><Relationship Id="rId42" Type="http://schemas.openxmlformats.org/officeDocument/2006/relationships/slide" Target="slides/slide29.xml"/><Relationship Id="rId43" Type="http://schemas.openxmlformats.org/officeDocument/2006/relationships/slide" Target="slides/slide30.xml"/><Relationship Id="rId44" Type="http://schemas.openxmlformats.org/officeDocument/2006/relationships/slide" Target="slides/slide31.xml"/><Relationship Id="rId45" Type="http://schemas.openxmlformats.org/officeDocument/2006/relationships/slide" Target="slides/slide32.xml"/><Relationship Id="rId4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28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</a:t>
            </a: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el formato del </a:t>
            </a: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texto de título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56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56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body"/>
          </p:nvPr>
        </p:nvSpPr>
        <p:spPr>
          <a:xfrm>
            <a:off x="504000" y="4059360"/>
            <a:ext cx="907128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28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</a:t>
            </a: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el formato del </a:t>
            </a: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texto de título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28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504000" y="4059360"/>
            <a:ext cx="907128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28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</a:t>
            </a: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el formato del </a:t>
            </a: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texto de título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56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56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5152680" y="4059360"/>
            <a:ext cx="442656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body"/>
          </p:nvPr>
        </p:nvSpPr>
        <p:spPr>
          <a:xfrm>
            <a:off x="504000" y="4059360"/>
            <a:ext cx="442656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28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</a:t>
            </a: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el formato del </a:t>
            </a: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texto de título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28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28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" name="" descr=""/>
          <p:cNvPicPr/>
          <p:nvPr/>
        </p:nvPicPr>
        <p:blipFill>
          <a:blip r:embed="rId2"/>
          <a:stretch/>
        </p:blipFill>
        <p:spPr>
          <a:xfrm>
            <a:off x="2291760" y="1769040"/>
            <a:ext cx="5495040" cy="4384440"/>
          </a:xfrm>
          <a:prstGeom prst="rect">
            <a:avLst/>
          </a:prstGeom>
          <a:ln w="0">
            <a:noFill/>
          </a:ln>
        </p:spPr>
      </p:pic>
      <p:pic>
        <p:nvPicPr>
          <p:cNvPr id="28" name="" descr=""/>
          <p:cNvPicPr/>
          <p:nvPr/>
        </p:nvPicPr>
        <p:blipFill>
          <a:blip r:embed="rId3"/>
          <a:stretch/>
        </p:blipFill>
        <p:spPr>
          <a:xfrm>
            <a:off x="2291760" y="1769040"/>
            <a:ext cx="5495040" cy="438444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4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AR" sz="4400" spc="-1" strike="noStrike">
                <a:solidFill>
                  <a:srgbClr val="000000"/>
                </a:solidFill>
                <a:latin typeface="Arial"/>
              </a:rPr>
              <a:t>Pulse </a:t>
            </a:r>
            <a:r>
              <a:rPr b="0" lang="es-AR" sz="4400" spc="-1" strike="noStrike">
                <a:solidFill>
                  <a:srgbClr val="000000"/>
                </a:solidFill>
                <a:latin typeface="Arial"/>
              </a:rPr>
              <a:t>para </a:t>
            </a:r>
            <a:r>
              <a:rPr b="0" lang="es-AR" sz="4400" spc="-1" strike="noStrike">
                <a:solidFill>
                  <a:srgbClr val="000000"/>
                </a:solidFill>
                <a:latin typeface="Arial"/>
              </a:rPr>
              <a:t>editar </a:t>
            </a:r>
            <a:r>
              <a:rPr b="0" lang="es-AR" sz="4400" spc="-1" strike="noStrike">
                <a:solidFill>
                  <a:srgbClr val="000000"/>
                </a:solidFill>
                <a:latin typeface="Arial"/>
              </a:rPr>
              <a:t>el </a:t>
            </a:r>
            <a:r>
              <a:rPr b="0" lang="es-AR" sz="4400" spc="-1" strike="noStrike">
                <a:solidFill>
                  <a:srgbClr val="000000"/>
                </a:solidFill>
                <a:latin typeface="Arial"/>
              </a:rPr>
              <a:t>format</a:t>
            </a:r>
            <a:r>
              <a:rPr b="0" lang="es-AR" sz="4400" spc="-1" strike="noStrike">
                <a:solidFill>
                  <a:srgbClr val="000000"/>
                </a:solidFill>
                <a:latin typeface="Arial"/>
              </a:rPr>
              <a:t>o del </a:t>
            </a:r>
            <a:r>
              <a:rPr b="0" lang="es-AR" sz="4400" spc="-1" strike="noStrike">
                <a:solidFill>
                  <a:srgbClr val="000000"/>
                </a:solidFill>
                <a:latin typeface="Arial"/>
              </a:rPr>
              <a:t>texto </a:t>
            </a:r>
            <a:r>
              <a:rPr b="0" lang="es-AR" sz="4400" spc="-1" strike="noStrike">
                <a:solidFill>
                  <a:srgbClr val="000000"/>
                </a:solidFill>
                <a:latin typeface="Arial"/>
              </a:rPr>
              <a:t>de </a:t>
            </a:r>
            <a:r>
              <a:rPr b="0" lang="es-AR" sz="4400" spc="-1" strike="noStrike">
                <a:solidFill>
                  <a:srgbClr val="000000"/>
                </a:solidFill>
                <a:latin typeface="Arial"/>
              </a:rPr>
              <a:t>título</a:t>
            </a: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28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</a:t>
            </a: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el formato del </a:t>
            </a: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texto de título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28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</a:t>
            </a: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el formato del </a:t>
            </a: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texto de título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28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28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</a:t>
            </a: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el formato del </a:t>
            </a: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texto de título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56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56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28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</a:t>
            </a: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el formato del </a:t>
            </a: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texto de título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28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</a:t>
            </a: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el formato del </a:t>
            </a: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texto de título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56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504000" y="4059360"/>
            <a:ext cx="442656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56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28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56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56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5152680" y="4059360"/>
            <a:ext cx="442656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gif"/><Relationship Id="rId2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gif"/><Relationship Id="rId2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gif"/><Relationship Id="rId2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5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slideLayout" Target="../slideLayouts/slideLayout5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slideLayout" Target="../slideLayouts/slideLayout5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5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slideLayout" Target="../slideLayouts/slideLayout5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slideLayout" Target="../slideLayouts/slideLayout5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slideLayout" Target="../slideLayouts/slideLayout5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slideLayout" Target="../slideLayouts/slideLayout5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slideLayout" Target="../slideLayouts/slideLayout5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Shape 1"/>
          <p:cNvSpPr/>
          <p:nvPr/>
        </p:nvSpPr>
        <p:spPr>
          <a:xfrm>
            <a:off x="504000" y="2884680"/>
            <a:ext cx="8999640" cy="71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s-ES" sz="4400" spc="-1" strike="noStrike">
                <a:solidFill>
                  <a:srgbClr val="000000"/>
                </a:solidFill>
                <a:latin typeface="Arial"/>
              </a:rPr>
              <a:t>Curso de Programación en Java</a:t>
            </a: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TextShape 2"/>
          <p:cNvSpPr/>
          <p:nvPr/>
        </p:nvSpPr>
        <p:spPr>
          <a:xfrm>
            <a:off x="180000" y="6616080"/>
            <a:ext cx="9719640" cy="44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s-ES" sz="2400" spc="-1" strike="noStrike">
                <a:solidFill>
                  <a:srgbClr val="ffffff"/>
                </a:solidFill>
                <a:latin typeface="DejaVu Sans"/>
              </a:rPr>
              <a:t>Facultad de Ciencia y Tecnología – Oro Verde - 2013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Shape 3"/>
          <p:cNvSpPr/>
          <p:nvPr/>
        </p:nvSpPr>
        <p:spPr>
          <a:xfrm>
            <a:off x="1405080" y="78120"/>
            <a:ext cx="7559640" cy="91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s-ES" sz="2800" spc="-1" strike="noStrike">
                <a:solidFill>
                  <a:srgbClr val="ffffff"/>
                </a:solidFill>
                <a:latin typeface="DejaVu Sans"/>
              </a:rPr>
              <a:t>Curso de Administración GNU/Linux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s-ES" sz="2800" spc="-1" strike="noStrike">
                <a:solidFill>
                  <a:srgbClr val="ffffff"/>
                </a:solidFill>
                <a:latin typeface="DejaVu Sans"/>
              </a:rPr>
              <a:t>Nivel I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Shape 4"/>
          <p:cNvSpPr/>
          <p:nvPr/>
        </p:nvSpPr>
        <p:spPr>
          <a:xfrm>
            <a:off x="504000" y="3960000"/>
            <a:ext cx="8999640" cy="71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s-ES" sz="4400" spc="-1" strike="noStrike">
                <a:solidFill>
                  <a:srgbClr val="000000"/>
                </a:solidFill>
                <a:latin typeface="Arial"/>
              </a:rPr>
              <a:t>Nivel I</a:t>
            </a: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 spd="med">
    <p:wipe dir="d"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Shape 1"/>
          <p:cNvSpPr/>
          <p:nvPr/>
        </p:nvSpPr>
        <p:spPr>
          <a:xfrm>
            <a:off x="180000" y="2117520"/>
            <a:ext cx="9719640" cy="47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s-ES" sz="2600" spc="-1" strike="noStrike">
                <a:solidFill>
                  <a:srgbClr val="000000"/>
                </a:solidFill>
                <a:latin typeface="DejaVu Sans Condensed"/>
              </a:rPr>
              <a:t>Introducción a la POO</a:t>
            </a:r>
            <a:endParaRPr b="0" lang="es-A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Shape 4"/>
          <p:cNvSpPr/>
          <p:nvPr/>
        </p:nvSpPr>
        <p:spPr>
          <a:xfrm>
            <a:off x="180000" y="3564000"/>
            <a:ext cx="9719640" cy="47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s-ES" sz="2600" spc="-1" strike="noStrike">
                <a:solidFill>
                  <a:srgbClr val="000000"/>
                </a:solidFill>
                <a:latin typeface="DejaVu Sans Condensed"/>
              </a:rPr>
              <a:t>Clases, Objetos, Métodos y Atributos</a:t>
            </a:r>
            <a:endParaRPr b="0" lang="es-A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Shape 5"/>
          <p:cNvSpPr/>
          <p:nvPr/>
        </p:nvSpPr>
        <p:spPr>
          <a:xfrm>
            <a:off x="180000" y="5364000"/>
            <a:ext cx="9719640" cy="47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s-ES" sz="2600" spc="-1" strike="noStrike">
                <a:solidFill>
                  <a:srgbClr val="000000"/>
                </a:solidFill>
                <a:latin typeface="DejaVu Sans Condensed"/>
              </a:rPr>
              <a:t>Codificación en el Lenguaje</a:t>
            </a:r>
            <a:endParaRPr b="0" lang="es-AR" sz="2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 spd="med">
    <p:wipe dir="d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Shape 3"/>
          <p:cNvSpPr/>
          <p:nvPr/>
        </p:nvSpPr>
        <p:spPr>
          <a:xfrm>
            <a:off x="70200" y="895680"/>
            <a:ext cx="9719640" cy="47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2600" spc="-1" strike="noStrike">
                <a:solidFill>
                  <a:srgbClr val="000000"/>
                </a:solidFill>
                <a:latin typeface="DejaVu Sans Condensed"/>
              </a:rPr>
              <a:t>La complejidad del Software</a:t>
            </a:r>
            <a:endParaRPr b="0" lang="es-AR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1" name="" descr=""/>
          <p:cNvPicPr/>
          <p:nvPr/>
        </p:nvPicPr>
        <p:blipFill>
          <a:blip r:embed="rId1"/>
          <a:stretch/>
        </p:blipFill>
        <p:spPr>
          <a:xfrm>
            <a:off x="8100000" y="6324840"/>
            <a:ext cx="1979640" cy="1234800"/>
          </a:xfrm>
          <a:prstGeom prst="rect">
            <a:avLst/>
          </a:prstGeom>
          <a:ln w="0">
            <a:noFill/>
          </a:ln>
        </p:spPr>
      </p:pic>
      <p:sp>
        <p:nvSpPr>
          <p:cNvPr id="72" name="TextShape 4"/>
          <p:cNvSpPr/>
          <p:nvPr/>
        </p:nvSpPr>
        <p:spPr>
          <a:xfrm>
            <a:off x="0" y="1444680"/>
            <a:ext cx="647964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Es una propiedad esencial del software, depende 4 partes: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Shape 5"/>
          <p:cNvSpPr/>
          <p:nvPr/>
        </p:nvSpPr>
        <p:spPr>
          <a:xfrm>
            <a:off x="-9360" y="2271960"/>
            <a:ext cx="9719640" cy="353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lvl="2" marL="648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El </a:t>
            </a:r>
            <a:r>
              <a:rPr b="0" i="1" lang="es-ES" sz="1800" spc="-1" strike="noStrike">
                <a:solidFill>
                  <a:srgbClr val="000000"/>
                </a:solidFill>
                <a:latin typeface="DejaVu Serif Condensed"/>
              </a:rPr>
              <a:t>dominio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 del problema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El </a:t>
            </a:r>
            <a:r>
              <a:rPr b="0" i="1" lang="es-ES" sz="1800" spc="-1" strike="noStrike">
                <a:solidFill>
                  <a:srgbClr val="000000"/>
                </a:solidFill>
                <a:latin typeface="DejaVu Serif Condensed"/>
              </a:rPr>
              <a:t>proceso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 de desarrollo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La </a:t>
            </a:r>
            <a:r>
              <a:rPr b="0" i="1" lang="es-ES" sz="1800" spc="-1" strike="noStrike">
                <a:solidFill>
                  <a:srgbClr val="000000"/>
                </a:solidFill>
                <a:latin typeface="DejaVu Serif Condensed"/>
              </a:rPr>
              <a:t>flexibilidad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 en el software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 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La </a:t>
            </a:r>
            <a:r>
              <a:rPr b="0" i="1" lang="es-ES" sz="1800" spc="-1" strike="noStrike">
                <a:solidFill>
                  <a:srgbClr val="000000"/>
                </a:solidFill>
                <a:latin typeface="DejaVu Serif Condensed"/>
              </a:rPr>
              <a:t>reutilización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 del código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CustomShape 6"/>
          <p:cNvSpPr/>
          <p:nvPr/>
        </p:nvSpPr>
        <p:spPr>
          <a:xfrm>
            <a:off x="4245840" y="2234160"/>
            <a:ext cx="719640" cy="359640"/>
          </a:xfrm>
          <a:custGeom>
            <a:avLst/>
            <a:gdLst>
              <a:gd name="textAreaLeft" fmla="*/ 0 w 719640"/>
              <a:gd name="textAreaRight" fmla="*/ 720000 w 719640"/>
              <a:gd name="textAreaTop" fmla="*/ 0 h 359640"/>
              <a:gd name="textAreaBottom" fmla="*/ 360000 h 359640"/>
            </a:gdLst>
            <a:ahLst/>
            <a:rect l="textAreaLeft" t="textAreaTop" r="textAreaRight" b="textAreaBottom"/>
            <a:pathLst>
              <a:path w="2002" h="1002">
                <a:moveTo>
                  <a:pt x="0" y="250"/>
                </a:moveTo>
                <a:lnTo>
                  <a:pt x="1500" y="250"/>
                </a:lnTo>
                <a:lnTo>
                  <a:pt x="1500" y="0"/>
                </a:lnTo>
                <a:lnTo>
                  <a:pt x="2001" y="500"/>
                </a:lnTo>
                <a:lnTo>
                  <a:pt x="1500" y="1001"/>
                </a:lnTo>
                <a:lnTo>
                  <a:pt x="1500" y="750"/>
                </a:lnTo>
                <a:lnTo>
                  <a:pt x="0" y="750"/>
                </a:lnTo>
                <a:lnTo>
                  <a:pt x="0" y="250"/>
                </a:lnTo>
              </a:path>
            </a:pathLst>
          </a:custGeom>
          <a:solidFill>
            <a:srgbClr val="9999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Shape 7"/>
          <p:cNvSpPr/>
          <p:nvPr/>
        </p:nvSpPr>
        <p:spPr>
          <a:xfrm>
            <a:off x="5220360" y="2250720"/>
            <a:ext cx="4859640" cy="62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Requisitos muy distintos, cambiantes, contradictorios.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CustomShape 8"/>
          <p:cNvSpPr/>
          <p:nvPr/>
        </p:nvSpPr>
        <p:spPr>
          <a:xfrm>
            <a:off x="4245840" y="3314160"/>
            <a:ext cx="719640" cy="359640"/>
          </a:xfrm>
          <a:custGeom>
            <a:avLst/>
            <a:gdLst>
              <a:gd name="textAreaLeft" fmla="*/ 0 w 719640"/>
              <a:gd name="textAreaRight" fmla="*/ 720000 w 719640"/>
              <a:gd name="textAreaTop" fmla="*/ 0 h 359640"/>
              <a:gd name="textAreaBottom" fmla="*/ 360000 h 359640"/>
            </a:gdLst>
            <a:ahLst/>
            <a:rect l="textAreaLeft" t="textAreaTop" r="textAreaRight" b="textAreaBottom"/>
            <a:pathLst>
              <a:path w="2002" h="1002">
                <a:moveTo>
                  <a:pt x="0" y="250"/>
                </a:moveTo>
                <a:lnTo>
                  <a:pt x="1500" y="250"/>
                </a:lnTo>
                <a:lnTo>
                  <a:pt x="1500" y="0"/>
                </a:lnTo>
                <a:lnTo>
                  <a:pt x="2001" y="500"/>
                </a:lnTo>
                <a:lnTo>
                  <a:pt x="1500" y="1001"/>
                </a:lnTo>
                <a:lnTo>
                  <a:pt x="1500" y="750"/>
                </a:lnTo>
                <a:lnTo>
                  <a:pt x="0" y="750"/>
                </a:lnTo>
                <a:lnTo>
                  <a:pt x="0" y="250"/>
                </a:lnTo>
              </a:path>
            </a:pathLst>
          </a:custGeom>
          <a:solidFill>
            <a:srgbClr val="9999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Shape 9"/>
          <p:cNvSpPr/>
          <p:nvPr/>
        </p:nvSpPr>
        <p:spPr>
          <a:xfrm>
            <a:off x="5220360" y="3259080"/>
            <a:ext cx="4499640" cy="88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Intervienen muchos desarrolladores, se necesita coordinar y utilizar una tecnología en común.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CustomShape 10"/>
          <p:cNvSpPr/>
          <p:nvPr/>
        </p:nvSpPr>
        <p:spPr>
          <a:xfrm>
            <a:off x="4245840" y="4358160"/>
            <a:ext cx="719640" cy="359640"/>
          </a:xfrm>
          <a:custGeom>
            <a:avLst/>
            <a:gdLst>
              <a:gd name="textAreaLeft" fmla="*/ 0 w 719640"/>
              <a:gd name="textAreaRight" fmla="*/ 720000 w 719640"/>
              <a:gd name="textAreaTop" fmla="*/ 0 h 359640"/>
              <a:gd name="textAreaBottom" fmla="*/ 360000 h 359640"/>
            </a:gdLst>
            <a:ahLst/>
            <a:rect l="textAreaLeft" t="textAreaTop" r="textAreaRight" b="textAreaBottom"/>
            <a:pathLst>
              <a:path w="2002" h="1002">
                <a:moveTo>
                  <a:pt x="0" y="250"/>
                </a:moveTo>
                <a:lnTo>
                  <a:pt x="1500" y="250"/>
                </a:lnTo>
                <a:lnTo>
                  <a:pt x="1500" y="0"/>
                </a:lnTo>
                <a:lnTo>
                  <a:pt x="2001" y="500"/>
                </a:lnTo>
                <a:lnTo>
                  <a:pt x="1500" y="1001"/>
                </a:lnTo>
                <a:lnTo>
                  <a:pt x="1500" y="750"/>
                </a:lnTo>
                <a:lnTo>
                  <a:pt x="0" y="750"/>
                </a:lnTo>
                <a:lnTo>
                  <a:pt x="0" y="250"/>
                </a:lnTo>
              </a:path>
            </a:pathLst>
          </a:custGeom>
          <a:solidFill>
            <a:srgbClr val="9999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Shape 11"/>
          <p:cNvSpPr/>
          <p:nvPr/>
        </p:nvSpPr>
        <p:spPr>
          <a:xfrm>
            <a:off x="5220360" y="4375080"/>
            <a:ext cx="4499640" cy="62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Sistema apto para cambiar con los requerimientos del cliente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CustomShape 12"/>
          <p:cNvSpPr/>
          <p:nvPr/>
        </p:nvSpPr>
        <p:spPr>
          <a:xfrm>
            <a:off x="4245840" y="5438520"/>
            <a:ext cx="719640" cy="359640"/>
          </a:xfrm>
          <a:custGeom>
            <a:avLst/>
            <a:gdLst>
              <a:gd name="textAreaLeft" fmla="*/ 0 w 719640"/>
              <a:gd name="textAreaRight" fmla="*/ 720000 w 719640"/>
              <a:gd name="textAreaTop" fmla="*/ 0 h 359640"/>
              <a:gd name="textAreaBottom" fmla="*/ 360000 h 359640"/>
            </a:gdLst>
            <a:ahLst/>
            <a:rect l="textAreaLeft" t="textAreaTop" r="textAreaRight" b="textAreaBottom"/>
            <a:pathLst>
              <a:path w="2002" h="1002">
                <a:moveTo>
                  <a:pt x="0" y="250"/>
                </a:moveTo>
                <a:lnTo>
                  <a:pt x="1500" y="250"/>
                </a:lnTo>
                <a:lnTo>
                  <a:pt x="1500" y="0"/>
                </a:lnTo>
                <a:lnTo>
                  <a:pt x="2001" y="500"/>
                </a:lnTo>
                <a:lnTo>
                  <a:pt x="1500" y="1001"/>
                </a:lnTo>
                <a:lnTo>
                  <a:pt x="1500" y="750"/>
                </a:lnTo>
                <a:lnTo>
                  <a:pt x="0" y="750"/>
                </a:lnTo>
                <a:lnTo>
                  <a:pt x="0" y="250"/>
                </a:lnTo>
              </a:path>
            </a:pathLst>
          </a:custGeom>
          <a:solidFill>
            <a:srgbClr val="9999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Shape 13"/>
          <p:cNvSpPr/>
          <p:nvPr/>
        </p:nvSpPr>
        <p:spPr>
          <a:xfrm>
            <a:off x="5220360" y="5455440"/>
            <a:ext cx="4499640" cy="35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No reinventar la rueda.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 spd="med">
    <p:wipe dir="d"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1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1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1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2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2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31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34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" descr=""/>
          <p:cNvPicPr/>
          <p:nvPr/>
        </p:nvPicPr>
        <p:blipFill>
          <a:blip r:embed="rId1"/>
          <a:stretch/>
        </p:blipFill>
        <p:spPr>
          <a:xfrm>
            <a:off x="1980000" y="1980360"/>
            <a:ext cx="6479640" cy="4319640"/>
          </a:xfrm>
          <a:prstGeom prst="rect">
            <a:avLst/>
          </a:prstGeom>
          <a:ln w="0">
            <a:noFill/>
          </a:ln>
        </p:spPr>
      </p:pic>
      <p:sp>
        <p:nvSpPr>
          <p:cNvPr id="83" name="TextShape 3"/>
          <p:cNvSpPr/>
          <p:nvPr/>
        </p:nvSpPr>
        <p:spPr>
          <a:xfrm>
            <a:off x="180000" y="317520"/>
            <a:ext cx="9719640" cy="47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2600" spc="-1" strike="noStrike">
                <a:solidFill>
                  <a:srgbClr val="000000"/>
                </a:solidFill>
                <a:latin typeface="DejaVu Sans Condensed"/>
              </a:rPr>
              <a:t>La complejidad del Software</a:t>
            </a:r>
            <a:endParaRPr b="0" lang="es-A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Shape 4"/>
          <p:cNvSpPr/>
          <p:nvPr/>
        </p:nvSpPr>
        <p:spPr>
          <a:xfrm>
            <a:off x="360000" y="904680"/>
            <a:ext cx="647964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Una triste realidad de los proyectos de Software...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 spd="med">
    <p:wipe dir="d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Shape 3"/>
          <p:cNvSpPr/>
          <p:nvPr/>
        </p:nvSpPr>
        <p:spPr>
          <a:xfrm>
            <a:off x="182160" y="605880"/>
            <a:ext cx="9719640" cy="47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2600" spc="-1" strike="noStrike">
                <a:solidFill>
                  <a:srgbClr val="000000"/>
                </a:solidFill>
                <a:latin typeface="DejaVu Sans Condensed"/>
              </a:rPr>
              <a:t>Programación Orientada a Objetos</a:t>
            </a:r>
            <a:endParaRPr b="0" lang="es-AR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6" name="" descr=""/>
          <p:cNvPicPr/>
          <p:nvPr/>
        </p:nvPicPr>
        <p:blipFill>
          <a:blip r:embed="rId1"/>
          <a:stretch/>
        </p:blipFill>
        <p:spPr>
          <a:xfrm>
            <a:off x="6601680" y="2038680"/>
            <a:ext cx="3479040" cy="3289320"/>
          </a:xfrm>
          <a:prstGeom prst="rect">
            <a:avLst/>
          </a:prstGeom>
          <a:ln w="0">
            <a:noFill/>
          </a:ln>
        </p:spPr>
      </p:pic>
      <p:sp>
        <p:nvSpPr>
          <p:cNvPr id="87" name="TextShape 4"/>
          <p:cNvSpPr/>
          <p:nvPr/>
        </p:nvSpPr>
        <p:spPr>
          <a:xfrm>
            <a:off x="1080" y="1368360"/>
            <a:ext cx="10079640" cy="62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Es un paradigma de programación, es decir una forma de </a:t>
            </a:r>
            <a:r>
              <a:rPr b="0" i="1" lang="es-ES" sz="1800" spc="-1" strike="noStrike">
                <a:solidFill>
                  <a:srgbClr val="000000"/>
                </a:solidFill>
                <a:latin typeface="DejaVu Serif Condensed"/>
              </a:rPr>
              <a:t>analizar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, </a:t>
            </a:r>
            <a:r>
              <a:rPr b="0" i="1" lang="es-ES" sz="1800" spc="-1" strike="noStrike">
                <a:solidFill>
                  <a:srgbClr val="000000"/>
                </a:solidFill>
                <a:latin typeface="DejaVu Serif Condensed"/>
              </a:rPr>
              <a:t>diseñar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 y </a:t>
            </a:r>
            <a:r>
              <a:rPr b="0" i="1" lang="es-ES" sz="1800" spc="-1" strike="noStrike">
                <a:solidFill>
                  <a:srgbClr val="000000"/>
                </a:solidFill>
                <a:latin typeface="DejaVu Serif Condensed"/>
              </a:rPr>
              <a:t>realizar soluciones.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Shape 5"/>
          <p:cNvSpPr/>
          <p:nvPr/>
        </p:nvSpPr>
        <p:spPr>
          <a:xfrm>
            <a:off x="1080" y="2268360"/>
            <a:ext cx="143964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i="1" lang="es-ES" sz="1800" spc="-1" strike="noStrike">
                <a:solidFill>
                  <a:srgbClr val="000000"/>
                </a:solidFill>
                <a:latin typeface="DejaVu Serif Condensed"/>
              </a:rPr>
              <a:t>Objetivos: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Shape 6"/>
          <p:cNvSpPr/>
          <p:nvPr/>
        </p:nvSpPr>
        <p:spPr>
          <a:xfrm>
            <a:off x="101880" y="2736360"/>
            <a:ext cx="7098840" cy="18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lvl="2" marL="648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Escribir software fácilmente modificable y escalable.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Escribir software reusable.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Disponer de un modelo natural para representar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un dominio.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Shape 7"/>
          <p:cNvSpPr/>
          <p:nvPr/>
        </p:nvSpPr>
        <p:spPr>
          <a:xfrm>
            <a:off x="1080" y="4644360"/>
            <a:ext cx="125964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i="1" lang="es-ES" sz="1800" spc="-1" strike="noStrike">
                <a:solidFill>
                  <a:srgbClr val="000000"/>
                </a:solidFill>
                <a:latin typeface="DejaVu Serif Condensed"/>
              </a:rPr>
              <a:t>Ventajas: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Shape 8"/>
          <p:cNvSpPr/>
          <p:nvPr/>
        </p:nvSpPr>
        <p:spPr>
          <a:xfrm>
            <a:off x="101880" y="5112360"/>
            <a:ext cx="7098840" cy="18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lvl="2" marL="648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Fomenta la reutilización del software.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El software desarrollado es más flexible al cambio.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Es más cercano a pensar a la forma de las personas.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 spd="med">
    <p:wipe dir="d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Shape 3"/>
          <p:cNvSpPr/>
          <p:nvPr/>
        </p:nvSpPr>
        <p:spPr>
          <a:xfrm>
            <a:off x="181440" y="459720"/>
            <a:ext cx="9719640" cy="47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2600" spc="-1" strike="noStrike">
                <a:solidFill>
                  <a:srgbClr val="000000"/>
                </a:solidFill>
                <a:latin typeface="DejaVu Sans Condensed"/>
              </a:rPr>
              <a:t>¿Qué es la abstracción?</a:t>
            </a:r>
            <a:endParaRPr b="0" lang="es-A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Shape 4"/>
          <p:cNvSpPr/>
          <p:nvPr/>
        </p:nvSpPr>
        <p:spPr>
          <a:xfrm>
            <a:off x="0" y="1222560"/>
            <a:ext cx="10079640" cy="274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 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Consiste en aislar un elemento de su contexto o del resto de los elementos que lo acompañan.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 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Denota según el </a:t>
            </a:r>
            <a:r>
              <a:rPr b="1" lang="es-ES" sz="1800" spc="-1" strike="noStrike">
                <a:solidFill>
                  <a:srgbClr val="000000"/>
                </a:solidFill>
                <a:latin typeface="DejaVu Serif Condensed"/>
              </a:rPr>
              <a:t>observador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 las características esenciales de un objeto que lo distinguen de los demás. 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 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 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La vista exterior del objeto puede definirse como un contrato, el cual el mismo se compromete a cumplir y los demás objetos dependen.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 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 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Debemos identificar propiedades del objeto (</a:t>
            </a:r>
            <a:r>
              <a:rPr b="0" i="1" lang="es-ES" sz="1800" spc="-1" strike="noStrike">
                <a:solidFill>
                  <a:srgbClr val="000000"/>
                </a:solidFill>
                <a:latin typeface="DejaVu Serif Condensed"/>
              </a:rPr>
              <a:t>atributos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) y comportamientos (</a:t>
            </a:r>
            <a:r>
              <a:rPr b="0" i="1" lang="es-ES" sz="1800" spc="-1" strike="noStrike">
                <a:solidFill>
                  <a:srgbClr val="000000"/>
                </a:solidFill>
                <a:latin typeface="DejaVu Serif Condensed"/>
              </a:rPr>
              <a:t>métodos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).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4" name="" descr=""/>
          <p:cNvPicPr/>
          <p:nvPr/>
        </p:nvPicPr>
        <p:blipFill>
          <a:blip r:embed="rId1"/>
          <a:stretch/>
        </p:blipFill>
        <p:spPr>
          <a:xfrm>
            <a:off x="2880000" y="4680000"/>
            <a:ext cx="4679640" cy="2197800"/>
          </a:xfrm>
          <a:prstGeom prst="rect">
            <a:avLst/>
          </a:prstGeom>
          <a:ln w="0">
            <a:noFill/>
          </a:ln>
        </p:spPr>
      </p:pic>
    </p:spTree>
  </p:cSld>
  <p:transition spd="med">
    <p:wipe dir="d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CustomShape 1"/>
          <p:cNvSpPr/>
          <p:nvPr/>
        </p:nvSpPr>
        <p:spPr>
          <a:xfrm>
            <a:off x="3960000" y="4500000"/>
            <a:ext cx="5759640" cy="1799640"/>
          </a:xfrm>
          <a:prstGeom prst="rect">
            <a:avLst/>
          </a:prstGeom>
          <a:solidFill>
            <a:srgbClr val="99cc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CustomShape 2"/>
          <p:cNvSpPr/>
          <p:nvPr/>
        </p:nvSpPr>
        <p:spPr>
          <a:xfrm>
            <a:off x="4140000" y="1980000"/>
            <a:ext cx="5219640" cy="1799640"/>
          </a:xfrm>
          <a:prstGeom prst="rect">
            <a:avLst/>
          </a:prstGeom>
          <a:solidFill>
            <a:srgbClr val="99cc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Shape 5"/>
          <p:cNvSpPr/>
          <p:nvPr/>
        </p:nvSpPr>
        <p:spPr>
          <a:xfrm>
            <a:off x="181800" y="1577520"/>
            <a:ext cx="9719640" cy="47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2600" spc="-1" strike="noStrike">
                <a:solidFill>
                  <a:srgbClr val="000000"/>
                </a:solidFill>
                <a:latin typeface="DejaVu Sans Condensed"/>
              </a:rPr>
              <a:t>Objetos y Clases</a:t>
            </a:r>
            <a:endParaRPr b="0" lang="es-A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CustomShape 6"/>
          <p:cNvSpPr/>
          <p:nvPr/>
        </p:nvSpPr>
        <p:spPr>
          <a:xfrm>
            <a:off x="542160" y="2521080"/>
            <a:ext cx="2159640" cy="611640"/>
          </a:xfrm>
          <a:prstGeom prst="rect">
            <a:avLst/>
          </a:prstGeom>
          <a:solidFill>
            <a:srgbClr val="9999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s-ES" sz="20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Clases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Shape 7"/>
          <p:cNvSpPr/>
          <p:nvPr/>
        </p:nvSpPr>
        <p:spPr>
          <a:xfrm rot="21589800">
            <a:off x="4142160" y="2116080"/>
            <a:ext cx="5219640" cy="148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 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Modela una abstracción de los objetos.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 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Define atributos y comportamientos. 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 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Es el plano o molde que define un objeto.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CustomShape 8"/>
          <p:cNvSpPr/>
          <p:nvPr/>
        </p:nvSpPr>
        <p:spPr>
          <a:xfrm>
            <a:off x="542160" y="4969080"/>
            <a:ext cx="2159640" cy="611640"/>
          </a:xfrm>
          <a:prstGeom prst="rect">
            <a:avLst/>
          </a:prstGeom>
          <a:solidFill>
            <a:srgbClr val="9999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s-ES" sz="20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Objetos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Shape 9"/>
          <p:cNvSpPr/>
          <p:nvPr/>
        </p:nvSpPr>
        <p:spPr>
          <a:xfrm>
            <a:off x="4032000" y="4572000"/>
            <a:ext cx="5759640" cy="168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 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Está modelado </a:t>
            </a:r>
            <a:r>
              <a:rPr b="0" i="1" lang="es-ES" sz="1800" spc="-1" strike="noStrike">
                <a:solidFill>
                  <a:srgbClr val="000000"/>
                </a:solidFill>
                <a:latin typeface="DejaVu Serif Condensed"/>
              </a:rPr>
              <a:t>en función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 de una clase.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 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Es una </a:t>
            </a:r>
            <a:r>
              <a:rPr b="0" i="1" lang="es-ES" sz="1800" spc="-1" strike="noStrike">
                <a:solidFill>
                  <a:srgbClr val="000000"/>
                </a:solidFill>
                <a:latin typeface="DejaVu Serif Condensed"/>
              </a:rPr>
              <a:t>instancia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 única de una clase.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 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Retiene la estructura y el comportamiento de una clase.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CustomShape 10"/>
          <p:cNvSpPr/>
          <p:nvPr/>
        </p:nvSpPr>
        <p:spPr>
          <a:xfrm>
            <a:off x="3060000" y="2700000"/>
            <a:ext cx="719640" cy="359640"/>
          </a:xfrm>
          <a:custGeom>
            <a:avLst/>
            <a:gdLst>
              <a:gd name="textAreaLeft" fmla="*/ 0 w 719640"/>
              <a:gd name="textAreaRight" fmla="*/ 720000 w 719640"/>
              <a:gd name="textAreaTop" fmla="*/ 0 h 359640"/>
              <a:gd name="textAreaBottom" fmla="*/ 360000 h 359640"/>
            </a:gdLst>
            <a:ahLst/>
            <a:rect l="textAreaLeft" t="textAreaTop" r="textAreaRight" b="textAreaBottom"/>
            <a:pathLst>
              <a:path w="2002" h="1002">
                <a:moveTo>
                  <a:pt x="0" y="250"/>
                </a:moveTo>
                <a:lnTo>
                  <a:pt x="1500" y="250"/>
                </a:lnTo>
                <a:lnTo>
                  <a:pt x="1500" y="0"/>
                </a:lnTo>
                <a:lnTo>
                  <a:pt x="2001" y="500"/>
                </a:lnTo>
                <a:lnTo>
                  <a:pt x="1500" y="1001"/>
                </a:lnTo>
                <a:lnTo>
                  <a:pt x="1500" y="750"/>
                </a:lnTo>
                <a:lnTo>
                  <a:pt x="0" y="750"/>
                </a:lnTo>
                <a:lnTo>
                  <a:pt x="0" y="250"/>
                </a:lnTo>
              </a:path>
            </a:pathLst>
          </a:custGeom>
          <a:solidFill>
            <a:srgbClr val="9999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CustomShape 11"/>
          <p:cNvSpPr/>
          <p:nvPr/>
        </p:nvSpPr>
        <p:spPr>
          <a:xfrm>
            <a:off x="3024000" y="5076000"/>
            <a:ext cx="719640" cy="359640"/>
          </a:xfrm>
          <a:custGeom>
            <a:avLst/>
            <a:gdLst>
              <a:gd name="textAreaLeft" fmla="*/ 0 w 719640"/>
              <a:gd name="textAreaRight" fmla="*/ 720000 w 719640"/>
              <a:gd name="textAreaTop" fmla="*/ 0 h 359640"/>
              <a:gd name="textAreaBottom" fmla="*/ 360000 h 359640"/>
            </a:gdLst>
            <a:ahLst/>
            <a:rect l="textAreaLeft" t="textAreaTop" r="textAreaRight" b="textAreaBottom"/>
            <a:pathLst>
              <a:path w="2002" h="1002">
                <a:moveTo>
                  <a:pt x="0" y="250"/>
                </a:moveTo>
                <a:lnTo>
                  <a:pt x="1500" y="250"/>
                </a:lnTo>
                <a:lnTo>
                  <a:pt x="1500" y="0"/>
                </a:lnTo>
                <a:lnTo>
                  <a:pt x="2001" y="500"/>
                </a:lnTo>
                <a:lnTo>
                  <a:pt x="1500" y="1001"/>
                </a:lnTo>
                <a:lnTo>
                  <a:pt x="1500" y="750"/>
                </a:lnTo>
                <a:lnTo>
                  <a:pt x="0" y="750"/>
                </a:lnTo>
                <a:lnTo>
                  <a:pt x="0" y="250"/>
                </a:lnTo>
              </a:path>
            </a:pathLst>
          </a:custGeom>
          <a:solidFill>
            <a:srgbClr val="9999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 spd="med">
    <p:wipe dir="d"/>
  </p:transition>
  <p:timing>
    <p:tnLst>
      <p:par>
        <p:cTn id="35" dur="indefinite" restart="never" nodeType="tmRoot">
          <p:childTnLst>
            <p:seq>
              <p:cTn id="36" dur="indefinite" nodeType="mainSeq">
                <p:childTnLst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41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44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4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52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55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58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Shape 3"/>
          <p:cNvSpPr/>
          <p:nvPr/>
        </p:nvSpPr>
        <p:spPr>
          <a:xfrm>
            <a:off x="218160" y="360000"/>
            <a:ext cx="9719640" cy="47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2600" spc="-1" strike="noStrike">
                <a:solidFill>
                  <a:srgbClr val="000000"/>
                </a:solidFill>
                <a:latin typeface="DejaVu Sans Condensed"/>
              </a:rPr>
              <a:t>¿Qué es un Objeto?</a:t>
            </a:r>
            <a:endParaRPr b="0" lang="es-A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Shape 4"/>
          <p:cNvSpPr/>
          <p:nvPr/>
        </p:nvSpPr>
        <p:spPr>
          <a:xfrm>
            <a:off x="1080" y="1080000"/>
            <a:ext cx="10079640" cy="19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 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Es una entidad que combina procedimientos e información.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 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Ejecuta operaciones (</a:t>
            </a:r>
            <a:r>
              <a:rPr b="1" i="1" lang="es-ES" sz="1800" spc="-1" strike="noStrike">
                <a:solidFill>
                  <a:srgbClr val="000000"/>
                </a:solidFill>
                <a:latin typeface="DejaVu Serif Condensed"/>
              </a:rPr>
              <a:t>comportamiento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) y almacena información (</a:t>
            </a:r>
            <a:r>
              <a:rPr b="1" i="1" lang="es-ES" sz="1800" spc="-1" strike="noStrike">
                <a:solidFill>
                  <a:srgbClr val="000000"/>
                </a:solidFill>
                <a:latin typeface="DejaVu Serif Condensed"/>
              </a:rPr>
              <a:t>estructura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).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 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 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Los procedimientos o acciones que puede realizar un objeto se denominan </a:t>
            </a:r>
            <a:r>
              <a:rPr b="1" i="1" lang="es-ES" sz="1800" spc="-1" strike="noStrike">
                <a:solidFill>
                  <a:srgbClr val="000000"/>
                </a:solidFill>
                <a:latin typeface="DejaVu Serif Condensed"/>
              </a:rPr>
              <a:t>métodos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 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 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La información que almacena un objeto sobre su estado se denomina </a:t>
            </a:r>
            <a:r>
              <a:rPr b="1" i="1" lang="es-ES" sz="1800" spc="-1" strike="noStrike">
                <a:solidFill>
                  <a:srgbClr val="000000"/>
                </a:solidFill>
                <a:latin typeface="DejaVu Serif Condensed"/>
              </a:rPr>
              <a:t>atributos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CustomShape 5"/>
          <p:cNvSpPr/>
          <p:nvPr/>
        </p:nvSpPr>
        <p:spPr>
          <a:xfrm>
            <a:off x="180000" y="3642480"/>
            <a:ext cx="2159640" cy="2159640"/>
          </a:xfrm>
          <a:prstGeom prst="rect">
            <a:avLst/>
          </a:prstGeom>
          <a:solidFill>
            <a:srgbClr val="99cc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CustomShape 6"/>
          <p:cNvSpPr/>
          <p:nvPr/>
        </p:nvSpPr>
        <p:spPr>
          <a:xfrm>
            <a:off x="432000" y="3822480"/>
            <a:ext cx="1547640" cy="719640"/>
          </a:xfrm>
          <a:prstGeom prst="rect">
            <a:avLst/>
          </a:prstGeom>
          <a:solidFill>
            <a:srgbClr val="33cc66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i="1" lang="es-ES" sz="18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Atributos</a:t>
            </a:r>
            <a:endParaRPr b="0" lang="es-A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CustomShape 7"/>
          <p:cNvSpPr/>
          <p:nvPr/>
        </p:nvSpPr>
        <p:spPr>
          <a:xfrm rot="10790400">
            <a:off x="2700000" y="4183920"/>
            <a:ext cx="898560" cy="544680"/>
          </a:xfrm>
          <a:custGeom>
            <a:avLst/>
            <a:gdLst>
              <a:gd name="textAreaLeft" fmla="*/ 0 w 898560"/>
              <a:gd name="textAreaRight" fmla="*/ 898920 w 898560"/>
              <a:gd name="textAreaTop" fmla="*/ 0 h 544680"/>
              <a:gd name="textAreaBottom" fmla="*/ 545040 h 544680"/>
            </a:gdLst>
            <a:ahLst/>
            <a:rect l="textAreaLeft" t="textAreaTop" r="textAreaRight" b="textAreaBottom"/>
            <a:pathLst>
              <a:path w="2500" h="1516">
                <a:moveTo>
                  <a:pt x="0" y="380"/>
                </a:moveTo>
                <a:lnTo>
                  <a:pt x="1873" y="378"/>
                </a:lnTo>
                <a:lnTo>
                  <a:pt x="1873" y="0"/>
                </a:lnTo>
                <a:lnTo>
                  <a:pt x="2499" y="757"/>
                </a:lnTo>
                <a:lnTo>
                  <a:pt x="1874" y="1515"/>
                </a:lnTo>
                <a:lnTo>
                  <a:pt x="1874" y="1136"/>
                </a:lnTo>
                <a:lnTo>
                  <a:pt x="1" y="1138"/>
                </a:lnTo>
                <a:lnTo>
                  <a:pt x="0" y="380"/>
                </a:lnTo>
              </a:path>
            </a:pathLst>
          </a:custGeom>
          <a:solidFill>
            <a:srgbClr val="9999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CustomShape 8"/>
          <p:cNvSpPr/>
          <p:nvPr/>
        </p:nvSpPr>
        <p:spPr>
          <a:xfrm>
            <a:off x="396000" y="4902480"/>
            <a:ext cx="1583640" cy="647640"/>
          </a:xfrm>
          <a:prstGeom prst="rect">
            <a:avLst/>
          </a:prstGeom>
          <a:solidFill>
            <a:srgbClr val="33cc66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i="1" lang="es-ES" sz="18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Métodos</a:t>
            </a:r>
            <a:endParaRPr b="0" lang="es-A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TextShape 9"/>
          <p:cNvSpPr/>
          <p:nvPr/>
        </p:nvSpPr>
        <p:spPr>
          <a:xfrm>
            <a:off x="3655800" y="4326480"/>
            <a:ext cx="1203840" cy="35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i="1" lang="es-ES" sz="1800" spc="-1" strike="noStrike">
                <a:solidFill>
                  <a:srgbClr val="000000"/>
                </a:solidFill>
                <a:latin typeface="DejaVu Sans Condensed"/>
              </a:rPr>
              <a:t>Objeto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Shape 10"/>
          <p:cNvSpPr/>
          <p:nvPr/>
        </p:nvSpPr>
        <p:spPr>
          <a:xfrm>
            <a:off x="4716000" y="3714480"/>
            <a:ext cx="5219640" cy="161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Los datos describen el </a:t>
            </a:r>
            <a:r>
              <a:rPr b="0" i="1" lang="es-ES" sz="1800" spc="-1" strike="noStrike">
                <a:solidFill>
                  <a:srgbClr val="000000"/>
                </a:solidFill>
                <a:latin typeface="DejaVu Serif Condensed"/>
              </a:rPr>
              <a:t>estado del objeto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Los procedimientos actúan sobre los datos del objeto, </a:t>
            </a:r>
            <a:r>
              <a:rPr b="0" i="1" lang="es-ES" sz="1800" spc="-1" strike="noStrike">
                <a:solidFill>
                  <a:srgbClr val="000000"/>
                </a:solidFill>
                <a:latin typeface="DejaVu Serif Condensed"/>
              </a:rPr>
              <a:t>modificándolos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 o </a:t>
            </a:r>
            <a:r>
              <a:rPr b="0" i="1" lang="es-ES" sz="1800" spc="-1" strike="noStrike">
                <a:solidFill>
                  <a:srgbClr val="000000"/>
                </a:solidFill>
                <a:latin typeface="DejaVu Serif Condensed"/>
              </a:rPr>
              <a:t>brindando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 información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 spd="med">
    <p:wipe dir="d"/>
  </p:transition>
  <p:timing>
    <p:tnLst>
      <p:par>
        <p:cTn id="59" dur="indefinite" restart="never" nodeType="tmRoot">
          <p:childTnLst>
            <p:seq>
              <p:cTn id="60" dur="indefinite" nodeType="mainSeq">
                <p:childTnLst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65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Shape 3"/>
          <p:cNvSpPr/>
          <p:nvPr/>
        </p:nvSpPr>
        <p:spPr>
          <a:xfrm>
            <a:off x="180360" y="540000"/>
            <a:ext cx="9719640" cy="47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2600" spc="-1" strike="noStrike">
                <a:solidFill>
                  <a:srgbClr val="000000"/>
                </a:solidFill>
                <a:latin typeface="DejaVu Sans Condensed"/>
              </a:rPr>
              <a:t>¿Qué es un Objeto?</a:t>
            </a:r>
            <a:endParaRPr b="0" lang="es-A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Shape 4"/>
          <p:cNvSpPr/>
          <p:nvPr/>
        </p:nvSpPr>
        <p:spPr>
          <a:xfrm>
            <a:off x="362520" y="1451160"/>
            <a:ext cx="2159640" cy="35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Un objeto posee...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CustomShape 5"/>
          <p:cNvSpPr/>
          <p:nvPr/>
        </p:nvSpPr>
        <p:spPr>
          <a:xfrm>
            <a:off x="542520" y="2347200"/>
            <a:ext cx="1439640" cy="611640"/>
          </a:xfrm>
          <a:prstGeom prst="rect">
            <a:avLst/>
          </a:prstGeom>
          <a:solidFill>
            <a:srgbClr val="9999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s-ES" sz="20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Estado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CustomShape 6"/>
          <p:cNvSpPr/>
          <p:nvPr/>
        </p:nvSpPr>
        <p:spPr>
          <a:xfrm>
            <a:off x="542520" y="3823200"/>
            <a:ext cx="2339640" cy="611640"/>
          </a:xfrm>
          <a:prstGeom prst="rect">
            <a:avLst/>
          </a:prstGeom>
          <a:solidFill>
            <a:srgbClr val="9999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s-ES" sz="20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Comportamiento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CustomShape 7"/>
          <p:cNvSpPr/>
          <p:nvPr/>
        </p:nvSpPr>
        <p:spPr>
          <a:xfrm>
            <a:off x="542520" y="5407200"/>
            <a:ext cx="1439640" cy="611640"/>
          </a:xfrm>
          <a:prstGeom prst="rect">
            <a:avLst/>
          </a:prstGeom>
          <a:solidFill>
            <a:srgbClr val="9999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s-ES" sz="20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Identidad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CustomShape 8"/>
          <p:cNvSpPr/>
          <p:nvPr/>
        </p:nvSpPr>
        <p:spPr>
          <a:xfrm>
            <a:off x="3602520" y="2347200"/>
            <a:ext cx="1259640" cy="539640"/>
          </a:xfrm>
          <a:custGeom>
            <a:avLst/>
            <a:gdLst>
              <a:gd name="textAreaLeft" fmla="*/ 0 w 1259640"/>
              <a:gd name="textAreaRight" fmla="*/ 1260000 w 1259640"/>
              <a:gd name="textAreaTop" fmla="*/ 0 h 539640"/>
              <a:gd name="textAreaBottom" fmla="*/ 540000 h 539640"/>
            </a:gdLst>
            <a:ahLst/>
            <a:rect l="textAreaLeft" t="textAreaTop" r="textAreaRight" b="textAreaBottom"/>
            <a:pathLst>
              <a:path w="3502" h="1502">
                <a:moveTo>
                  <a:pt x="0" y="375"/>
                </a:moveTo>
                <a:lnTo>
                  <a:pt x="2625" y="375"/>
                </a:lnTo>
                <a:lnTo>
                  <a:pt x="2625" y="0"/>
                </a:lnTo>
                <a:lnTo>
                  <a:pt x="3501" y="750"/>
                </a:lnTo>
                <a:lnTo>
                  <a:pt x="2625" y="1501"/>
                </a:lnTo>
                <a:lnTo>
                  <a:pt x="2625" y="1125"/>
                </a:lnTo>
                <a:lnTo>
                  <a:pt x="0" y="1125"/>
                </a:lnTo>
                <a:lnTo>
                  <a:pt x="0" y="375"/>
                </a:lnTo>
              </a:path>
            </a:pathLst>
          </a:custGeom>
          <a:solidFill>
            <a:srgbClr val="9999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CustomShape 9"/>
          <p:cNvSpPr/>
          <p:nvPr/>
        </p:nvSpPr>
        <p:spPr>
          <a:xfrm>
            <a:off x="3602520" y="3751200"/>
            <a:ext cx="1259640" cy="539640"/>
          </a:xfrm>
          <a:custGeom>
            <a:avLst/>
            <a:gdLst>
              <a:gd name="textAreaLeft" fmla="*/ 0 w 1259640"/>
              <a:gd name="textAreaRight" fmla="*/ 1260000 w 1259640"/>
              <a:gd name="textAreaTop" fmla="*/ 0 h 539640"/>
              <a:gd name="textAreaBottom" fmla="*/ 540000 h 539640"/>
            </a:gdLst>
            <a:ahLst/>
            <a:rect l="textAreaLeft" t="textAreaTop" r="textAreaRight" b="textAreaBottom"/>
            <a:pathLst>
              <a:path w="3502" h="1502">
                <a:moveTo>
                  <a:pt x="0" y="375"/>
                </a:moveTo>
                <a:lnTo>
                  <a:pt x="2625" y="375"/>
                </a:lnTo>
                <a:lnTo>
                  <a:pt x="2625" y="0"/>
                </a:lnTo>
                <a:lnTo>
                  <a:pt x="3501" y="750"/>
                </a:lnTo>
                <a:lnTo>
                  <a:pt x="2625" y="1501"/>
                </a:lnTo>
                <a:lnTo>
                  <a:pt x="2625" y="1125"/>
                </a:lnTo>
                <a:lnTo>
                  <a:pt x="0" y="1125"/>
                </a:lnTo>
                <a:lnTo>
                  <a:pt x="0" y="375"/>
                </a:lnTo>
              </a:path>
            </a:pathLst>
          </a:custGeom>
          <a:solidFill>
            <a:srgbClr val="9999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CustomShape 10"/>
          <p:cNvSpPr/>
          <p:nvPr/>
        </p:nvSpPr>
        <p:spPr>
          <a:xfrm>
            <a:off x="3602520" y="5335200"/>
            <a:ext cx="1259640" cy="539640"/>
          </a:xfrm>
          <a:custGeom>
            <a:avLst/>
            <a:gdLst>
              <a:gd name="textAreaLeft" fmla="*/ 0 w 1259640"/>
              <a:gd name="textAreaRight" fmla="*/ 1260000 w 1259640"/>
              <a:gd name="textAreaTop" fmla="*/ 0 h 539640"/>
              <a:gd name="textAreaBottom" fmla="*/ 540000 h 539640"/>
            </a:gdLst>
            <a:ahLst/>
            <a:rect l="textAreaLeft" t="textAreaTop" r="textAreaRight" b="textAreaBottom"/>
            <a:pathLst>
              <a:path w="3502" h="1502">
                <a:moveTo>
                  <a:pt x="0" y="375"/>
                </a:moveTo>
                <a:lnTo>
                  <a:pt x="2625" y="375"/>
                </a:lnTo>
                <a:lnTo>
                  <a:pt x="2625" y="0"/>
                </a:lnTo>
                <a:lnTo>
                  <a:pt x="3501" y="750"/>
                </a:lnTo>
                <a:lnTo>
                  <a:pt x="2625" y="1501"/>
                </a:lnTo>
                <a:lnTo>
                  <a:pt x="2625" y="1125"/>
                </a:lnTo>
                <a:lnTo>
                  <a:pt x="0" y="1125"/>
                </a:lnTo>
                <a:lnTo>
                  <a:pt x="0" y="375"/>
                </a:lnTo>
              </a:path>
            </a:pathLst>
          </a:custGeom>
          <a:solidFill>
            <a:srgbClr val="9999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CustomShape 11"/>
          <p:cNvSpPr/>
          <p:nvPr/>
        </p:nvSpPr>
        <p:spPr>
          <a:xfrm>
            <a:off x="5006520" y="1879200"/>
            <a:ext cx="4499640" cy="1259640"/>
          </a:xfrm>
          <a:prstGeom prst="rect">
            <a:avLst/>
          </a:prstGeom>
          <a:solidFill>
            <a:srgbClr val="99cc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Esta dado por el conjunto de propiedades 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que posee  y su valor en un momento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 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dado.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CustomShape 12"/>
          <p:cNvSpPr/>
          <p:nvPr/>
        </p:nvSpPr>
        <p:spPr>
          <a:xfrm>
            <a:off x="5042520" y="3499200"/>
            <a:ext cx="4499640" cy="1259640"/>
          </a:xfrm>
          <a:prstGeom prst="rect">
            <a:avLst/>
          </a:prstGeom>
          <a:solidFill>
            <a:srgbClr val="99cc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Está dado por un conjunto de acciones 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que el mismo puede realizar.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CustomShape 13"/>
          <p:cNvSpPr/>
          <p:nvPr/>
        </p:nvSpPr>
        <p:spPr>
          <a:xfrm>
            <a:off x="5042520" y="5047200"/>
            <a:ext cx="4499640" cy="1259640"/>
          </a:xfrm>
          <a:prstGeom prst="rect">
            <a:avLst/>
          </a:prstGeom>
          <a:solidFill>
            <a:srgbClr val="99cc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En todo momento es diferenciable del 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resto y es constante.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 spd="med">
    <p:wipe dir="d"/>
  </p:transition>
  <p:timing>
    <p:tnLst>
      <p:par>
        <p:cTn id="66" dur="indefinite" restart="never" nodeType="tmRoot">
          <p:childTnLst>
            <p:seq>
              <p:cTn id="67" dur="indefinite" nodeType="mainSeq">
                <p:childTnLst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72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75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80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83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88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91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CustomShape 2"/>
          <p:cNvSpPr/>
          <p:nvPr/>
        </p:nvSpPr>
        <p:spPr>
          <a:xfrm>
            <a:off x="5040" y="1045080"/>
            <a:ext cx="10080360" cy="414000"/>
          </a:xfrm>
          <a:custGeom>
            <a:avLst/>
            <a:gdLst>
              <a:gd name="textAreaLeft" fmla="*/ 0 w 10080360"/>
              <a:gd name="textAreaRight" fmla="*/ 10080720 w 10080360"/>
              <a:gd name="textAreaTop" fmla="*/ 0 h 414000"/>
              <a:gd name="textAreaBottom" fmla="*/ 414360 h 41400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>
              <a:lnSpc>
                <a:spcPct val="98000"/>
              </a:lnSpc>
            </a:pPr>
            <a:r>
              <a:rPr b="1" lang="en-GB" sz="2200" spc="-1" strike="noStrike">
                <a:solidFill>
                  <a:srgbClr val="ffffff"/>
                </a:solidFill>
                <a:latin typeface="DejaVu Sans"/>
                <a:ea typeface="DejaVu Sans"/>
              </a:rPr>
              <a:t>Clase 3: Clases, objetos, métodos y atributos</a:t>
            </a:r>
            <a:endParaRPr b="0" lang="es-A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Shape 3"/>
          <p:cNvSpPr/>
          <p:nvPr/>
        </p:nvSpPr>
        <p:spPr>
          <a:xfrm>
            <a:off x="180360" y="360000"/>
            <a:ext cx="9719640" cy="47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2600" spc="-1" strike="noStrike">
                <a:solidFill>
                  <a:srgbClr val="000000"/>
                </a:solidFill>
                <a:latin typeface="DejaVu Sans Condensed"/>
              </a:rPr>
              <a:t>Estado de un Objeto</a:t>
            </a:r>
            <a:endParaRPr b="0" lang="es-A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Shape 4"/>
          <p:cNvSpPr/>
          <p:nvPr/>
        </p:nvSpPr>
        <p:spPr>
          <a:xfrm>
            <a:off x="5760" y="1378080"/>
            <a:ext cx="10079640" cy="168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 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Está dado por el conjunto de propiedades que el mismo posee.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 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Es deseable encapsular el estado de un objeto, ocultando su representación al mundo       exterior.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 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 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Ningún objeto puede manipular directamente el estado de otro.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CustomShape 5"/>
          <p:cNvSpPr/>
          <p:nvPr/>
        </p:nvSpPr>
        <p:spPr>
          <a:xfrm>
            <a:off x="180000" y="4140000"/>
            <a:ext cx="1799640" cy="611640"/>
          </a:xfrm>
          <a:prstGeom prst="rect">
            <a:avLst/>
          </a:prstGeom>
          <a:solidFill>
            <a:srgbClr val="9999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s-ES" sz="20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Propiedades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CustomShape 6"/>
          <p:cNvSpPr/>
          <p:nvPr/>
        </p:nvSpPr>
        <p:spPr>
          <a:xfrm>
            <a:off x="2124000" y="4140000"/>
            <a:ext cx="1259640" cy="539640"/>
          </a:xfrm>
          <a:custGeom>
            <a:avLst/>
            <a:gdLst>
              <a:gd name="textAreaLeft" fmla="*/ 0 w 1259640"/>
              <a:gd name="textAreaRight" fmla="*/ 1260000 w 1259640"/>
              <a:gd name="textAreaTop" fmla="*/ 0 h 539640"/>
              <a:gd name="textAreaBottom" fmla="*/ 540000 h 539640"/>
            </a:gdLst>
            <a:ahLst/>
            <a:rect l="textAreaLeft" t="textAreaTop" r="textAreaRight" b="textAreaBottom"/>
            <a:pathLst>
              <a:path w="3502" h="1502">
                <a:moveTo>
                  <a:pt x="0" y="375"/>
                </a:moveTo>
                <a:lnTo>
                  <a:pt x="2625" y="375"/>
                </a:lnTo>
                <a:lnTo>
                  <a:pt x="2625" y="0"/>
                </a:lnTo>
                <a:lnTo>
                  <a:pt x="3501" y="750"/>
                </a:lnTo>
                <a:lnTo>
                  <a:pt x="2625" y="1501"/>
                </a:lnTo>
                <a:lnTo>
                  <a:pt x="2625" y="1125"/>
                </a:lnTo>
                <a:lnTo>
                  <a:pt x="0" y="1125"/>
                </a:lnTo>
                <a:lnTo>
                  <a:pt x="0" y="375"/>
                </a:lnTo>
              </a:path>
            </a:pathLst>
          </a:custGeom>
          <a:solidFill>
            <a:srgbClr val="9999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TextShape 7"/>
          <p:cNvSpPr/>
          <p:nvPr/>
        </p:nvSpPr>
        <p:spPr>
          <a:xfrm>
            <a:off x="3555360" y="4212000"/>
            <a:ext cx="6524280" cy="88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i="1" lang="es-ES" sz="1800" spc="-1" strike="noStrike">
                <a:solidFill>
                  <a:srgbClr val="000000"/>
                </a:solidFill>
                <a:latin typeface="DejaVu Serif Condensed"/>
              </a:rPr>
              <a:t>Estáticas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: propiedad compartida por todos los objetos del mismo tipo.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Shape 8"/>
          <p:cNvSpPr/>
          <p:nvPr/>
        </p:nvSpPr>
        <p:spPr>
          <a:xfrm>
            <a:off x="3555360" y="5220360"/>
            <a:ext cx="6344280" cy="62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i="1" lang="es-ES" sz="1800" spc="-1" strike="noStrike">
                <a:solidFill>
                  <a:srgbClr val="000000"/>
                </a:solidFill>
                <a:latin typeface="DejaVu Serif Condensed"/>
              </a:rPr>
              <a:t>Dinámicas: 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propiedad inherente de cada objeto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CustomShape 9"/>
          <p:cNvSpPr/>
          <p:nvPr/>
        </p:nvSpPr>
        <p:spPr>
          <a:xfrm rot="1230000">
            <a:off x="2104920" y="4775400"/>
            <a:ext cx="1259640" cy="539640"/>
          </a:xfrm>
          <a:custGeom>
            <a:avLst/>
            <a:gdLst>
              <a:gd name="textAreaLeft" fmla="*/ 0 w 1259640"/>
              <a:gd name="textAreaRight" fmla="*/ 1260000 w 1259640"/>
              <a:gd name="textAreaTop" fmla="*/ 0 h 539640"/>
              <a:gd name="textAreaBottom" fmla="*/ 540000 h 539640"/>
            </a:gdLst>
            <a:ahLst/>
            <a:rect l="textAreaLeft" t="textAreaTop" r="textAreaRight" b="textAreaBottom"/>
            <a:pathLst>
              <a:path w="3502" h="1502">
                <a:moveTo>
                  <a:pt x="0" y="375"/>
                </a:moveTo>
                <a:lnTo>
                  <a:pt x="2626" y="374"/>
                </a:lnTo>
                <a:lnTo>
                  <a:pt x="2625" y="0"/>
                </a:lnTo>
                <a:lnTo>
                  <a:pt x="3501" y="749"/>
                </a:lnTo>
                <a:lnTo>
                  <a:pt x="2626" y="1501"/>
                </a:lnTo>
                <a:lnTo>
                  <a:pt x="2625" y="1125"/>
                </a:lnTo>
                <a:lnTo>
                  <a:pt x="0" y="1124"/>
                </a:lnTo>
                <a:lnTo>
                  <a:pt x="0" y="375"/>
                </a:lnTo>
              </a:path>
            </a:pathLst>
          </a:custGeom>
          <a:solidFill>
            <a:srgbClr val="9999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 spd="med">
    <p:wipe dir="d"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CustomShape 2"/>
          <p:cNvSpPr/>
          <p:nvPr/>
        </p:nvSpPr>
        <p:spPr>
          <a:xfrm>
            <a:off x="5400" y="1045080"/>
            <a:ext cx="10080360" cy="414000"/>
          </a:xfrm>
          <a:custGeom>
            <a:avLst/>
            <a:gdLst>
              <a:gd name="textAreaLeft" fmla="*/ 0 w 10080360"/>
              <a:gd name="textAreaRight" fmla="*/ 10080720 w 10080360"/>
              <a:gd name="textAreaTop" fmla="*/ 0 h 414000"/>
              <a:gd name="textAreaBottom" fmla="*/ 414360 h 41400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>
              <a:lnSpc>
                <a:spcPct val="98000"/>
              </a:lnSpc>
            </a:pPr>
            <a:r>
              <a:rPr b="1" lang="en-GB" sz="2200" spc="-1" strike="noStrike">
                <a:solidFill>
                  <a:srgbClr val="ffffff"/>
                </a:solidFill>
                <a:latin typeface="DejaVu Sans"/>
                <a:ea typeface="DejaVu Sans"/>
              </a:rPr>
              <a:t>Clase 3: Clases, objetos, métodos y atributos</a:t>
            </a:r>
            <a:endParaRPr b="0" lang="es-A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Shape 3"/>
          <p:cNvSpPr/>
          <p:nvPr/>
        </p:nvSpPr>
        <p:spPr>
          <a:xfrm>
            <a:off x="183240" y="1577520"/>
            <a:ext cx="9719640" cy="47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2600" spc="-1" strike="noStrike">
                <a:solidFill>
                  <a:srgbClr val="000000"/>
                </a:solidFill>
                <a:latin typeface="DejaVu Sans Condensed"/>
              </a:rPr>
              <a:t>Comportamiento de un Objeto</a:t>
            </a:r>
            <a:endParaRPr b="0" lang="es-A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Shape 4"/>
          <p:cNvSpPr/>
          <p:nvPr/>
        </p:nvSpPr>
        <p:spPr>
          <a:xfrm>
            <a:off x="0" y="2341080"/>
            <a:ext cx="10079640" cy="14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 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Determina como éste actúa y reacciona en términos de cambios de estado y solicitudes.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 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Representan la interfaz por la cual se puede interactuar con el objeto.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 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 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Los métodos asociados a un objeto comprenden el protocolo del mismo.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4" name="" descr=""/>
          <p:cNvPicPr/>
          <p:nvPr/>
        </p:nvPicPr>
        <p:blipFill>
          <a:blip r:embed="rId1"/>
          <a:stretch/>
        </p:blipFill>
        <p:spPr>
          <a:xfrm>
            <a:off x="2520000" y="4140000"/>
            <a:ext cx="5219640" cy="3167280"/>
          </a:xfrm>
          <a:prstGeom prst="rect">
            <a:avLst/>
          </a:prstGeom>
          <a:ln w="0">
            <a:noFill/>
          </a:ln>
        </p:spPr>
      </p:pic>
    </p:spTree>
  </p:cSld>
  <p:transition spd="med">
    <p:wipe dir="d"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CustomShape 2"/>
          <p:cNvSpPr/>
          <p:nvPr/>
        </p:nvSpPr>
        <p:spPr>
          <a:xfrm>
            <a:off x="5760" y="1045080"/>
            <a:ext cx="10080360" cy="414000"/>
          </a:xfrm>
          <a:custGeom>
            <a:avLst/>
            <a:gdLst>
              <a:gd name="textAreaLeft" fmla="*/ 0 w 10080360"/>
              <a:gd name="textAreaRight" fmla="*/ 10080720 w 10080360"/>
              <a:gd name="textAreaTop" fmla="*/ 0 h 414000"/>
              <a:gd name="textAreaBottom" fmla="*/ 414360 h 41400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>
              <a:lnSpc>
                <a:spcPct val="98000"/>
              </a:lnSpc>
            </a:pPr>
            <a:r>
              <a:rPr b="1" lang="en-GB" sz="2200" spc="-1" strike="noStrike">
                <a:solidFill>
                  <a:srgbClr val="ffffff"/>
                </a:solidFill>
                <a:latin typeface="DejaVu Sans"/>
                <a:ea typeface="DejaVu Sans"/>
              </a:rPr>
              <a:t>Clase 3: Clases, objetos, métodos y atributos</a:t>
            </a:r>
            <a:endParaRPr b="0" lang="es-A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Shape 3"/>
          <p:cNvSpPr/>
          <p:nvPr/>
        </p:nvSpPr>
        <p:spPr>
          <a:xfrm>
            <a:off x="180360" y="540000"/>
            <a:ext cx="9719640" cy="47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2600" spc="-1" strike="noStrike">
                <a:solidFill>
                  <a:srgbClr val="000000"/>
                </a:solidFill>
                <a:latin typeface="DejaVu Sans Condensed"/>
              </a:rPr>
              <a:t>Identidad de un Objeto</a:t>
            </a:r>
            <a:endParaRPr b="0" lang="es-A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Shape 4"/>
          <p:cNvSpPr/>
          <p:nvPr/>
        </p:nvSpPr>
        <p:spPr>
          <a:xfrm>
            <a:off x="360" y="1620000"/>
            <a:ext cx="10079640" cy="221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 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Es una propiedad del objeto que lo diferencia del resto.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 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 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No debe confundirse con el estado.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 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 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Es preservada en el tiempo aún cuando su estado cambie.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 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En muchos lenguajes de programación la identidad está determinada por la dirección de           memoria en la que el mismo se encuentra.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CustomShape 5"/>
          <p:cNvSpPr/>
          <p:nvPr/>
        </p:nvSpPr>
        <p:spPr>
          <a:xfrm>
            <a:off x="252000" y="4680000"/>
            <a:ext cx="4067640" cy="2699640"/>
          </a:xfrm>
          <a:prstGeom prst="rect">
            <a:avLst/>
          </a:prstGeom>
          <a:solidFill>
            <a:srgbClr val="99cc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CustomShape 6"/>
          <p:cNvSpPr/>
          <p:nvPr/>
        </p:nvSpPr>
        <p:spPr>
          <a:xfrm>
            <a:off x="972000" y="4860000"/>
            <a:ext cx="2807640" cy="899640"/>
          </a:xfrm>
          <a:prstGeom prst="rect">
            <a:avLst/>
          </a:prstGeom>
          <a:solidFill>
            <a:srgbClr val="33cc66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i="1" lang="es-ES" sz="18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HEAP</a:t>
            </a:r>
            <a:endParaRPr b="0" lang="es-A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CustomShape 7"/>
          <p:cNvSpPr/>
          <p:nvPr/>
        </p:nvSpPr>
        <p:spPr>
          <a:xfrm>
            <a:off x="972000" y="6192000"/>
            <a:ext cx="2627640" cy="1007640"/>
          </a:xfrm>
          <a:prstGeom prst="rect">
            <a:avLst/>
          </a:prstGeom>
          <a:solidFill>
            <a:srgbClr val="33cc66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i="1" lang="es-ES" sz="18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STACK</a:t>
            </a:r>
            <a:endParaRPr b="0" lang="es-A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CustomShape 8"/>
          <p:cNvSpPr/>
          <p:nvPr/>
        </p:nvSpPr>
        <p:spPr>
          <a:xfrm>
            <a:off x="2340000" y="6480000"/>
            <a:ext cx="719640" cy="359640"/>
          </a:xfrm>
          <a:prstGeom prst="rect">
            <a:avLst/>
          </a:prstGeom>
          <a:solidFill>
            <a:srgbClr val="99cc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i="1" lang="es-ES" sz="18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X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CustomShape 9"/>
          <p:cNvSpPr/>
          <p:nvPr/>
        </p:nvSpPr>
        <p:spPr>
          <a:xfrm>
            <a:off x="2340000" y="5040000"/>
            <a:ext cx="719640" cy="359640"/>
          </a:xfrm>
          <a:prstGeom prst="rect">
            <a:avLst/>
          </a:prstGeom>
          <a:solidFill>
            <a:srgbClr val="99cc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CustomShape 10"/>
          <p:cNvSpPr/>
          <p:nvPr/>
        </p:nvSpPr>
        <p:spPr>
          <a:xfrm rot="16180200">
            <a:off x="2273400" y="5614920"/>
            <a:ext cx="898560" cy="544680"/>
          </a:xfrm>
          <a:custGeom>
            <a:avLst/>
            <a:gdLst>
              <a:gd name="textAreaLeft" fmla="*/ 0 w 898560"/>
              <a:gd name="textAreaRight" fmla="*/ 898920 w 898560"/>
              <a:gd name="textAreaTop" fmla="*/ 0 h 544680"/>
              <a:gd name="textAreaBottom" fmla="*/ 545040 h 544680"/>
            </a:gdLst>
            <a:ahLst/>
            <a:rect l="textAreaLeft" t="textAreaTop" r="textAreaRight" b="textAreaBottom"/>
            <a:pathLst>
              <a:path w="2499" h="1516">
                <a:moveTo>
                  <a:pt x="0" y="379"/>
                </a:moveTo>
                <a:lnTo>
                  <a:pt x="1873" y="378"/>
                </a:lnTo>
                <a:lnTo>
                  <a:pt x="1873" y="0"/>
                </a:lnTo>
                <a:lnTo>
                  <a:pt x="2498" y="757"/>
                </a:lnTo>
                <a:lnTo>
                  <a:pt x="1873" y="1515"/>
                </a:lnTo>
                <a:lnTo>
                  <a:pt x="1873" y="1136"/>
                </a:lnTo>
                <a:lnTo>
                  <a:pt x="0" y="1137"/>
                </a:lnTo>
                <a:lnTo>
                  <a:pt x="0" y="379"/>
                </a:lnTo>
              </a:path>
            </a:pathLst>
          </a:custGeom>
          <a:solidFill>
            <a:srgbClr val="9999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CustomShape 11"/>
          <p:cNvSpPr/>
          <p:nvPr/>
        </p:nvSpPr>
        <p:spPr>
          <a:xfrm>
            <a:off x="5220000" y="5400000"/>
            <a:ext cx="719640" cy="359640"/>
          </a:xfrm>
          <a:prstGeom prst="rect">
            <a:avLst/>
          </a:prstGeom>
          <a:solidFill>
            <a:srgbClr val="99cc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i="1" lang="es-ES" sz="18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X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Shape 12"/>
          <p:cNvSpPr/>
          <p:nvPr/>
        </p:nvSpPr>
        <p:spPr>
          <a:xfrm>
            <a:off x="6480000" y="5403960"/>
            <a:ext cx="1739520" cy="35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0xFFEE1234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Shape 13"/>
          <p:cNvSpPr/>
          <p:nvPr/>
        </p:nvSpPr>
        <p:spPr>
          <a:xfrm>
            <a:off x="6120000" y="5400000"/>
            <a:ext cx="53964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DejaVu Sans"/>
              </a:rPr>
              <a:t>=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TextShape 14"/>
          <p:cNvSpPr/>
          <p:nvPr/>
        </p:nvSpPr>
        <p:spPr>
          <a:xfrm>
            <a:off x="5815800" y="5943960"/>
            <a:ext cx="1383840" cy="35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i="1" lang="es-ES" sz="1800" spc="-1" strike="noStrike">
                <a:solidFill>
                  <a:srgbClr val="000000"/>
                </a:solidFill>
                <a:latin typeface="DejaVu Sans Condensed"/>
              </a:rPr>
              <a:t>Identidad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 spd="med">
    <p:wipe dir="d"/>
  </p:transition>
  <p:timing>
    <p:tnLst>
      <p:par>
        <p:cTn id="92" dur="indefinite" restart="never" nodeType="tmRoot">
          <p:childTnLst>
            <p:seq>
              <p:cTn id="93" dur="indefinite" nodeType="mainSeq">
                <p:childTnLst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98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101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104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107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CustomShape 2"/>
          <p:cNvSpPr/>
          <p:nvPr/>
        </p:nvSpPr>
        <p:spPr>
          <a:xfrm>
            <a:off x="6120" y="1045080"/>
            <a:ext cx="10080360" cy="414000"/>
          </a:xfrm>
          <a:custGeom>
            <a:avLst/>
            <a:gdLst>
              <a:gd name="textAreaLeft" fmla="*/ 0 w 10080360"/>
              <a:gd name="textAreaRight" fmla="*/ 10080720 w 10080360"/>
              <a:gd name="textAreaTop" fmla="*/ 0 h 414000"/>
              <a:gd name="textAreaBottom" fmla="*/ 414360 h 41400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>
              <a:lnSpc>
                <a:spcPct val="98000"/>
              </a:lnSpc>
            </a:pPr>
            <a:r>
              <a:rPr b="1" lang="en-GB" sz="2200" spc="-1" strike="noStrike">
                <a:solidFill>
                  <a:srgbClr val="ffffff"/>
                </a:solidFill>
                <a:latin typeface="DejaVu Sans"/>
                <a:ea typeface="DejaVu Sans"/>
              </a:rPr>
              <a:t>Clase 3: Clases, objetos, métodos y atributos</a:t>
            </a:r>
            <a:endParaRPr b="0" lang="es-A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TextShape 3"/>
          <p:cNvSpPr/>
          <p:nvPr/>
        </p:nvSpPr>
        <p:spPr>
          <a:xfrm>
            <a:off x="180000" y="425880"/>
            <a:ext cx="9719640" cy="47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2600" spc="-1" strike="noStrike">
                <a:solidFill>
                  <a:srgbClr val="000000"/>
                </a:solidFill>
                <a:latin typeface="DejaVu Sans Condensed"/>
              </a:rPr>
              <a:t>Los objetos interactúan a través de mensajes</a:t>
            </a:r>
            <a:endParaRPr b="0" lang="es-A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TextShape 4"/>
          <p:cNvSpPr/>
          <p:nvPr/>
        </p:nvSpPr>
        <p:spPr>
          <a:xfrm>
            <a:off x="0" y="1440000"/>
            <a:ext cx="10079640" cy="285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 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Los objetos se comunican mediante el envío de mensajes. 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algn="just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 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El objeto emisor se debe </a:t>
            </a:r>
            <a:r>
              <a:rPr b="1" i="1" lang="es-ES" sz="1800" spc="-1" strike="noStrike">
                <a:solidFill>
                  <a:srgbClr val="000000"/>
                </a:solidFill>
                <a:latin typeface="DejaVu Serif Condensed"/>
              </a:rPr>
              <a:t>enlazar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 o </a:t>
            </a:r>
            <a:r>
              <a:rPr b="1" i="1" lang="es-ES" sz="1800" spc="-1" strike="noStrike">
                <a:solidFill>
                  <a:srgbClr val="000000"/>
                </a:solidFill>
                <a:latin typeface="DejaVu Serif Condensed"/>
              </a:rPr>
              <a:t>asociar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 al objeto receptor.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 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 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El emisor del mensaje solicita al receptor que realice una operación.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 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La llamada al método siempre se produce en el contexto de un objeto concreto.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CustomShape 5"/>
          <p:cNvSpPr/>
          <p:nvPr/>
        </p:nvSpPr>
        <p:spPr>
          <a:xfrm>
            <a:off x="972000" y="5040000"/>
            <a:ext cx="1907640" cy="1799640"/>
          </a:xfrm>
          <a:prstGeom prst="rect">
            <a:avLst/>
          </a:prstGeom>
          <a:solidFill>
            <a:srgbClr val="99cc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s-ES" sz="18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Objeto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s-ES" sz="18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Emisor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CustomShape 6"/>
          <p:cNvSpPr/>
          <p:nvPr/>
        </p:nvSpPr>
        <p:spPr>
          <a:xfrm>
            <a:off x="5400000" y="5040000"/>
            <a:ext cx="1907640" cy="1799640"/>
          </a:xfrm>
          <a:prstGeom prst="rect">
            <a:avLst/>
          </a:prstGeom>
          <a:solidFill>
            <a:srgbClr val="99cc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s-ES" sz="18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Objeto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s-ES" sz="18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Receptor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CustomShape 7"/>
          <p:cNvSpPr/>
          <p:nvPr/>
        </p:nvSpPr>
        <p:spPr>
          <a:xfrm>
            <a:off x="3420000" y="5580000"/>
            <a:ext cx="1259640" cy="539640"/>
          </a:xfrm>
          <a:custGeom>
            <a:avLst/>
            <a:gdLst>
              <a:gd name="textAreaLeft" fmla="*/ 0 w 1259640"/>
              <a:gd name="textAreaRight" fmla="*/ 1260000 w 1259640"/>
              <a:gd name="textAreaTop" fmla="*/ 0 h 539640"/>
              <a:gd name="textAreaBottom" fmla="*/ 540000 h 539640"/>
            </a:gdLst>
            <a:ahLst/>
            <a:rect l="textAreaLeft" t="textAreaTop" r="textAreaRight" b="textAreaBottom"/>
            <a:pathLst>
              <a:path w="3502" h="1502">
                <a:moveTo>
                  <a:pt x="0" y="375"/>
                </a:moveTo>
                <a:lnTo>
                  <a:pt x="2625" y="375"/>
                </a:lnTo>
                <a:lnTo>
                  <a:pt x="2625" y="0"/>
                </a:lnTo>
                <a:lnTo>
                  <a:pt x="3501" y="750"/>
                </a:lnTo>
                <a:lnTo>
                  <a:pt x="2625" y="1501"/>
                </a:lnTo>
                <a:lnTo>
                  <a:pt x="2625" y="1125"/>
                </a:lnTo>
                <a:lnTo>
                  <a:pt x="0" y="1125"/>
                </a:lnTo>
                <a:lnTo>
                  <a:pt x="0" y="375"/>
                </a:lnTo>
              </a:path>
            </a:pathLst>
          </a:custGeom>
          <a:solidFill>
            <a:srgbClr val="9999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TextShape 8"/>
          <p:cNvSpPr/>
          <p:nvPr/>
        </p:nvSpPr>
        <p:spPr>
          <a:xfrm>
            <a:off x="3287520" y="5223960"/>
            <a:ext cx="1392120" cy="35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s-ES" sz="1800" spc="-1" strike="noStrike">
                <a:solidFill>
                  <a:srgbClr val="000000"/>
                </a:solidFill>
                <a:latin typeface="DejaVu Sans Condensed"/>
              </a:rPr>
              <a:t>Mensaje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Shape 9"/>
          <p:cNvSpPr/>
          <p:nvPr/>
        </p:nvSpPr>
        <p:spPr>
          <a:xfrm>
            <a:off x="7380000" y="5580000"/>
            <a:ext cx="2585160" cy="35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s-ES" sz="1800" spc="-1" strike="noStrike">
                <a:solidFill>
                  <a:srgbClr val="000000"/>
                </a:solidFill>
                <a:latin typeface="DejaVu Sans Condensed"/>
              </a:rPr>
              <a:t>Ejecuta un método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 spd="med">
    <p:wipe dir="d"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CustomShape 2"/>
          <p:cNvSpPr/>
          <p:nvPr/>
        </p:nvSpPr>
        <p:spPr>
          <a:xfrm>
            <a:off x="4680" y="1045080"/>
            <a:ext cx="10080360" cy="414000"/>
          </a:xfrm>
          <a:custGeom>
            <a:avLst/>
            <a:gdLst>
              <a:gd name="textAreaLeft" fmla="*/ 0 w 10080360"/>
              <a:gd name="textAreaRight" fmla="*/ 10080720 w 10080360"/>
              <a:gd name="textAreaTop" fmla="*/ 0 h 414000"/>
              <a:gd name="textAreaBottom" fmla="*/ 414360 h 41400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>
              <a:lnSpc>
                <a:spcPct val="98000"/>
              </a:lnSpc>
            </a:pPr>
            <a:r>
              <a:rPr b="1" lang="en-GB" sz="2200" spc="-1" strike="noStrike">
                <a:solidFill>
                  <a:srgbClr val="ffffff"/>
                </a:solidFill>
                <a:latin typeface="DejaVu Sans"/>
                <a:ea typeface="DejaVu Sans"/>
              </a:rPr>
              <a:t>Clase 3: Clases, objetos, métodos y atributos</a:t>
            </a:r>
            <a:endParaRPr b="0" lang="es-A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Shape 3"/>
          <p:cNvSpPr/>
          <p:nvPr/>
        </p:nvSpPr>
        <p:spPr>
          <a:xfrm>
            <a:off x="180360" y="540000"/>
            <a:ext cx="9719640" cy="47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2600" spc="-1" strike="noStrike">
                <a:solidFill>
                  <a:srgbClr val="000000"/>
                </a:solidFill>
                <a:latin typeface="DejaVu Sans Condensed"/>
              </a:rPr>
              <a:t>¿Qué es una Clase?</a:t>
            </a:r>
            <a:endParaRPr b="0" lang="es-A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Shape 4"/>
          <p:cNvSpPr/>
          <p:nvPr/>
        </p:nvSpPr>
        <p:spPr>
          <a:xfrm>
            <a:off x="0" y="2341440"/>
            <a:ext cx="10079640" cy="14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 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Mecanismo utilizado en la POO para abstraer conceptos (clasificación). 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algn="just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 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Describe las características comunes a todos los objetos que pertenecen a ella.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 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 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Especifica: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Shape 5"/>
          <p:cNvSpPr/>
          <p:nvPr/>
        </p:nvSpPr>
        <p:spPr>
          <a:xfrm>
            <a:off x="396000" y="4000680"/>
            <a:ext cx="6479640" cy="142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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 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El </a:t>
            </a:r>
            <a:r>
              <a:rPr b="1" i="1" lang="es-ES" sz="1800" spc="-1" strike="noStrike">
                <a:solidFill>
                  <a:srgbClr val="000000"/>
                </a:solidFill>
                <a:latin typeface="DejaVu Serif Condensed"/>
              </a:rPr>
              <a:t>comportamiento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 de los objetos.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"/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algn="just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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 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La </a:t>
            </a:r>
            <a:r>
              <a:rPr b="1" i="1" lang="es-ES" sz="1800" spc="-1" strike="noStrike">
                <a:solidFill>
                  <a:srgbClr val="000000"/>
                </a:solidFill>
                <a:latin typeface="DejaVu Serif Condensed"/>
              </a:rPr>
              <a:t>estructura interna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 de los objetos.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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 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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 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La definición e implementación de todas sus </a:t>
            </a:r>
            <a:r>
              <a:rPr b="1" i="1" lang="es-ES" sz="1800" spc="-1" strike="noStrike">
                <a:solidFill>
                  <a:srgbClr val="000000"/>
                </a:solidFill>
                <a:latin typeface="DejaVu Serif Condensed"/>
              </a:rPr>
              <a:t>acciones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0" name="" descr=""/>
          <p:cNvPicPr/>
          <p:nvPr/>
        </p:nvPicPr>
        <p:blipFill>
          <a:blip r:embed="rId1"/>
          <a:stretch/>
        </p:blipFill>
        <p:spPr>
          <a:xfrm>
            <a:off x="6660000" y="5647320"/>
            <a:ext cx="3370680" cy="1732320"/>
          </a:xfrm>
          <a:prstGeom prst="rect">
            <a:avLst/>
          </a:prstGeom>
          <a:ln w="0">
            <a:noFill/>
          </a:ln>
        </p:spPr>
      </p:pic>
    </p:spTree>
  </p:cSld>
  <p:transition spd="med">
    <p:wipe dir="d"/>
  </p:transition>
  <p:timing>
    <p:tnLst>
      <p:par>
        <p:cTn id="108" dur="indefinite" restart="never" nodeType="tmRoot">
          <p:childTnLst>
            <p:seq>
              <p:cTn id="109" dur="indefinite" nodeType="mainSeq">
                <p:childTnLst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114" dur="500"/>
                                        <p:tgtEl>
                                          <p:spTgt spid="1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37" end="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119" dur="500"/>
                                        <p:tgtEl>
                                          <p:spTgt spid="159">
                                            <p:txEl>
                                              <p:pRg st="37" end="3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78" end="7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124" dur="500"/>
                                        <p:tgtEl>
                                          <p:spTgt spid="159">
                                            <p:txEl>
                                              <p:pRg st="78" end="7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CustomShape 2"/>
          <p:cNvSpPr/>
          <p:nvPr/>
        </p:nvSpPr>
        <p:spPr>
          <a:xfrm>
            <a:off x="5040" y="1045080"/>
            <a:ext cx="10080360" cy="414000"/>
          </a:xfrm>
          <a:custGeom>
            <a:avLst/>
            <a:gdLst>
              <a:gd name="textAreaLeft" fmla="*/ 0 w 10080360"/>
              <a:gd name="textAreaRight" fmla="*/ 10080720 w 10080360"/>
              <a:gd name="textAreaTop" fmla="*/ 0 h 414000"/>
              <a:gd name="textAreaBottom" fmla="*/ 414360 h 41400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>
              <a:lnSpc>
                <a:spcPct val="98000"/>
              </a:lnSpc>
            </a:pPr>
            <a:r>
              <a:rPr b="1" lang="en-GB" sz="2200" spc="-1" strike="noStrike">
                <a:solidFill>
                  <a:srgbClr val="ffffff"/>
                </a:solidFill>
                <a:latin typeface="DejaVu Sans"/>
                <a:ea typeface="DejaVu Sans"/>
              </a:rPr>
              <a:t>Clase 3: Clases, objetos, métodos y atributos</a:t>
            </a:r>
            <a:endParaRPr b="0" lang="es-A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Shape 3"/>
          <p:cNvSpPr/>
          <p:nvPr/>
        </p:nvSpPr>
        <p:spPr>
          <a:xfrm>
            <a:off x="180360" y="540000"/>
            <a:ext cx="9719640" cy="47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2600" spc="-1" strike="noStrike">
                <a:solidFill>
                  <a:srgbClr val="000000"/>
                </a:solidFill>
                <a:latin typeface="DejaVu Sans Condensed"/>
              </a:rPr>
              <a:t>Diferencias entre Clases y Objetos</a:t>
            </a:r>
            <a:endParaRPr b="0" lang="es-A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Shape 4"/>
          <p:cNvSpPr/>
          <p:nvPr/>
        </p:nvSpPr>
        <p:spPr>
          <a:xfrm>
            <a:off x="5760" y="1260000"/>
            <a:ext cx="10079640" cy="11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 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Las clases son </a:t>
            </a:r>
            <a:r>
              <a:rPr b="1" i="1" lang="es-ES" sz="1800" spc="-1" strike="noStrike">
                <a:solidFill>
                  <a:srgbClr val="000000"/>
                </a:solidFill>
                <a:latin typeface="DejaVu Serif Condensed"/>
              </a:rPr>
              <a:t>definiciones estáticas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 que se pueden utilizar para entender a todos los           objetos de una clase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 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Los objetos son </a:t>
            </a:r>
            <a:r>
              <a:rPr b="1" i="1" lang="es-ES" sz="1800" spc="-1" strike="noStrike">
                <a:solidFill>
                  <a:srgbClr val="000000"/>
                </a:solidFill>
                <a:latin typeface="DejaVu Serif Condensed"/>
              </a:rPr>
              <a:t>entidades dinámicas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 que existen en el mundo real.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CustomShape 5"/>
          <p:cNvSpPr/>
          <p:nvPr/>
        </p:nvSpPr>
        <p:spPr>
          <a:xfrm>
            <a:off x="1332000" y="3240000"/>
            <a:ext cx="1907640" cy="1799640"/>
          </a:xfrm>
          <a:prstGeom prst="rect">
            <a:avLst/>
          </a:prstGeom>
          <a:solidFill>
            <a:srgbClr val="99cc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s-ES" sz="18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Clases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CustomShape 6"/>
          <p:cNvSpPr/>
          <p:nvPr/>
        </p:nvSpPr>
        <p:spPr>
          <a:xfrm>
            <a:off x="5940000" y="3240000"/>
            <a:ext cx="1979640" cy="1799640"/>
          </a:xfrm>
          <a:prstGeom prst="rect">
            <a:avLst/>
          </a:prstGeom>
          <a:solidFill>
            <a:srgbClr val="99cc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s-ES" sz="18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Objetos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CustomShape 7"/>
          <p:cNvSpPr/>
          <p:nvPr/>
        </p:nvSpPr>
        <p:spPr>
          <a:xfrm>
            <a:off x="3780000" y="3420000"/>
            <a:ext cx="1259640" cy="539640"/>
          </a:xfrm>
          <a:custGeom>
            <a:avLst/>
            <a:gdLst>
              <a:gd name="textAreaLeft" fmla="*/ 0 w 1259640"/>
              <a:gd name="textAreaRight" fmla="*/ 1260000 w 1259640"/>
              <a:gd name="textAreaTop" fmla="*/ 0 h 539640"/>
              <a:gd name="textAreaBottom" fmla="*/ 540000 h 539640"/>
            </a:gdLst>
            <a:ahLst/>
            <a:rect l="textAreaLeft" t="textAreaTop" r="textAreaRight" b="textAreaBottom"/>
            <a:pathLst>
              <a:path w="3502" h="1502">
                <a:moveTo>
                  <a:pt x="0" y="375"/>
                </a:moveTo>
                <a:lnTo>
                  <a:pt x="2625" y="375"/>
                </a:lnTo>
                <a:lnTo>
                  <a:pt x="2625" y="0"/>
                </a:lnTo>
                <a:lnTo>
                  <a:pt x="3501" y="750"/>
                </a:lnTo>
                <a:lnTo>
                  <a:pt x="2625" y="1501"/>
                </a:lnTo>
                <a:lnTo>
                  <a:pt x="2625" y="1125"/>
                </a:lnTo>
                <a:lnTo>
                  <a:pt x="0" y="1125"/>
                </a:lnTo>
                <a:lnTo>
                  <a:pt x="0" y="375"/>
                </a:lnTo>
              </a:path>
            </a:pathLst>
          </a:custGeom>
          <a:solidFill>
            <a:srgbClr val="9999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TextShape 8"/>
          <p:cNvSpPr/>
          <p:nvPr/>
        </p:nvSpPr>
        <p:spPr>
          <a:xfrm>
            <a:off x="3575520" y="3060000"/>
            <a:ext cx="1824120" cy="35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i="1" lang="es-ES" sz="1800" spc="-1" strike="noStrike">
                <a:solidFill>
                  <a:srgbClr val="000000"/>
                </a:solidFill>
                <a:latin typeface="DejaVu Serif Condensed"/>
              </a:rPr>
              <a:t>Instanciación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CustomShape 9"/>
          <p:cNvSpPr/>
          <p:nvPr/>
        </p:nvSpPr>
        <p:spPr>
          <a:xfrm rot="10794000">
            <a:off x="3779640" y="4428360"/>
            <a:ext cx="1259640" cy="539640"/>
          </a:xfrm>
          <a:custGeom>
            <a:avLst/>
            <a:gdLst>
              <a:gd name="textAreaLeft" fmla="*/ 0 w 1259640"/>
              <a:gd name="textAreaRight" fmla="*/ 1260000 w 1259640"/>
              <a:gd name="textAreaTop" fmla="*/ 0 h 539640"/>
              <a:gd name="textAreaBottom" fmla="*/ 540000 h 539640"/>
            </a:gdLst>
            <a:ahLst/>
            <a:rect l="textAreaLeft" t="textAreaTop" r="textAreaRight" b="textAreaBottom"/>
            <a:pathLst>
              <a:path w="3502" h="1502">
                <a:moveTo>
                  <a:pt x="0" y="375"/>
                </a:moveTo>
                <a:lnTo>
                  <a:pt x="2625" y="375"/>
                </a:lnTo>
                <a:lnTo>
                  <a:pt x="2626" y="0"/>
                </a:lnTo>
                <a:lnTo>
                  <a:pt x="3501" y="750"/>
                </a:lnTo>
                <a:lnTo>
                  <a:pt x="2625" y="1501"/>
                </a:lnTo>
                <a:lnTo>
                  <a:pt x="2626" y="1125"/>
                </a:lnTo>
                <a:lnTo>
                  <a:pt x="1" y="1125"/>
                </a:lnTo>
                <a:lnTo>
                  <a:pt x="0" y="375"/>
                </a:lnTo>
              </a:path>
            </a:pathLst>
          </a:custGeom>
          <a:solidFill>
            <a:srgbClr val="9999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Shape 10"/>
          <p:cNvSpPr/>
          <p:nvPr/>
        </p:nvSpPr>
        <p:spPr>
          <a:xfrm>
            <a:off x="3575520" y="4068000"/>
            <a:ext cx="1824120" cy="35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i="1" lang="es-ES" sz="1800" spc="-1" strike="noStrike">
                <a:solidFill>
                  <a:srgbClr val="000000"/>
                </a:solidFill>
                <a:latin typeface="DejaVu Serif Condensed"/>
              </a:rPr>
              <a:t>Clasificación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Shape 11"/>
          <p:cNvSpPr/>
          <p:nvPr/>
        </p:nvSpPr>
        <p:spPr>
          <a:xfrm>
            <a:off x="1324440" y="5223960"/>
            <a:ext cx="2455200" cy="89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 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Definen atributos.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 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Definen métodos.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 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Generan instancias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TextShape 12"/>
          <p:cNvSpPr/>
          <p:nvPr/>
        </p:nvSpPr>
        <p:spPr>
          <a:xfrm>
            <a:off x="5932800" y="5224320"/>
            <a:ext cx="2455200" cy="89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 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Poseen valores.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 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Ejecutan métodos.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 spd="med">
    <p:wipe dir="d"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CustomShape 2"/>
          <p:cNvSpPr/>
          <p:nvPr/>
        </p:nvSpPr>
        <p:spPr>
          <a:xfrm>
            <a:off x="5400" y="1045080"/>
            <a:ext cx="10080360" cy="414000"/>
          </a:xfrm>
          <a:custGeom>
            <a:avLst/>
            <a:gdLst>
              <a:gd name="textAreaLeft" fmla="*/ 0 w 10080360"/>
              <a:gd name="textAreaRight" fmla="*/ 10080720 w 10080360"/>
              <a:gd name="textAreaTop" fmla="*/ 0 h 414000"/>
              <a:gd name="textAreaBottom" fmla="*/ 414360 h 41400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>
              <a:lnSpc>
                <a:spcPct val="98000"/>
              </a:lnSpc>
            </a:pPr>
            <a:r>
              <a:rPr b="1" lang="en-GB" sz="2200" spc="-1" strike="noStrike">
                <a:solidFill>
                  <a:srgbClr val="ffffff"/>
                </a:solidFill>
                <a:latin typeface="DejaVu Sans"/>
                <a:ea typeface="DejaVu Sans"/>
              </a:rPr>
              <a:t>Clase 3: Clases, objetos, métodos y atributos</a:t>
            </a:r>
            <a:endParaRPr b="0" lang="es-A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TextShape 3"/>
          <p:cNvSpPr/>
          <p:nvPr/>
        </p:nvSpPr>
        <p:spPr>
          <a:xfrm>
            <a:off x="363240" y="465840"/>
            <a:ext cx="9719640" cy="47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2600" spc="-1" strike="noStrike">
                <a:solidFill>
                  <a:srgbClr val="000000"/>
                </a:solidFill>
                <a:latin typeface="DejaVu Sans Condensed"/>
              </a:rPr>
              <a:t>Los atributos de un Objeto mantienen su estado</a:t>
            </a:r>
            <a:endParaRPr b="0" lang="es-A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TextShape 4"/>
          <p:cNvSpPr/>
          <p:nvPr/>
        </p:nvSpPr>
        <p:spPr>
          <a:xfrm>
            <a:off x="180000" y="1230120"/>
            <a:ext cx="10079640" cy="88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 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Cada objeto conoce su estado actual.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 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Un atributo es un fragmento de información que indica el estado de un objeto.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5" name="" descr=""/>
          <p:cNvPicPr/>
          <p:nvPr/>
        </p:nvPicPr>
        <p:blipFill>
          <a:blip r:embed="rId1"/>
          <a:stretch/>
        </p:blipFill>
        <p:spPr>
          <a:xfrm>
            <a:off x="1260000" y="2128320"/>
            <a:ext cx="899640" cy="899640"/>
          </a:xfrm>
          <a:prstGeom prst="rect">
            <a:avLst/>
          </a:prstGeom>
          <a:ln w="0">
            <a:noFill/>
          </a:ln>
        </p:spPr>
      </p:pic>
      <p:pic>
        <p:nvPicPr>
          <p:cNvPr id="176" name="" descr=""/>
          <p:cNvPicPr/>
          <p:nvPr/>
        </p:nvPicPr>
        <p:blipFill>
          <a:blip r:embed="rId2"/>
          <a:stretch/>
        </p:blipFill>
        <p:spPr>
          <a:xfrm>
            <a:off x="720000" y="2704320"/>
            <a:ext cx="1619640" cy="3059640"/>
          </a:xfrm>
          <a:prstGeom prst="rect">
            <a:avLst/>
          </a:prstGeom>
          <a:ln w="0">
            <a:noFill/>
          </a:ln>
        </p:spPr>
      </p:pic>
      <p:pic>
        <p:nvPicPr>
          <p:cNvPr id="177" name="" descr=""/>
          <p:cNvPicPr/>
          <p:nvPr/>
        </p:nvPicPr>
        <p:blipFill>
          <a:blip r:embed="rId3"/>
          <a:stretch/>
        </p:blipFill>
        <p:spPr>
          <a:xfrm>
            <a:off x="900000" y="4684320"/>
            <a:ext cx="1259640" cy="1619640"/>
          </a:xfrm>
          <a:prstGeom prst="rect">
            <a:avLst/>
          </a:prstGeom>
          <a:ln w="0">
            <a:noFill/>
          </a:ln>
        </p:spPr>
      </p:pic>
      <p:sp>
        <p:nvSpPr>
          <p:cNvPr id="178" name="TextShape 5"/>
          <p:cNvSpPr/>
          <p:nvPr/>
        </p:nvSpPr>
        <p:spPr>
          <a:xfrm>
            <a:off x="900000" y="3028320"/>
            <a:ext cx="1203120" cy="35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s-ES" sz="1800" spc="-1" strike="noStrike">
                <a:solidFill>
                  <a:srgbClr val="000000"/>
                </a:solidFill>
                <a:latin typeface="DejaVu Sans Condensed"/>
              </a:rPr>
              <a:t>Birome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TextShape 6"/>
          <p:cNvSpPr/>
          <p:nvPr/>
        </p:nvSpPr>
        <p:spPr>
          <a:xfrm>
            <a:off x="720360" y="4360680"/>
            <a:ext cx="1619280" cy="35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s-ES" sz="1800" spc="-1" strike="noStrike">
                <a:solidFill>
                  <a:srgbClr val="000000"/>
                </a:solidFill>
                <a:latin typeface="DejaVu Sans Condensed"/>
              </a:rPr>
              <a:t>Motocicleta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extShape 7"/>
          <p:cNvSpPr/>
          <p:nvPr/>
        </p:nvSpPr>
        <p:spPr>
          <a:xfrm>
            <a:off x="956520" y="6124320"/>
            <a:ext cx="1203120" cy="35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s-ES" sz="1800" spc="-1" strike="noStrike">
                <a:solidFill>
                  <a:srgbClr val="000000"/>
                </a:solidFill>
                <a:latin typeface="DejaVu Sans Condensed"/>
              </a:rPr>
              <a:t>CPU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CustomShape 8"/>
          <p:cNvSpPr/>
          <p:nvPr/>
        </p:nvSpPr>
        <p:spPr>
          <a:xfrm>
            <a:off x="3240000" y="2488320"/>
            <a:ext cx="1799640" cy="719640"/>
          </a:xfrm>
          <a:custGeom>
            <a:avLst/>
            <a:gdLst>
              <a:gd name="textAreaLeft" fmla="*/ 0 w 1799640"/>
              <a:gd name="textAreaRight" fmla="*/ 1800000 w 1799640"/>
              <a:gd name="textAreaTop" fmla="*/ 0 h 719640"/>
              <a:gd name="textAreaBottom" fmla="*/ 720000 h 719640"/>
            </a:gdLst>
            <a:ahLst/>
            <a:rect l="textAreaLeft" t="textAreaTop" r="textAreaRight" b="textAreaBottom"/>
            <a:pathLst>
              <a:path w="5002" h="2002">
                <a:moveTo>
                  <a:pt x="0" y="500"/>
                </a:moveTo>
                <a:lnTo>
                  <a:pt x="3750" y="500"/>
                </a:lnTo>
                <a:lnTo>
                  <a:pt x="3750" y="0"/>
                </a:lnTo>
                <a:lnTo>
                  <a:pt x="5001" y="1000"/>
                </a:lnTo>
                <a:lnTo>
                  <a:pt x="3750" y="2001"/>
                </a:lnTo>
                <a:lnTo>
                  <a:pt x="3750" y="1500"/>
                </a:lnTo>
                <a:lnTo>
                  <a:pt x="0" y="1500"/>
                </a:lnTo>
                <a:lnTo>
                  <a:pt x="0" y="500"/>
                </a:lnTo>
              </a:path>
            </a:pathLst>
          </a:custGeom>
          <a:solidFill>
            <a:srgbClr val="9999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s-ES" sz="18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Atributos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CustomShape 9"/>
          <p:cNvSpPr/>
          <p:nvPr/>
        </p:nvSpPr>
        <p:spPr>
          <a:xfrm>
            <a:off x="3240000" y="3712320"/>
            <a:ext cx="1799640" cy="719640"/>
          </a:xfrm>
          <a:custGeom>
            <a:avLst/>
            <a:gdLst>
              <a:gd name="textAreaLeft" fmla="*/ 0 w 1799640"/>
              <a:gd name="textAreaRight" fmla="*/ 1800000 w 1799640"/>
              <a:gd name="textAreaTop" fmla="*/ 0 h 719640"/>
              <a:gd name="textAreaBottom" fmla="*/ 720000 h 719640"/>
            </a:gdLst>
            <a:ahLst/>
            <a:rect l="textAreaLeft" t="textAreaTop" r="textAreaRight" b="textAreaBottom"/>
            <a:pathLst>
              <a:path w="5002" h="2002">
                <a:moveTo>
                  <a:pt x="0" y="500"/>
                </a:moveTo>
                <a:lnTo>
                  <a:pt x="3750" y="500"/>
                </a:lnTo>
                <a:lnTo>
                  <a:pt x="3750" y="0"/>
                </a:lnTo>
                <a:lnTo>
                  <a:pt x="5001" y="1000"/>
                </a:lnTo>
                <a:lnTo>
                  <a:pt x="3750" y="2001"/>
                </a:lnTo>
                <a:lnTo>
                  <a:pt x="3750" y="1500"/>
                </a:lnTo>
                <a:lnTo>
                  <a:pt x="0" y="1500"/>
                </a:lnTo>
                <a:lnTo>
                  <a:pt x="0" y="500"/>
                </a:lnTo>
              </a:path>
            </a:pathLst>
          </a:custGeom>
          <a:solidFill>
            <a:srgbClr val="9999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s-ES" sz="18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Atributos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CustomShape 10"/>
          <p:cNvSpPr/>
          <p:nvPr/>
        </p:nvSpPr>
        <p:spPr>
          <a:xfrm>
            <a:off x="3240000" y="5188320"/>
            <a:ext cx="1799640" cy="719640"/>
          </a:xfrm>
          <a:custGeom>
            <a:avLst/>
            <a:gdLst>
              <a:gd name="textAreaLeft" fmla="*/ 0 w 1799640"/>
              <a:gd name="textAreaRight" fmla="*/ 1800000 w 1799640"/>
              <a:gd name="textAreaTop" fmla="*/ 0 h 719640"/>
              <a:gd name="textAreaBottom" fmla="*/ 720000 h 719640"/>
            </a:gdLst>
            <a:ahLst/>
            <a:rect l="textAreaLeft" t="textAreaTop" r="textAreaRight" b="textAreaBottom"/>
            <a:pathLst>
              <a:path w="5002" h="2002">
                <a:moveTo>
                  <a:pt x="0" y="500"/>
                </a:moveTo>
                <a:lnTo>
                  <a:pt x="3750" y="500"/>
                </a:lnTo>
                <a:lnTo>
                  <a:pt x="3750" y="0"/>
                </a:lnTo>
                <a:lnTo>
                  <a:pt x="5001" y="1000"/>
                </a:lnTo>
                <a:lnTo>
                  <a:pt x="3750" y="2001"/>
                </a:lnTo>
                <a:lnTo>
                  <a:pt x="3750" y="1500"/>
                </a:lnTo>
                <a:lnTo>
                  <a:pt x="0" y="1500"/>
                </a:lnTo>
                <a:lnTo>
                  <a:pt x="0" y="500"/>
                </a:lnTo>
              </a:path>
            </a:pathLst>
          </a:custGeom>
          <a:solidFill>
            <a:srgbClr val="9999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s-ES" sz="18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Atributos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CustomShape 11"/>
          <p:cNvSpPr/>
          <p:nvPr/>
        </p:nvSpPr>
        <p:spPr>
          <a:xfrm>
            <a:off x="5580000" y="2308320"/>
            <a:ext cx="2159640" cy="1079640"/>
          </a:xfrm>
          <a:prstGeom prst="rect">
            <a:avLst/>
          </a:prstGeom>
          <a:solidFill>
            <a:srgbClr val="99cc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s-ES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 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Color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 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Marca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 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Cantidad de Tinta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CustomShape 12"/>
          <p:cNvSpPr/>
          <p:nvPr/>
        </p:nvSpPr>
        <p:spPr>
          <a:xfrm>
            <a:off x="5580000" y="3568320"/>
            <a:ext cx="2159640" cy="1079640"/>
          </a:xfrm>
          <a:prstGeom prst="rect">
            <a:avLst/>
          </a:prstGeom>
          <a:solidFill>
            <a:srgbClr val="99cc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s-ES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 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Modelo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 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Velocidad Máxima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 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Cilindrada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CustomShape 13"/>
          <p:cNvSpPr/>
          <p:nvPr/>
        </p:nvSpPr>
        <p:spPr>
          <a:xfrm>
            <a:off x="5580000" y="5008320"/>
            <a:ext cx="2159640" cy="1079640"/>
          </a:xfrm>
          <a:prstGeom prst="rect">
            <a:avLst/>
          </a:prstGeom>
          <a:solidFill>
            <a:srgbClr val="99cc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s-ES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 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Microprocesador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 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Cantidad RAM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 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Espacio en Disco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 spd="med">
    <p:wipe dir="d"/>
  </p:transition>
  <p:timing>
    <p:tnLst>
      <p:par>
        <p:cTn id="125" dur="indefinite" restart="never" nodeType="tmRoot">
          <p:childTnLst>
            <p:seq>
              <p:cTn id="126" dur="indefinite" nodeType="mainSeq">
                <p:childTnLst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131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134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139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142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147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150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TextShape 3"/>
          <p:cNvSpPr/>
          <p:nvPr/>
        </p:nvSpPr>
        <p:spPr>
          <a:xfrm>
            <a:off x="180000" y="540000"/>
            <a:ext cx="9719640" cy="47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2600" spc="-1" strike="noStrike">
                <a:solidFill>
                  <a:srgbClr val="000000"/>
                </a:solidFill>
                <a:latin typeface="DejaVu Sans Condensed"/>
              </a:rPr>
              <a:t>Los Objetos tienen comportamientos</a:t>
            </a:r>
            <a:endParaRPr b="0" lang="es-A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TextShape 4"/>
          <p:cNvSpPr/>
          <p:nvPr/>
        </p:nvSpPr>
        <p:spPr>
          <a:xfrm>
            <a:off x="0" y="1271160"/>
            <a:ext cx="10079640" cy="88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 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Un objeto existe para proporcionar un comportamiento (funcionalidad) al sistema.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 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Cada comportamiento se denomina </a:t>
            </a:r>
            <a:r>
              <a:rPr b="1" i="1" lang="es-ES" sz="1800" spc="-1" strike="noStrike">
                <a:solidFill>
                  <a:srgbClr val="000000"/>
                </a:solidFill>
                <a:latin typeface="DejaVu Serif Condensed"/>
              </a:rPr>
              <a:t>operación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 o </a:t>
            </a:r>
            <a:r>
              <a:rPr b="1" i="1" lang="es-ES" sz="1800" spc="-1" strike="noStrike">
                <a:solidFill>
                  <a:srgbClr val="000000"/>
                </a:solidFill>
                <a:latin typeface="DejaVu Serif Condensed"/>
              </a:rPr>
              <a:t>método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9" name="" descr=""/>
          <p:cNvPicPr/>
          <p:nvPr/>
        </p:nvPicPr>
        <p:blipFill>
          <a:blip r:embed="rId1"/>
          <a:stretch/>
        </p:blipFill>
        <p:spPr>
          <a:xfrm>
            <a:off x="1620000" y="2484360"/>
            <a:ext cx="899640" cy="899640"/>
          </a:xfrm>
          <a:prstGeom prst="rect">
            <a:avLst/>
          </a:prstGeom>
          <a:ln w="0">
            <a:noFill/>
          </a:ln>
        </p:spPr>
      </p:pic>
      <p:pic>
        <p:nvPicPr>
          <p:cNvPr id="190" name="" descr=""/>
          <p:cNvPicPr/>
          <p:nvPr/>
        </p:nvPicPr>
        <p:blipFill>
          <a:blip r:embed="rId2"/>
          <a:stretch/>
        </p:blipFill>
        <p:spPr>
          <a:xfrm>
            <a:off x="1080000" y="3060360"/>
            <a:ext cx="1619640" cy="3059640"/>
          </a:xfrm>
          <a:prstGeom prst="rect">
            <a:avLst/>
          </a:prstGeom>
          <a:ln w="0">
            <a:noFill/>
          </a:ln>
        </p:spPr>
      </p:pic>
      <p:pic>
        <p:nvPicPr>
          <p:cNvPr id="191" name="" descr=""/>
          <p:cNvPicPr/>
          <p:nvPr/>
        </p:nvPicPr>
        <p:blipFill>
          <a:blip r:embed="rId3"/>
          <a:stretch/>
        </p:blipFill>
        <p:spPr>
          <a:xfrm>
            <a:off x="1260000" y="5040360"/>
            <a:ext cx="1259640" cy="1619640"/>
          </a:xfrm>
          <a:prstGeom prst="rect">
            <a:avLst/>
          </a:prstGeom>
          <a:ln w="0">
            <a:noFill/>
          </a:ln>
        </p:spPr>
      </p:pic>
      <p:sp>
        <p:nvSpPr>
          <p:cNvPr id="192" name="TextShape 5"/>
          <p:cNvSpPr/>
          <p:nvPr/>
        </p:nvSpPr>
        <p:spPr>
          <a:xfrm>
            <a:off x="1260000" y="3384360"/>
            <a:ext cx="1203120" cy="35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s-ES" sz="1800" spc="-1" strike="noStrike">
                <a:solidFill>
                  <a:srgbClr val="000000"/>
                </a:solidFill>
                <a:latin typeface="DejaVu Sans Condensed"/>
              </a:rPr>
              <a:t>Birome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TextShape 6"/>
          <p:cNvSpPr/>
          <p:nvPr/>
        </p:nvSpPr>
        <p:spPr>
          <a:xfrm>
            <a:off x="1080360" y="4716720"/>
            <a:ext cx="1619280" cy="35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s-ES" sz="1800" spc="-1" strike="noStrike">
                <a:solidFill>
                  <a:srgbClr val="000000"/>
                </a:solidFill>
                <a:latin typeface="DejaVu Sans Condensed"/>
              </a:rPr>
              <a:t>Motocicleta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TextShape 7"/>
          <p:cNvSpPr/>
          <p:nvPr/>
        </p:nvSpPr>
        <p:spPr>
          <a:xfrm>
            <a:off x="1316880" y="6480000"/>
            <a:ext cx="1203120" cy="35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s-ES" sz="1800" spc="-1" strike="noStrike">
                <a:solidFill>
                  <a:srgbClr val="000000"/>
                </a:solidFill>
                <a:latin typeface="DejaVu Sans Condensed"/>
              </a:rPr>
              <a:t>CPU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CustomShape 8"/>
          <p:cNvSpPr/>
          <p:nvPr/>
        </p:nvSpPr>
        <p:spPr>
          <a:xfrm>
            <a:off x="3600000" y="2844360"/>
            <a:ext cx="1799640" cy="719640"/>
          </a:xfrm>
          <a:custGeom>
            <a:avLst/>
            <a:gdLst>
              <a:gd name="textAreaLeft" fmla="*/ 0 w 1799640"/>
              <a:gd name="textAreaRight" fmla="*/ 1800000 w 1799640"/>
              <a:gd name="textAreaTop" fmla="*/ 0 h 719640"/>
              <a:gd name="textAreaBottom" fmla="*/ 720000 h 719640"/>
            </a:gdLst>
            <a:ahLst/>
            <a:rect l="textAreaLeft" t="textAreaTop" r="textAreaRight" b="textAreaBottom"/>
            <a:pathLst>
              <a:path w="5002" h="2002">
                <a:moveTo>
                  <a:pt x="0" y="500"/>
                </a:moveTo>
                <a:lnTo>
                  <a:pt x="3750" y="500"/>
                </a:lnTo>
                <a:lnTo>
                  <a:pt x="3750" y="0"/>
                </a:lnTo>
                <a:lnTo>
                  <a:pt x="5001" y="1000"/>
                </a:lnTo>
                <a:lnTo>
                  <a:pt x="3750" y="2001"/>
                </a:lnTo>
                <a:lnTo>
                  <a:pt x="3750" y="1500"/>
                </a:lnTo>
                <a:lnTo>
                  <a:pt x="0" y="1500"/>
                </a:lnTo>
                <a:lnTo>
                  <a:pt x="0" y="500"/>
                </a:lnTo>
              </a:path>
            </a:pathLst>
          </a:custGeom>
          <a:solidFill>
            <a:srgbClr val="9999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s-ES" sz="18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Métodos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CustomShape 9"/>
          <p:cNvSpPr/>
          <p:nvPr/>
        </p:nvSpPr>
        <p:spPr>
          <a:xfrm>
            <a:off x="3600000" y="4068360"/>
            <a:ext cx="1799640" cy="719640"/>
          </a:xfrm>
          <a:custGeom>
            <a:avLst/>
            <a:gdLst>
              <a:gd name="textAreaLeft" fmla="*/ 0 w 1799640"/>
              <a:gd name="textAreaRight" fmla="*/ 1800000 w 1799640"/>
              <a:gd name="textAreaTop" fmla="*/ 0 h 719640"/>
              <a:gd name="textAreaBottom" fmla="*/ 720000 h 719640"/>
            </a:gdLst>
            <a:ahLst/>
            <a:rect l="textAreaLeft" t="textAreaTop" r="textAreaRight" b="textAreaBottom"/>
            <a:pathLst>
              <a:path w="5002" h="2002">
                <a:moveTo>
                  <a:pt x="0" y="500"/>
                </a:moveTo>
                <a:lnTo>
                  <a:pt x="3750" y="500"/>
                </a:lnTo>
                <a:lnTo>
                  <a:pt x="3750" y="0"/>
                </a:lnTo>
                <a:lnTo>
                  <a:pt x="5001" y="1000"/>
                </a:lnTo>
                <a:lnTo>
                  <a:pt x="3750" y="2001"/>
                </a:lnTo>
                <a:lnTo>
                  <a:pt x="3750" y="1500"/>
                </a:lnTo>
                <a:lnTo>
                  <a:pt x="0" y="1500"/>
                </a:lnTo>
                <a:lnTo>
                  <a:pt x="0" y="500"/>
                </a:lnTo>
              </a:path>
            </a:pathLst>
          </a:custGeom>
          <a:solidFill>
            <a:srgbClr val="9999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s-ES" sz="18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Métodos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CustomShape 10"/>
          <p:cNvSpPr/>
          <p:nvPr/>
        </p:nvSpPr>
        <p:spPr>
          <a:xfrm>
            <a:off x="3600000" y="5544360"/>
            <a:ext cx="1799640" cy="719640"/>
          </a:xfrm>
          <a:custGeom>
            <a:avLst/>
            <a:gdLst>
              <a:gd name="textAreaLeft" fmla="*/ 0 w 1799640"/>
              <a:gd name="textAreaRight" fmla="*/ 1800000 w 1799640"/>
              <a:gd name="textAreaTop" fmla="*/ 0 h 719640"/>
              <a:gd name="textAreaBottom" fmla="*/ 720000 h 719640"/>
            </a:gdLst>
            <a:ahLst/>
            <a:rect l="textAreaLeft" t="textAreaTop" r="textAreaRight" b="textAreaBottom"/>
            <a:pathLst>
              <a:path w="5002" h="2002">
                <a:moveTo>
                  <a:pt x="0" y="500"/>
                </a:moveTo>
                <a:lnTo>
                  <a:pt x="3750" y="500"/>
                </a:lnTo>
                <a:lnTo>
                  <a:pt x="3750" y="0"/>
                </a:lnTo>
                <a:lnTo>
                  <a:pt x="5001" y="1000"/>
                </a:lnTo>
                <a:lnTo>
                  <a:pt x="3750" y="2001"/>
                </a:lnTo>
                <a:lnTo>
                  <a:pt x="3750" y="1500"/>
                </a:lnTo>
                <a:lnTo>
                  <a:pt x="0" y="1500"/>
                </a:lnTo>
                <a:lnTo>
                  <a:pt x="0" y="500"/>
                </a:lnTo>
              </a:path>
            </a:pathLst>
          </a:custGeom>
          <a:solidFill>
            <a:srgbClr val="9999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s-ES" sz="18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Métodos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CustomShape 11"/>
          <p:cNvSpPr/>
          <p:nvPr/>
        </p:nvSpPr>
        <p:spPr>
          <a:xfrm>
            <a:off x="5940000" y="2664360"/>
            <a:ext cx="2159640" cy="1079640"/>
          </a:xfrm>
          <a:prstGeom prst="rect">
            <a:avLst/>
          </a:prstGeom>
          <a:solidFill>
            <a:srgbClr val="99cc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s-ES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 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Escribir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 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Cambiar precio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CustomShape 12"/>
          <p:cNvSpPr/>
          <p:nvPr/>
        </p:nvSpPr>
        <p:spPr>
          <a:xfrm>
            <a:off x="5940000" y="3924360"/>
            <a:ext cx="2159640" cy="1079640"/>
          </a:xfrm>
          <a:prstGeom prst="rect">
            <a:avLst/>
          </a:prstGeom>
          <a:solidFill>
            <a:srgbClr val="99cc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 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Doblar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 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Acelerar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 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Frenar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 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Estacionar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CustomShape 13"/>
          <p:cNvSpPr/>
          <p:nvPr/>
        </p:nvSpPr>
        <p:spPr>
          <a:xfrm>
            <a:off x="5760000" y="5364360"/>
            <a:ext cx="2339640" cy="1079640"/>
          </a:xfrm>
          <a:prstGeom prst="rect">
            <a:avLst/>
          </a:prstGeom>
          <a:solidFill>
            <a:srgbClr val="99cc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 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Encender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 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Apagar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 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Ejecutar programa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 spd="med">
    <p:wipe dir="d"/>
  </p:transition>
  <p:timing>
    <p:tnLst>
      <p:par>
        <p:cTn id="151" dur="indefinite" restart="never" nodeType="tmRoot">
          <p:childTnLst>
            <p:seq>
              <p:cTn id="152" dur="indefinite" nodeType="mainSeq">
                <p:childTnLst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157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160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165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168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173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176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TextShape 3"/>
          <p:cNvSpPr/>
          <p:nvPr/>
        </p:nvSpPr>
        <p:spPr>
          <a:xfrm>
            <a:off x="180360" y="425880"/>
            <a:ext cx="9719640" cy="47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2600" spc="-1" strike="noStrike">
                <a:solidFill>
                  <a:srgbClr val="000000"/>
                </a:solidFill>
                <a:latin typeface="DejaVu Sans Condensed"/>
              </a:rPr>
              <a:t>Reglas de Nomenclatura</a:t>
            </a:r>
            <a:endParaRPr b="0" lang="es-A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TextShape 4"/>
          <p:cNvSpPr/>
          <p:nvPr/>
        </p:nvSpPr>
        <p:spPr>
          <a:xfrm>
            <a:off x="360" y="1728000"/>
            <a:ext cx="10079640" cy="433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 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Nombres de Clases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 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Nombres de Archivos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 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Nombres de Métodos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 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Nombres de Atributos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CustomShape 5"/>
          <p:cNvSpPr/>
          <p:nvPr/>
        </p:nvSpPr>
        <p:spPr>
          <a:xfrm>
            <a:off x="3240000" y="1440000"/>
            <a:ext cx="2159640" cy="1079640"/>
          </a:xfrm>
          <a:prstGeom prst="rect">
            <a:avLst/>
          </a:prstGeom>
          <a:solidFill>
            <a:srgbClr val="99cc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s-ES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 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Persona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 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UsuarioInvitado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 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ClienteMoroso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CustomShape 6"/>
          <p:cNvSpPr/>
          <p:nvPr/>
        </p:nvSpPr>
        <p:spPr>
          <a:xfrm>
            <a:off x="3240000" y="2808000"/>
            <a:ext cx="2519640" cy="1079640"/>
          </a:xfrm>
          <a:prstGeom prst="rect">
            <a:avLst/>
          </a:prstGeom>
          <a:solidFill>
            <a:srgbClr val="99cc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s-ES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 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Persona.java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 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UsuarioInvitado.java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 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ClienteMoroso.java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CustomShape 7"/>
          <p:cNvSpPr/>
          <p:nvPr/>
        </p:nvSpPr>
        <p:spPr>
          <a:xfrm>
            <a:off x="3240000" y="4176000"/>
            <a:ext cx="2519640" cy="1151640"/>
          </a:xfrm>
          <a:prstGeom prst="rect">
            <a:avLst/>
          </a:prstGeom>
          <a:solidFill>
            <a:srgbClr val="99cc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registrarLogin()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comprarProducto()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obtenerEdad()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CustomShape 8"/>
          <p:cNvSpPr/>
          <p:nvPr/>
        </p:nvSpPr>
        <p:spPr>
          <a:xfrm>
            <a:off x="3240000" y="5508000"/>
            <a:ext cx="2519640" cy="1151640"/>
          </a:xfrm>
          <a:prstGeom prst="rect">
            <a:avLst/>
          </a:prstGeom>
          <a:solidFill>
            <a:srgbClr val="99cc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edad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comisionMaxima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cantidadVentas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 spd="med">
    <p:wipe dir="d"/>
  </p:transition>
  <p:timing>
    <p:tnLst>
      <p:par>
        <p:cTn id="177" dur="indefinite" restart="never" nodeType="tmRoot">
          <p:childTnLst>
            <p:seq>
              <p:cTn id="178" dur="indefinite" nodeType="mainSeq">
                <p:childTnLst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183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188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193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198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TextShape 3"/>
          <p:cNvSpPr/>
          <p:nvPr/>
        </p:nvSpPr>
        <p:spPr>
          <a:xfrm>
            <a:off x="185040" y="540000"/>
            <a:ext cx="9719640" cy="47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2600" spc="-1" strike="noStrike">
                <a:solidFill>
                  <a:srgbClr val="000000"/>
                </a:solidFill>
                <a:latin typeface="DejaVu Sans Condensed"/>
              </a:rPr>
              <a:t>Definición de Clases</a:t>
            </a:r>
            <a:endParaRPr b="0" lang="es-A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TextShape 4"/>
          <p:cNvSpPr/>
          <p:nvPr/>
        </p:nvSpPr>
        <p:spPr>
          <a:xfrm>
            <a:off x="1080" y="1304280"/>
            <a:ext cx="10079640" cy="88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 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Utilizaremos la palabra reservada </a:t>
            </a:r>
            <a:r>
              <a:rPr b="1" i="1" lang="es-ES" sz="1800" spc="-1" strike="noStrike">
                <a:solidFill>
                  <a:srgbClr val="000000"/>
                </a:solidFill>
                <a:latin typeface="DejaVu Serif Condensed"/>
              </a:rPr>
              <a:t>class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 para definir una clase.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 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 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Generalmente la definición de una clase está formada por: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CustomShape 5"/>
          <p:cNvSpPr/>
          <p:nvPr/>
        </p:nvSpPr>
        <p:spPr>
          <a:xfrm>
            <a:off x="361080" y="2382480"/>
            <a:ext cx="2879640" cy="539640"/>
          </a:xfrm>
          <a:prstGeom prst="rect">
            <a:avLst/>
          </a:prstGeom>
          <a:solidFill>
            <a:srgbClr val="99cc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s-ES" sz="18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Modificador de Acceso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CustomShape 6"/>
          <p:cNvSpPr/>
          <p:nvPr/>
        </p:nvSpPr>
        <p:spPr>
          <a:xfrm>
            <a:off x="361080" y="3030480"/>
            <a:ext cx="2879640" cy="539640"/>
          </a:xfrm>
          <a:prstGeom prst="rect">
            <a:avLst/>
          </a:prstGeom>
          <a:solidFill>
            <a:srgbClr val="99cc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s-ES" sz="18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Campos de instancia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CustomShape 7"/>
          <p:cNvSpPr/>
          <p:nvPr/>
        </p:nvSpPr>
        <p:spPr>
          <a:xfrm>
            <a:off x="361080" y="3714480"/>
            <a:ext cx="2879640" cy="539640"/>
          </a:xfrm>
          <a:prstGeom prst="rect">
            <a:avLst/>
          </a:prstGeom>
          <a:solidFill>
            <a:srgbClr val="99cc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s-ES" sz="18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Constructores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CustomShape 8"/>
          <p:cNvSpPr/>
          <p:nvPr/>
        </p:nvSpPr>
        <p:spPr>
          <a:xfrm>
            <a:off x="361080" y="4434480"/>
            <a:ext cx="2879640" cy="539640"/>
          </a:xfrm>
          <a:prstGeom prst="rect">
            <a:avLst/>
          </a:prstGeom>
          <a:solidFill>
            <a:srgbClr val="99cc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s-ES" sz="18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Métodos de Instancia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CustomShape 9"/>
          <p:cNvSpPr/>
          <p:nvPr/>
        </p:nvSpPr>
        <p:spPr>
          <a:xfrm>
            <a:off x="361080" y="5154480"/>
            <a:ext cx="2879640" cy="539640"/>
          </a:xfrm>
          <a:prstGeom prst="rect">
            <a:avLst/>
          </a:prstGeom>
          <a:solidFill>
            <a:srgbClr val="99cc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s-ES" sz="18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Campos de clase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CustomShape 10"/>
          <p:cNvSpPr/>
          <p:nvPr/>
        </p:nvSpPr>
        <p:spPr>
          <a:xfrm>
            <a:off x="361080" y="5874480"/>
            <a:ext cx="2879640" cy="539640"/>
          </a:xfrm>
          <a:prstGeom prst="rect">
            <a:avLst/>
          </a:prstGeom>
          <a:solidFill>
            <a:srgbClr val="99cc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s-ES" sz="18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Métodos de clase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CustomShape 11"/>
          <p:cNvSpPr/>
          <p:nvPr/>
        </p:nvSpPr>
        <p:spPr>
          <a:xfrm>
            <a:off x="3601080" y="2454480"/>
            <a:ext cx="899640" cy="359640"/>
          </a:xfrm>
          <a:custGeom>
            <a:avLst/>
            <a:gdLst>
              <a:gd name="textAreaLeft" fmla="*/ 0 w 899640"/>
              <a:gd name="textAreaRight" fmla="*/ 900000 w 899640"/>
              <a:gd name="textAreaTop" fmla="*/ 0 h 359640"/>
              <a:gd name="textAreaBottom" fmla="*/ 360000 h 359640"/>
            </a:gdLst>
            <a:ahLst/>
            <a:rect l="textAreaLeft" t="textAreaTop" r="textAreaRight" b="textAreaBottom"/>
            <a:pathLst>
              <a:path w="2502" h="1002">
                <a:moveTo>
                  <a:pt x="0" y="250"/>
                </a:moveTo>
                <a:lnTo>
                  <a:pt x="1875" y="250"/>
                </a:lnTo>
                <a:lnTo>
                  <a:pt x="1875" y="0"/>
                </a:lnTo>
                <a:lnTo>
                  <a:pt x="2501" y="500"/>
                </a:lnTo>
                <a:lnTo>
                  <a:pt x="1875" y="1001"/>
                </a:lnTo>
                <a:lnTo>
                  <a:pt x="1875" y="750"/>
                </a:lnTo>
                <a:lnTo>
                  <a:pt x="0" y="750"/>
                </a:lnTo>
                <a:lnTo>
                  <a:pt x="0" y="250"/>
                </a:lnTo>
              </a:path>
            </a:pathLst>
          </a:custGeom>
          <a:solidFill>
            <a:srgbClr val="9999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CustomShape 12"/>
          <p:cNvSpPr/>
          <p:nvPr/>
        </p:nvSpPr>
        <p:spPr>
          <a:xfrm>
            <a:off x="3601080" y="3102480"/>
            <a:ext cx="899640" cy="359640"/>
          </a:xfrm>
          <a:custGeom>
            <a:avLst/>
            <a:gdLst>
              <a:gd name="textAreaLeft" fmla="*/ 0 w 899640"/>
              <a:gd name="textAreaRight" fmla="*/ 900000 w 899640"/>
              <a:gd name="textAreaTop" fmla="*/ 0 h 359640"/>
              <a:gd name="textAreaBottom" fmla="*/ 360000 h 359640"/>
            </a:gdLst>
            <a:ahLst/>
            <a:rect l="textAreaLeft" t="textAreaTop" r="textAreaRight" b="textAreaBottom"/>
            <a:pathLst>
              <a:path w="2502" h="1002">
                <a:moveTo>
                  <a:pt x="0" y="250"/>
                </a:moveTo>
                <a:lnTo>
                  <a:pt x="1875" y="250"/>
                </a:lnTo>
                <a:lnTo>
                  <a:pt x="1875" y="0"/>
                </a:lnTo>
                <a:lnTo>
                  <a:pt x="2501" y="500"/>
                </a:lnTo>
                <a:lnTo>
                  <a:pt x="1875" y="1001"/>
                </a:lnTo>
                <a:lnTo>
                  <a:pt x="1875" y="750"/>
                </a:lnTo>
                <a:lnTo>
                  <a:pt x="0" y="750"/>
                </a:lnTo>
                <a:lnTo>
                  <a:pt x="0" y="250"/>
                </a:lnTo>
              </a:path>
            </a:pathLst>
          </a:custGeom>
          <a:solidFill>
            <a:srgbClr val="9999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CustomShape 13"/>
          <p:cNvSpPr/>
          <p:nvPr/>
        </p:nvSpPr>
        <p:spPr>
          <a:xfrm>
            <a:off x="3601080" y="3750480"/>
            <a:ext cx="899640" cy="359640"/>
          </a:xfrm>
          <a:custGeom>
            <a:avLst/>
            <a:gdLst>
              <a:gd name="textAreaLeft" fmla="*/ 0 w 899640"/>
              <a:gd name="textAreaRight" fmla="*/ 900000 w 899640"/>
              <a:gd name="textAreaTop" fmla="*/ 0 h 359640"/>
              <a:gd name="textAreaBottom" fmla="*/ 360000 h 359640"/>
            </a:gdLst>
            <a:ahLst/>
            <a:rect l="textAreaLeft" t="textAreaTop" r="textAreaRight" b="textAreaBottom"/>
            <a:pathLst>
              <a:path w="2502" h="1002">
                <a:moveTo>
                  <a:pt x="0" y="250"/>
                </a:moveTo>
                <a:lnTo>
                  <a:pt x="1875" y="250"/>
                </a:lnTo>
                <a:lnTo>
                  <a:pt x="1875" y="0"/>
                </a:lnTo>
                <a:lnTo>
                  <a:pt x="2501" y="500"/>
                </a:lnTo>
                <a:lnTo>
                  <a:pt x="1875" y="1001"/>
                </a:lnTo>
                <a:lnTo>
                  <a:pt x="1875" y="750"/>
                </a:lnTo>
                <a:lnTo>
                  <a:pt x="0" y="750"/>
                </a:lnTo>
                <a:lnTo>
                  <a:pt x="0" y="250"/>
                </a:lnTo>
              </a:path>
            </a:pathLst>
          </a:custGeom>
          <a:solidFill>
            <a:srgbClr val="9999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CustomShape 14"/>
          <p:cNvSpPr/>
          <p:nvPr/>
        </p:nvSpPr>
        <p:spPr>
          <a:xfrm>
            <a:off x="3601080" y="4506480"/>
            <a:ext cx="899640" cy="359640"/>
          </a:xfrm>
          <a:custGeom>
            <a:avLst/>
            <a:gdLst>
              <a:gd name="textAreaLeft" fmla="*/ 0 w 899640"/>
              <a:gd name="textAreaRight" fmla="*/ 900000 w 899640"/>
              <a:gd name="textAreaTop" fmla="*/ 0 h 359640"/>
              <a:gd name="textAreaBottom" fmla="*/ 360000 h 359640"/>
            </a:gdLst>
            <a:ahLst/>
            <a:rect l="textAreaLeft" t="textAreaTop" r="textAreaRight" b="textAreaBottom"/>
            <a:pathLst>
              <a:path w="2502" h="1002">
                <a:moveTo>
                  <a:pt x="0" y="250"/>
                </a:moveTo>
                <a:lnTo>
                  <a:pt x="1875" y="250"/>
                </a:lnTo>
                <a:lnTo>
                  <a:pt x="1875" y="0"/>
                </a:lnTo>
                <a:lnTo>
                  <a:pt x="2501" y="500"/>
                </a:lnTo>
                <a:lnTo>
                  <a:pt x="1875" y="1001"/>
                </a:lnTo>
                <a:lnTo>
                  <a:pt x="1875" y="750"/>
                </a:lnTo>
                <a:lnTo>
                  <a:pt x="0" y="750"/>
                </a:lnTo>
                <a:lnTo>
                  <a:pt x="0" y="250"/>
                </a:lnTo>
              </a:path>
            </a:pathLst>
          </a:custGeom>
          <a:solidFill>
            <a:srgbClr val="9999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CustomShape 15"/>
          <p:cNvSpPr/>
          <p:nvPr/>
        </p:nvSpPr>
        <p:spPr>
          <a:xfrm>
            <a:off x="3601080" y="5226480"/>
            <a:ext cx="899640" cy="359640"/>
          </a:xfrm>
          <a:custGeom>
            <a:avLst/>
            <a:gdLst>
              <a:gd name="textAreaLeft" fmla="*/ 0 w 899640"/>
              <a:gd name="textAreaRight" fmla="*/ 900000 w 899640"/>
              <a:gd name="textAreaTop" fmla="*/ 0 h 359640"/>
              <a:gd name="textAreaBottom" fmla="*/ 360000 h 359640"/>
            </a:gdLst>
            <a:ahLst/>
            <a:rect l="textAreaLeft" t="textAreaTop" r="textAreaRight" b="textAreaBottom"/>
            <a:pathLst>
              <a:path w="2502" h="1002">
                <a:moveTo>
                  <a:pt x="0" y="250"/>
                </a:moveTo>
                <a:lnTo>
                  <a:pt x="1875" y="250"/>
                </a:lnTo>
                <a:lnTo>
                  <a:pt x="1875" y="0"/>
                </a:lnTo>
                <a:lnTo>
                  <a:pt x="2501" y="500"/>
                </a:lnTo>
                <a:lnTo>
                  <a:pt x="1875" y="1001"/>
                </a:lnTo>
                <a:lnTo>
                  <a:pt x="1875" y="750"/>
                </a:lnTo>
                <a:lnTo>
                  <a:pt x="0" y="750"/>
                </a:lnTo>
                <a:lnTo>
                  <a:pt x="0" y="250"/>
                </a:lnTo>
              </a:path>
            </a:pathLst>
          </a:custGeom>
          <a:solidFill>
            <a:srgbClr val="9999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CustomShape 16"/>
          <p:cNvSpPr/>
          <p:nvPr/>
        </p:nvSpPr>
        <p:spPr>
          <a:xfrm>
            <a:off x="3601080" y="5946480"/>
            <a:ext cx="899640" cy="359640"/>
          </a:xfrm>
          <a:custGeom>
            <a:avLst/>
            <a:gdLst>
              <a:gd name="textAreaLeft" fmla="*/ 0 w 899640"/>
              <a:gd name="textAreaRight" fmla="*/ 900000 w 899640"/>
              <a:gd name="textAreaTop" fmla="*/ 0 h 359640"/>
              <a:gd name="textAreaBottom" fmla="*/ 360000 h 359640"/>
            </a:gdLst>
            <a:ahLst/>
            <a:rect l="textAreaLeft" t="textAreaTop" r="textAreaRight" b="textAreaBottom"/>
            <a:pathLst>
              <a:path w="2502" h="1002">
                <a:moveTo>
                  <a:pt x="0" y="250"/>
                </a:moveTo>
                <a:lnTo>
                  <a:pt x="1875" y="250"/>
                </a:lnTo>
                <a:lnTo>
                  <a:pt x="1875" y="0"/>
                </a:lnTo>
                <a:lnTo>
                  <a:pt x="2501" y="500"/>
                </a:lnTo>
                <a:lnTo>
                  <a:pt x="1875" y="1001"/>
                </a:lnTo>
                <a:lnTo>
                  <a:pt x="1875" y="750"/>
                </a:lnTo>
                <a:lnTo>
                  <a:pt x="0" y="750"/>
                </a:lnTo>
                <a:lnTo>
                  <a:pt x="0" y="250"/>
                </a:lnTo>
              </a:path>
            </a:pathLst>
          </a:custGeom>
          <a:solidFill>
            <a:srgbClr val="9999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TextShape 17"/>
          <p:cNvSpPr/>
          <p:nvPr/>
        </p:nvSpPr>
        <p:spPr>
          <a:xfrm>
            <a:off x="4709520" y="2458440"/>
            <a:ext cx="4615200" cy="35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Especifica la disponibilidad de esa clase.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TextShape 18"/>
          <p:cNvSpPr/>
          <p:nvPr/>
        </p:nvSpPr>
        <p:spPr>
          <a:xfrm>
            <a:off x="4745880" y="3034800"/>
            <a:ext cx="4615200" cy="35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Definen los atributos de la clase.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TextShape 19"/>
          <p:cNvSpPr/>
          <p:nvPr/>
        </p:nvSpPr>
        <p:spPr>
          <a:xfrm>
            <a:off x="4746240" y="3647160"/>
            <a:ext cx="4615200" cy="62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Métodos con el mismo nombre de la clase, controlan su estado inicial.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TextShape 20"/>
          <p:cNvSpPr/>
          <p:nvPr/>
        </p:nvSpPr>
        <p:spPr>
          <a:xfrm>
            <a:off x="4745520" y="4506480"/>
            <a:ext cx="4615200" cy="62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Definen las acciones que las instancias de la clase pueden realizar.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TextShape 21"/>
          <p:cNvSpPr/>
          <p:nvPr/>
        </p:nvSpPr>
        <p:spPr>
          <a:xfrm>
            <a:off x="4745880" y="5154840"/>
            <a:ext cx="4615200" cy="62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Atributos compartidos por todas las instancias de la clase.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TextShape 22"/>
          <p:cNvSpPr/>
          <p:nvPr/>
        </p:nvSpPr>
        <p:spPr>
          <a:xfrm>
            <a:off x="4746240" y="5839200"/>
            <a:ext cx="4615200" cy="62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Métodos utilizados para controlar los atributos de clase.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 spd="med">
    <p:wipe dir="d"/>
  </p:transition>
  <p:timing>
    <p:tnLst>
      <p:par>
        <p:cTn id="199" dur="indefinite" restart="never" nodeType="tmRoot">
          <p:childTnLst>
            <p:seq>
              <p:cTn id="200" dur="indefinite" nodeType="mainSeq">
                <p:childTnLst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205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208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213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216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221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224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229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232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237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240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indefinite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245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6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248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TextShape 3"/>
          <p:cNvSpPr/>
          <p:nvPr/>
        </p:nvSpPr>
        <p:spPr>
          <a:xfrm>
            <a:off x="194400" y="758880"/>
            <a:ext cx="9719640" cy="47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2600" spc="-1" strike="noStrike">
                <a:solidFill>
                  <a:srgbClr val="000000"/>
                </a:solidFill>
                <a:latin typeface="DejaVu Sans Condensed"/>
              </a:rPr>
              <a:t>Definición de Clases</a:t>
            </a:r>
            <a:endParaRPr b="0" lang="es-AR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8" name="" descr=""/>
          <p:cNvPicPr/>
          <p:nvPr/>
        </p:nvPicPr>
        <p:blipFill>
          <a:blip r:embed="rId1"/>
          <a:stretch/>
        </p:blipFill>
        <p:spPr>
          <a:xfrm>
            <a:off x="550080" y="1881360"/>
            <a:ext cx="4319640" cy="4605480"/>
          </a:xfrm>
          <a:prstGeom prst="rect">
            <a:avLst/>
          </a:prstGeom>
          <a:ln w="0">
            <a:noFill/>
          </a:ln>
        </p:spPr>
      </p:pic>
      <p:sp>
        <p:nvSpPr>
          <p:cNvPr id="229" name="TextShape 4"/>
          <p:cNvSpPr/>
          <p:nvPr/>
        </p:nvSpPr>
        <p:spPr>
          <a:xfrm>
            <a:off x="212040" y="1525320"/>
            <a:ext cx="2137680" cy="35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Un ejemplo...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CustomShape 5"/>
          <p:cNvSpPr/>
          <p:nvPr/>
        </p:nvSpPr>
        <p:spPr>
          <a:xfrm>
            <a:off x="3250080" y="1989360"/>
            <a:ext cx="899640" cy="359640"/>
          </a:xfrm>
          <a:custGeom>
            <a:avLst/>
            <a:gdLst>
              <a:gd name="textAreaLeft" fmla="*/ 0 w 899640"/>
              <a:gd name="textAreaRight" fmla="*/ 900000 w 899640"/>
              <a:gd name="textAreaTop" fmla="*/ 0 h 359640"/>
              <a:gd name="textAreaBottom" fmla="*/ 360000 h 359640"/>
            </a:gdLst>
            <a:ahLst/>
            <a:rect l="textAreaLeft" t="textAreaTop" r="textAreaRight" b="textAreaBottom"/>
            <a:pathLst>
              <a:path w="2502" h="1002">
                <a:moveTo>
                  <a:pt x="0" y="250"/>
                </a:moveTo>
                <a:lnTo>
                  <a:pt x="1875" y="250"/>
                </a:lnTo>
                <a:lnTo>
                  <a:pt x="1875" y="0"/>
                </a:lnTo>
                <a:lnTo>
                  <a:pt x="2501" y="500"/>
                </a:lnTo>
                <a:lnTo>
                  <a:pt x="1875" y="1001"/>
                </a:lnTo>
                <a:lnTo>
                  <a:pt x="1875" y="750"/>
                </a:lnTo>
                <a:lnTo>
                  <a:pt x="0" y="750"/>
                </a:lnTo>
                <a:lnTo>
                  <a:pt x="0" y="250"/>
                </a:lnTo>
              </a:path>
            </a:pathLst>
          </a:custGeom>
          <a:solidFill>
            <a:srgbClr val="9999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TextShape 6"/>
          <p:cNvSpPr/>
          <p:nvPr/>
        </p:nvSpPr>
        <p:spPr>
          <a:xfrm>
            <a:off x="4330080" y="1993320"/>
            <a:ext cx="4679640" cy="35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Definición de la clase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TextShape 7"/>
          <p:cNvSpPr/>
          <p:nvPr/>
        </p:nvSpPr>
        <p:spPr>
          <a:xfrm>
            <a:off x="5050080" y="2497680"/>
            <a:ext cx="4679640" cy="35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Variables de instancia y de clase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CustomShape 8"/>
          <p:cNvSpPr/>
          <p:nvPr/>
        </p:nvSpPr>
        <p:spPr>
          <a:xfrm>
            <a:off x="3970080" y="2493360"/>
            <a:ext cx="899640" cy="359640"/>
          </a:xfrm>
          <a:custGeom>
            <a:avLst/>
            <a:gdLst>
              <a:gd name="textAreaLeft" fmla="*/ 0 w 899640"/>
              <a:gd name="textAreaRight" fmla="*/ 900000 w 899640"/>
              <a:gd name="textAreaTop" fmla="*/ 0 h 359640"/>
              <a:gd name="textAreaBottom" fmla="*/ 360000 h 359640"/>
            </a:gdLst>
            <a:ahLst/>
            <a:rect l="textAreaLeft" t="textAreaTop" r="textAreaRight" b="textAreaBottom"/>
            <a:pathLst>
              <a:path w="2502" h="1002">
                <a:moveTo>
                  <a:pt x="0" y="250"/>
                </a:moveTo>
                <a:lnTo>
                  <a:pt x="1875" y="250"/>
                </a:lnTo>
                <a:lnTo>
                  <a:pt x="1875" y="0"/>
                </a:lnTo>
                <a:lnTo>
                  <a:pt x="2501" y="500"/>
                </a:lnTo>
                <a:lnTo>
                  <a:pt x="1875" y="1001"/>
                </a:lnTo>
                <a:lnTo>
                  <a:pt x="1875" y="750"/>
                </a:lnTo>
                <a:lnTo>
                  <a:pt x="0" y="750"/>
                </a:lnTo>
                <a:lnTo>
                  <a:pt x="0" y="250"/>
                </a:lnTo>
              </a:path>
            </a:pathLst>
          </a:custGeom>
          <a:solidFill>
            <a:srgbClr val="9999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TextShape 9"/>
          <p:cNvSpPr/>
          <p:nvPr/>
        </p:nvSpPr>
        <p:spPr>
          <a:xfrm>
            <a:off x="5050080" y="3146040"/>
            <a:ext cx="4679640" cy="35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Constructor de la clase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CustomShape 10"/>
          <p:cNvSpPr/>
          <p:nvPr/>
        </p:nvSpPr>
        <p:spPr>
          <a:xfrm>
            <a:off x="3970080" y="3141720"/>
            <a:ext cx="899640" cy="359640"/>
          </a:xfrm>
          <a:custGeom>
            <a:avLst/>
            <a:gdLst>
              <a:gd name="textAreaLeft" fmla="*/ 0 w 899640"/>
              <a:gd name="textAreaRight" fmla="*/ 900000 w 899640"/>
              <a:gd name="textAreaTop" fmla="*/ 0 h 359640"/>
              <a:gd name="textAreaBottom" fmla="*/ 360000 h 359640"/>
            </a:gdLst>
            <a:ahLst/>
            <a:rect l="textAreaLeft" t="textAreaTop" r="textAreaRight" b="textAreaBottom"/>
            <a:pathLst>
              <a:path w="2502" h="1002">
                <a:moveTo>
                  <a:pt x="0" y="250"/>
                </a:moveTo>
                <a:lnTo>
                  <a:pt x="1875" y="250"/>
                </a:lnTo>
                <a:lnTo>
                  <a:pt x="1875" y="0"/>
                </a:lnTo>
                <a:lnTo>
                  <a:pt x="2501" y="500"/>
                </a:lnTo>
                <a:lnTo>
                  <a:pt x="1875" y="1001"/>
                </a:lnTo>
                <a:lnTo>
                  <a:pt x="1875" y="750"/>
                </a:lnTo>
                <a:lnTo>
                  <a:pt x="0" y="750"/>
                </a:lnTo>
                <a:lnTo>
                  <a:pt x="0" y="250"/>
                </a:lnTo>
              </a:path>
            </a:pathLst>
          </a:custGeom>
          <a:solidFill>
            <a:srgbClr val="9999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TextShape 11"/>
          <p:cNvSpPr/>
          <p:nvPr/>
        </p:nvSpPr>
        <p:spPr>
          <a:xfrm>
            <a:off x="6130080" y="4761360"/>
            <a:ext cx="2519640" cy="35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Métodos de Instancia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CustomShape 12"/>
          <p:cNvSpPr/>
          <p:nvPr/>
        </p:nvSpPr>
        <p:spPr>
          <a:xfrm>
            <a:off x="4870080" y="4761360"/>
            <a:ext cx="899640" cy="359640"/>
          </a:xfrm>
          <a:custGeom>
            <a:avLst/>
            <a:gdLst>
              <a:gd name="textAreaLeft" fmla="*/ 0 w 899640"/>
              <a:gd name="textAreaRight" fmla="*/ 900000 w 899640"/>
              <a:gd name="textAreaTop" fmla="*/ 0 h 359640"/>
              <a:gd name="textAreaBottom" fmla="*/ 360000 h 359640"/>
            </a:gdLst>
            <a:ahLst/>
            <a:rect l="textAreaLeft" t="textAreaTop" r="textAreaRight" b="textAreaBottom"/>
            <a:pathLst>
              <a:path w="2502" h="1002">
                <a:moveTo>
                  <a:pt x="0" y="250"/>
                </a:moveTo>
                <a:lnTo>
                  <a:pt x="1875" y="250"/>
                </a:lnTo>
                <a:lnTo>
                  <a:pt x="1875" y="0"/>
                </a:lnTo>
                <a:lnTo>
                  <a:pt x="2501" y="500"/>
                </a:lnTo>
                <a:lnTo>
                  <a:pt x="1875" y="1001"/>
                </a:lnTo>
                <a:lnTo>
                  <a:pt x="1875" y="750"/>
                </a:lnTo>
                <a:lnTo>
                  <a:pt x="0" y="750"/>
                </a:lnTo>
                <a:lnTo>
                  <a:pt x="0" y="250"/>
                </a:lnTo>
              </a:path>
            </a:pathLst>
          </a:custGeom>
          <a:solidFill>
            <a:srgbClr val="9999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CustomShape 13"/>
          <p:cNvSpPr/>
          <p:nvPr/>
        </p:nvSpPr>
        <p:spPr>
          <a:xfrm rot="1753800">
            <a:off x="4838760" y="4057560"/>
            <a:ext cx="899640" cy="359640"/>
          </a:xfrm>
          <a:custGeom>
            <a:avLst/>
            <a:gdLst>
              <a:gd name="textAreaLeft" fmla="*/ 0 w 899640"/>
              <a:gd name="textAreaRight" fmla="*/ 900000 w 899640"/>
              <a:gd name="textAreaTop" fmla="*/ 0 h 359640"/>
              <a:gd name="textAreaBottom" fmla="*/ 360000 h 359640"/>
            </a:gdLst>
            <a:ahLst/>
            <a:rect l="textAreaLeft" t="textAreaTop" r="textAreaRight" b="textAreaBottom"/>
            <a:pathLst>
              <a:path w="2503" h="1002">
                <a:moveTo>
                  <a:pt x="0" y="253"/>
                </a:moveTo>
                <a:lnTo>
                  <a:pt x="1875" y="251"/>
                </a:lnTo>
                <a:lnTo>
                  <a:pt x="1876" y="0"/>
                </a:lnTo>
                <a:lnTo>
                  <a:pt x="2502" y="500"/>
                </a:lnTo>
                <a:lnTo>
                  <a:pt x="1876" y="1001"/>
                </a:lnTo>
                <a:lnTo>
                  <a:pt x="1876" y="750"/>
                </a:lnTo>
                <a:lnTo>
                  <a:pt x="1" y="753"/>
                </a:lnTo>
                <a:lnTo>
                  <a:pt x="0" y="253"/>
                </a:lnTo>
              </a:path>
            </a:pathLst>
          </a:custGeom>
          <a:solidFill>
            <a:srgbClr val="9999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CustomShape 14"/>
          <p:cNvSpPr/>
          <p:nvPr/>
        </p:nvSpPr>
        <p:spPr>
          <a:xfrm rot="20218800">
            <a:off x="4834800" y="5499720"/>
            <a:ext cx="899640" cy="359640"/>
          </a:xfrm>
          <a:custGeom>
            <a:avLst/>
            <a:gdLst>
              <a:gd name="textAreaLeft" fmla="*/ 0 w 899640"/>
              <a:gd name="textAreaRight" fmla="*/ 900000 w 899640"/>
              <a:gd name="textAreaTop" fmla="*/ 0 h 359640"/>
              <a:gd name="textAreaBottom" fmla="*/ 360000 h 359640"/>
            </a:gdLst>
            <a:ahLst/>
            <a:rect l="textAreaLeft" t="textAreaTop" r="textAreaRight" b="textAreaBottom"/>
            <a:pathLst>
              <a:path w="2502" h="1003">
                <a:moveTo>
                  <a:pt x="0" y="252"/>
                </a:moveTo>
                <a:lnTo>
                  <a:pt x="1874" y="251"/>
                </a:lnTo>
                <a:lnTo>
                  <a:pt x="1875" y="0"/>
                </a:lnTo>
                <a:lnTo>
                  <a:pt x="2501" y="500"/>
                </a:lnTo>
                <a:lnTo>
                  <a:pt x="1875" y="1002"/>
                </a:lnTo>
                <a:lnTo>
                  <a:pt x="1875" y="751"/>
                </a:lnTo>
                <a:lnTo>
                  <a:pt x="0" y="751"/>
                </a:lnTo>
                <a:lnTo>
                  <a:pt x="0" y="252"/>
                </a:lnTo>
              </a:path>
            </a:pathLst>
          </a:custGeom>
          <a:solidFill>
            <a:srgbClr val="9999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 spd="med">
    <p:wipe dir="d"/>
  </p:transition>
  <p:timing>
    <p:tnLst>
      <p:par>
        <p:cTn id="249" dur="indefinite" restart="never" nodeType="tmRoot">
          <p:childTnLst>
            <p:seq>
              <p:cTn id="250" dur="indefinite" nodeType="mainSeq">
                <p:childTnLst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255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6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258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263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4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266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>
                      <p:stCondLst>
                        <p:cond delay="indefinite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271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2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274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>
                      <p:stCondLst>
                        <p:cond delay="indefinite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279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0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282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3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285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6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288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TextShape 3"/>
          <p:cNvSpPr/>
          <p:nvPr/>
        </p:nvSpPr>
        <p:spPr>
          <a:xfrm>
            <a:off x="180360" y="785160"/>
            <a:ext cx="9719640" cy="47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2600" spc="-1" strike="noStrike">
                <a:solidFill>
                  <a:srgbClr val="000000"/>
                </a:solidFill>
                <a:latin typeface="DejaVu Sans Condensed"/>
              </a:rPr>
              <a:t>Definición de Métodos</a:t>
            </a:r>
            <a:endParaRPr b="0" lang="es-A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TextShape 4"/>
          <p:cNvSpPr/>
          <p:nvPr/>
        </p:nvSpPr>
        <p:spPr>
          <a:xfrm>
            <a:off x="1080" y="1440000"/>
            <a:ext cx="10079640" cy="88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 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Siempre se especifican dentro de una clase.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 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Generalmente la definición de un método está formada por: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CustomShape 5"/>
          <p:cNvSpPr/>
          <p:nvPr/>
        </p:nvSpPr>
        <p:spPr>
          <a:xfrm>
            <a:off x="355680" y="2628000"/>
            <a:ext cx="2879640" cy="539640"/>
          </a:xfrm>
          <a:prstGeom prst="rect">
            <a:avLst/>
          </a:prstGeom>
          <a:solidFill>
            <a:srgbClr val="99cc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s-ES" sz="18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Modificador de Acceso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CustomShape 6"/>
          <p:cNvSpPr/>
          <p:nvPr/>
        </p:nvSpPr>
        <p:spPr>
          <a:xfrm>
            <a:off x="355680" y="3492000"/>
            <a:ext cx="2879640" cy="539640"/>
          </a:xfrm>
          <a:prstGeom prst="rect">
            <a:avLst/>
          </a:prstGeom>
          <a:solidFill>
            <a:srgbClr val="99cc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s-ES" sz="18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Palabra clave static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CustomShape 7"/>
          <p:cNvSpPr/>
          <p:nvPr/>
        </p:nvSpPr>
        <p:spPr>
          <a:xfrm>
            <a:off x="355680" y="5112000"/>
            <a:ext cx="2879640" cy="539640"/>
          </a:xfrm>
          <a:prstGeom prst="rect">
            <a:avLst/>
          </a:prstGeom>
          <a:solidFill>
            <a:srgbClr val="99cc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s-ES" sz="18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Argumentos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CustomShape 8"/>
          <p:cNvSpPr/>
          <p:nvPr/>
        </p:nvSpPr>
        <p:spPr>
          <a:xfrm>
            <a:off x="3595680" y="2700000"/>
            <a:ext cx="899640" cy="359640"/>
          </a:xfrm>
          <a:custGeom>
            <a:avLst/>
            <a:gdLst>
              <a:gd name="textAreaLeft" fmla="*/ 0 w 899640"/>
              <a:gd name="textAreaRight" fmla="*/ 900000 w 899640"/>
              <a:gd name="textAreaTop" fmla="*/ 0 h 359640"/>
              <a:gd name="textAreaBottom" fmla="*/ 360000 h 359640"/>
            </a:gdLst>
            <a:ahLst/>
            <a:rect l="textAreaLeft" t="textAreaTop" r="textAreaRight" b="textAreaBottom"/>
            <a:pathLst>
              <a:path w="2502" h="1002">
                <a:moveTo>
                  <a:pt x="0" y="250"/>
                </a:moveTo>
                <a:lnTo>
                  <a:pt x="1875" y="250"/>
                </a:lnTo>
                <a:lnTo>
                  <a:pt x="1875" y="0"/>
                </a:lnTo>
                <a:lnTo>
                  <a:pt x="2501" y="500"/>
                </a:lnTo>
                <a:lnTo>
                  <a:pt x="1875" y="1001"/>
                </a:lnTo>
                <a:lnTo>
                  <a:pt x="1875" y="750"/>
                </a:lnTo>
                <a:lnTo>
                  <a:pt x="0" y="750"/>
                </a:lnTo>
                <a:lnTo>
                  <a:pt x="0" y="250"/>
                </a:lnTo>
              </a:path>
            </a:pathLst>
          </a:custGeom>
          <a:solidFill>
            <a:srgbClr val="9999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CustomShape 9"/>
          <p:cNvSpPr/>
          <p:nvPr/>
        </p:nvSpPr>
        <p:spPr>
          <a:xfrm>
            <a:off x="3595680" y="3564000"/>
            <a:ext cx="899640" cy="359640"/>
          </a:xfrm>
          <a:custGeom>
            <a:avLst/>
            <a:gdLst>
              <a:gd name="textAreaLeft" fmla="*/ 0 w 899640"/>
              <a:gd name="textAreaRight" fmla="*/ 900000 w 899640"/>
              <a:gd name="textAreaTop" fmla="*/ 0 h 359640"/>
              <a:gd name="textAreaBottom" fmla="*/ 360000 h 359640"/>
            </a:gdLst>
            <a:ahLst/>
            <a:rect l="textAreaLeft" t="textAreaTop" r="textAreaRight" b="textAreaBottom"/>
            <a:pathLst>
              <a:path w="2502" h="1002">
                <a:moveTo>
                  <a:pt x="0" y="250"/>
                </a:moveTo>
                <a:lnTo>
                  <a:pt x="1875" y="250"/>
                </a:lnTo>
                <a:lnTo>
                  <a:pt x="1875" y="0"/>
                </a:lnTo>
                <a:lnTo>
                  <a:pt x="2501" y="500"/>
                </a:lnTo>
                <a:lnTo>
                  <a:pt x="1875" y="1001"/>
                </a:lnTo>
                <a:lnTo>
                  <a:pt x="1875" y="750"/>
                </a:lnTo>
                <a:lnTo>
                  <a:pt x="0" y="750"/>
                </a:lnTo>
                <a:lnTo>
                  <a:pt x="0" y="250"/>
                </a:lnTo>
              </a:path>
            </a:pathLst>
          </a:custGeom>
          <a:solidFill>
            <a:srgbClr val="9999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CustomShape 10"/>
          <p:cNvSpPr/>
          <p:nvPr/>
        </p:nvSpPr>
        <p:spPr>
          <a:xfrm>
            <a:off x="3595680" y="5148000"/>
            <a:ext cx="899640" cy="359640"/>
          </a:xfrm>
          <a:custGeom>
            <a:avLst/>
            <a:gdLst>
              <a:gd name="textAreaLeft" fmla="*/ 0 w 899640"/>
              <a:gd name="textAreaRight" fmla="*/ 900000 w 899640"/>
              <a:gd name="textAreaTop" fmla="*/ 0 h 359640"/>
              <a:gd name="textAreaBottom" fmla="*/ 360000 h 359640"/>
            </a:gdLst>
            <a:ahLst/>
            <a:rect l="textAreaLeft" t="textAreaTop" r="textAreaRight" b="textAreaBottom"/>
            <a:pathLst>
              <a:path w="2502" h="1002">
                <a:moveTo>
                  <a:pt x="0" y="250"/>
                </a:moveTo>
                <a:lnTo>
                  <a:pt x="1875" y="250"/>
                </a:lnTo>
                <a:lnTo>
                  <a:pt x="1875" y="0"/>
                </a:lnTo>
                <a:lnTo>
                  <a:pt x="2501" y="500"/>
                </a:lnTo>
                <a:lnTo>
                  <a:pt x="1875" y="1001"/>
                </a:lnTo>
                <a:lnTo>
                  <a:pt x="1875" y="750"/>
                </a:lnTo>
                <a:lnTo>
                  <a:pt x="0" y="750"/>
                </a:lnTo>
                <a:lnTo>
                  <a:pt x="0" y="250"/>
                </a:lnTo>
              </a:path>
            </a:pathLst>
          </a:custGeom>
          <a:solidFill>
            <a:srgbClr val="9999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TextShape 11"/>
          <p:cNvSpPr/>
          <p:nvPr/>
        </p:nvSpPr>
        <p:spPr>
          <a:xfrm>
            <a:off x="4704120" y="2595960"/>
            <a:ext cx="4615200" cy="62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Especifica desde donde puede invocarse el método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TextShape 12"/>
          <p:cNvSpPr/>
          <p:nvPr/>
        </p:nvSpPr>
        <p:spPr>
          <a:xfrm>
            <a:off x="4740480" y="3568320"/>
            <a:ext cx="4615200" cy="35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Especifica que el método es estático.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TextShape 13"/>
          <p:cNvSpPr/>
          <p:nvPr/>
        </p:nvSpPr>
        <p:spPr>
          <a:xfrm>
            <a:off x="4740840" y="5044680"/>
            <a:ext cx="4615200" cy="62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Parámetros necesarios para que el método realice su función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CustomShape 14"/>
          <p:cNvSpPr/>
          <p:nvPr/>
        </p:nvSpPr>
        <p:spPr>
          <a:xfrm>
            <a:off x="355680" y="4320360"/>
            <a:ext cx="2879640" cy="539640"/>
          </a:xfrm>
          <a:prstGeom prst="rect">
            <a:avLst/>
          </a:prstGeom>
          <a:solidFill>
            <a:srgbClr val="99cc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s-ES" sz="18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Tipo de Retorno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CustomShape 15"/>
          <p:cNvSpPr/>
          <p:nvPr/>
        </p:nvSpPr>
        <p:spPr>
          <a:xfrm>
            <a:off x="3595680" y="4392360"/>
            <a:ext cx="899640" cy="359640"/>
          </a:xfrm>
          <a:custGeom>
            <a:avLst/>
            <a:gdLst>
              <a:gd name="textAreaLeft" fmla="*/ 0 w 899640"/>
              <a:gd name="textAreaRight" fmla="*/ 900000 w 899640"/>
              <a:gd name="textAreaTop" fmla="*/ 0 h 359640"/>
              <a:gd name="textAreaBottom" fmla="*/ 360000 h 359640"/>
            </a:gdLst>
            <a:ahLst/>
            <a:rect l="textAreaLeft" t="textAreaTop" r="textAreaRight" b="textAreaBottom"/>
            <a:pathLst>
              <a:path w="2502" h="1002">
                <a:moveTo>
                  <a:pt x="0" y="250"/>
                </a:moveTo>
                <a:lnTo>
                  <a:pt x="1875" y="250"/>
                </a:lnTo>
                <a:lnTo>
                  <a:pt x="1875" y="0"/>
                </a:lnTo>
                <a:lnTo>
                  <a:pt x="2501" y="500"/>
                </a:lnTo>
                <a:lnTo>
                  <a:pt x="1875" y="1001"/>
                </a:lnTo>
                <a:lnTo>
                  <a:pt x="1875" y="750"/>
                </a:lnTo>
                <a:lnTo>
                  <a:pt x="0" y="750"/>
                </a:lnTo>
                <a:lnTo>
                  <a:pt x="0" y="250"/>
                </a:lnTo>
              </a:path>
            </a:pathLst>
          </a:custGeom>
          <a:solidFill>
            <a:srgbClr val="9999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TextShape 16"/>
          <p:cNvSpPr/>
          <p:nvPr/>
        </p:nvSpPr>
        <p:spPr>
          <a:xfrm>
            <a:off x="4740120" y="4392360"/>
            <a:ext cx="4615200" cy="62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Especifica el tipo de valor que el mismo debe devolver.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CustomShape 17"/>
          <p:cNvSpPr/>
          <p:nvPr/>
        </p:nvSpPr>
        <p:spPr>
          <a:xfrm>
            <a:off x="355680" y="5940360"/>
            <a:ext cx="2879640" cy="539640"/>
          </a:xfrm>
          <a:prstGeom prst="rect">
            <a:avLst/>
          </a:prstGeom>
          <a:solidFill>
            <a:srgbClr val="99cc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s-ES" sz="18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Nombre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CustomShape 18"/>
          <p:cNvSpPr/>
          <p:nvPr/>
        </p:nvSpPr>
        <p:spPr>
          <a:xfrm>
            <a:off x="3595680" y="5976360"/>
            <a:ext cx="899640" cy="359640"/>
          </a:xfrm>
          <a:custGeom>
            <a:avLst/>
            <a:gdLst>
              <a:gd name="textAreaLeft" fmla="*/ 0 w 899640"/>
              <a:gd name="textAreaRight" fmla="*/ 900000 w 899640"/>
              <a:gd name="textAreaTop" fmla="*/ 0 h 359640"/>
              <a:gd name="textAreaBottom" fmla="*/ 360000 h 359640"/>
            </a:gdLst>
            <a:ahLst/>
            <a:rect l="textAreaLeft" t="textAreaTop" r="textAreaRight" b="textAreaBottom"/>
            <a:pathLst>
              <a:path w="2502" h="1002">
                <a:moveTo>
                  <a:pt x="0" y="250"/>
                </a:moveTo>
                <a:lnTo>
                  <a:pt x="1875" y="250"/>
                </a:lnTo>
                <a:lnTo>
                  <a:pt x="1875" y="0"/>
                </a:lnTo>
                <a:lnTo>
                  <a:pt x="2501" y="500"/>
                </a:lnTo>
                <a:lnTo>
                  <a:pt x="1875" y="1001"/>
                </a:lnTo>
                <a:lnTo>
                  <a:pt x="1875" y="750"/>
                </a:lnTo>
                <a:lnTo>
                  <a:pt x="0" y="750"/>
                </a:lnTo>
                <a:lnTo>
                  <a:pt x="0" y="250"/>
                </a:lnTo>
              </a:path>
            </a:pathLst>
          </a:custGeom>
          <a:solidFill>
            <a:srgbClr val="9999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TextShape 19"/>
          <p:cNvSpPr/>
          <p:nvPr/>
        </p:nvSpPr>
        <p:spPr>
          <a:xfrm>
            <a:off x="4740840" y="5945040"/>
            <a:ext cx="4615200" cy="35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Nombre del método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 spd="med">
    <p:wipe dir="d"/>
  </p:transition>
  <p:timing>
    <p:tnLst>
      <p:par>
        <p:cTn id="289" dur="indefinite" restart="never" nodeType="tmRoot">
          <p:childTnLst>
            <p:seq>
              <p:cTn id="290" dur="indefinite" nodeType="mainSeq">
                <p:childTnLst>
                  <p:par>
                    <p:cTn id="291" fill="hold">
                      <p:stCondLst>
                        <p:cond delay="indefinite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295"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6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298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9" fill="hold">
                      <p:stCondLst>
                        <p:cond delay="indefinite"/>
                      </p:stCondLst>
                      <p:childTnLst>
                        <p:par>
                          <p:cTn id="300" fill="hold">
                            <p:stCondLst>
                              <p:cond delay="0"/>
                            </p:stCondLst>
                            <p:childTnLst>
                              <p:par>
                                <p:cTn id="301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303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4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306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7" fill="hold">
                      <p:stCondLst>
                        <p:cond delay="indefinite"/>
                      </p:stCondLst>
                      <p:childTnLst>
                        <p:par>
                          <p:cTn id="308" fill="hold">
                            <p:stCondLst>
                              <p:cond delay="0"/>
                            </p:stCondLst>
                            <p:childTnLst>
                              <p:par>
                                <p:cTn id="309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311"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2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314"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5" fill="hold">
                      <p:stCondLst>
                        <p:cond delay="indefinite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319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0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322"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3" fill="hold">
                      <p:stCondLst>
                        <p:cond delay="indefinite"/>
                      </p:stCondLst>
                      <p:childTnLst>
                        <p:par>
                          <p:cTn id="324" fill="hold">
                            <p:stCondLst>
                              <p:cond delay="0"/>
                            </p:stCondLst>
                            <p:childTnLst>
                              <p:par>
                                <p:cTn id="325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327"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8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330"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CustomShape 2"/>
          <p:cNvSpPr/>
          <p:nvPr/>
        </p:nvSpPr>
        <p:spPr>
          <a:xfrm>
            <a:off x="7560" y="1045080"/>
            <a:ext cx="10080360" cy="414000"/>
          </a:xfrm>
          <a:custGeom>
            <a:avLst/>
            <a:gdLst>
              <a:gd name="textAreaLeft" fmla="*/ 0 w 10080360"/>
              <a:gd name="textAreaRight" fmla="*/ 10080720 w 10080360"/>
              <a:gd name="textAreaTop" fmla="*/ 0 h 414000"/>
              <a:gd name="textAreaBottom" fmla="*/ 414360 h 41400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>
              <a:lnSpc>
                <a:spcPct val="98000"/>
              </a:lnSpc>
            </a:pPr>
            <a:r>
              <a:rPr b="1" lang="en-GB" sz="2200" spc="-1" strike="noStrike">
                <a:solidFill>
                  <a:srgbClr val="ffffff"/>
                </a:solidFill>
                <a:latin typeface="DejaVu Sans"/>
                <a:ea typeface="DejaVu Sans"/>
              </a:rPr>
              <a:t>Clase 3: Codificación en el Lenguaje</a:t>
            </a:r>
            <a:endParaRPr b="0" lang="es-A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TextShape 3"/>
          <p:cNvSpPr/>
          <p:nvPr/>
        </p:nvSpPr>
        <p:spPr>
          <a:xfrm>
            <a:off x="180000" y="461160"/>
            <a:ext cx="9719640" cy="47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2600" spc="-1" strike="noStrike">
                <a:solidFill>
                  <a:srgbClr val="000000"/>
                </a:solidFill>
                <a:latin typeface="DejaVu Sans Condensed"/>
              </a:rPr>
              <a:t>Definición de Métodos</a:t>
            </a:r>
            <a:endParaRPr b="0" lang="es-A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TextShape 4"/>
          <p:cNvSpPr/>
          <p:nvPr/>
        </p:nvSpPr>
        <p:spPr>
          <a:xfrm>
            <a:off x="197280" y="1227960"/>
            <a:ext cx="2497320" cy="35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Algunos ejemplos...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0" name="" descr=""/>
          <p:cNvPicPr/>
          <p:nvPr/>
        </p:nvPicPr>
        <p:blipFill>
          <a:blip r:embed="rId1"/>
          <a:stretch/>
        </p:blipFill>
        <p:spPr>
          <a:xfrm>
            <a:off x="540360" y="5040360"/>
            <a:ext cx="3959640" cy="1079640"/>
          </a:xfrm>
          <a:prstGeom prst="rect">
            <a:avLst/>
          </a:prstGeom>
          <a:ln w="0">
            <a:noFill/>
          </a:ln>
        </p:spPr>
      </p:pic>
      <p:pic>
        <p:nvPicPr>
          <p:cNvPr id="261" name="" descr=""/>
          <p:cNvPicPr/>
          <p:nvPr/>
        </p:nvPicPr>
        <p:blipFill>
          <a:blip r:embed="rId2"/>
          <a:stretch/>
        </p:blipFill>
        <p:spPr>
          <a:xfrm>
            <a:off x="354960" y="2082960"/>
            <a:ext cx="4139640" cy="940320"/>
          </a:xfrm>
          <a:prstGeom prst="rect">
            <a:avLst/>
          </a:prstGeom>
          <a:ln w="0">
            <a:noFill/>
          </a:ln>
        </p:spPr>
      </p:pic>
      <p:pic>
        <p:nvPicPr>
          <p:cNvPr id="262" name="" descr=""/>
          <p:cNvPicPr/>
          <p:nvPr/>
        </p:nvPicPr>
        <p:blipFill>
          <a:blip r:embed="rId3"/>
          <a:stretch/>
        </p:blipFill>
        <p:spPr>
          <a:xfrm>
            <a:off x="354960" y="3383640"/>
            <a:ext cx="5219640" cy="1439640"/>
          </a:xfrm>
          <a:prstGeom prst="rect">
            <a:avLst/>
          </a:prstGeom>
          <a:ln w="0">
            <a:noFill/>
          </a:ln>
        </p:spPr>
      </p:pic>
      <p:sp>
        <p:nvSpPr>
          <p:cNvPr id="263" name="CustomShape 5"/>
          <p:cNvSpPr/>
          <p:nvPr/>
        </p:nvSpPr>
        <p:spPr>
          <a:xfrm>
            <a:off x="4710960" y="2195640"/>
            <a:ext cx="899640" cy="359640"/>
          </a:xfrm>
          <a:custGeom>
            <a:avLst/>
            <a:gdLst>
              <a:gd name="textAreaLeft" fmla="*/ 0 w 899640"/>
              <a:gd name="textAreaRight" fmla="*/ 900000 w 899640"/>
              <a:gd name="textAreaTop" fmla="*/ 0 h 359640"/>
              <a:gd name="textAreaBottom" fmla="*/ 360000 h 359640"/>
            </a:gdLst>
            <a:ahLst/>
            <a:rect l="textAreaLeft" t="textAreaTop" r="textAreaRight" b="textAreaBottom"/>
            <a:pathLst>
              <a:path w="2502" h="1002">
                <a:moveTo>
                  <a:pt x="0" y="250"/>
                </a:moveTo>
                <a:lnTo>
                  <a:pt x="1875" y="250"/>
                </a:lnTo>
                <a:lnTo>
                  <a:pt x="1875" y="0"/>
                </a:lnTo>
                <a:lnTo>
                  <a:pt x="2501" y="500"/>
                </a:lnTo>
                <a:lnTo>
                  <a:pt x="1875" y="1001"/>
                </a:lnTo>
                <a:lnTo>
                  <a:pt x="1875" y="750"/>
                </a:lnTo>
                <a:lnTo>
                  <a:pt x="0" y="750"/>
                </a:lnTo>
                <a:lnTo>
                  <a:pt x="0" y="250"/>
                </a:lnTo>
              </a:path>
            </a:pathLst>
          </a:custGeom>
          <a:solidFill>
            <a:srgbClr val="9999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TextShape 6"/>
          <p:cNvSpPr/>
          <p:nvPr/>
        </p:nvSpPr>
        <p:spPr>
          <a:xfrm>
            <a:off x="5644800" y="2164320"/>
            <a:ext cx="4615200" cy="35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Método para establecer una propiedad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CustomShape 7"/>
          <p:cNvSpPr/>
          <p:nvPr/>
        </p:nvSpPr>
        <p:spPr>
          <a:xfrm>
            <a:off x="4710960" y="3312000"/>
            <a:ext cx="899640" cy="359640"/>
          </a:xfrm>
          <a:custGeom>
            <a:avLst/>
            <a:gdLst>
              <a:gd name="textAreaLeft" fmla="*/ 0 w 899640"/>
              <a:gd name="textAreaRight" fmla="*/ 900000 w 899640"/>
              <a:gd name="textAreaTop" fmla="*/ 0 h 359640"/>
              <a:gd name="textAreaBottom" fmla="*/ 360000 h 359640"/>
            </a:gdLst>
            <a:ahLst/>
            <a:rect l="textAreaLeft" t="textAreaTop" r="textAreaRight" b="textAreaBottom"/>
            <a:pathLst>
              <a:path w="2502" h="1002">
                <a:moveTo>
                  <a:pt x="0" y="250"/>
                </a:moveTo>
                <a:lnTo>
                  <a:pt x="1875" y="250"/>
                </a:lnTo>
                <a:lnTo>
                  <a:pt x="1875" y="0"/>
                </a:lnTo>
                <a:lnTo>
                  <a:pt x="2501" y="500"/>
                </a:lnTo>
                <a:lnTo>
                  <a:pt x="1875" y="1001"/>
                </a:lnTo>
                <a:lnTo>
                  <a:pt x="1875" y="750"/>
                </a:lnTo>
                <a:lnTo>
                  <a:pt x="0" y="750"/>
                </a:lnTo>
                <a:lnTo>
                  <a:pt x="0" y="250"/>
                </a:lnTo>
              </a:path>
            </a:pathLst>
          </a:custGeom>
          <a:solidFill>
            <a:srgbClr val="9999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TextShape 8"/>
          <p:cNvSpPr/>
          <p:nvPr/>
        </p:nvSpPr>
        <p:spPr>
          <a:xfrm>
            <a:off x="5644800" y="3244320"/>
            <a:ext cx="4615200" cy="35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Método sin retorno (void)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CustomShape 9"/>
          <p:cNvSpPr/>
          <p:nvPr/>
        </p:nvSpPr>
        <p:spPr>
          <a:xfrm>
            <a:off x="4710960" y="5040360"/>
            <a:ext cx="899640" cy="359640"/>
          </a:xfrm>
          <a:custGeom>
            <a:avLst/>
            <a:gdLst>
              <a:gd name="textAreaLeft" fmla="*/ 0 w 899640"/>
              <a:gd name="textAreaRight" fmla="*/ 900000 w 899640"/>
              <a:gd name="textAreaTop" fmla="*/ 0 h 359640"/>
              <a:gd name="textAreaBottom" fmla="*/ 360000 h 359640"/>
            </a:gdLst>
            <a:ahLst/>
            <a:rect l="textAreaLeft" t="textAreaTop" r="textAreaRight" b="textAreaBottom"/>
            <a:pathLst>
              <a:path w="2502" h="1002">
                <a:moveTo>
                  <a:pt x="0" y="250"/>
                </a:moveTo>
                <a:lnTo>
                  <a:pt x="1875" y="250"/>
                </a:lnTo>
                <a:lnTo>
                  <a:pt x="1875" y="0"/>
                </a:lnTo>
                <a:lnTo>
                  <a:pt x="2501" y="500"/>
                </a:lnTo>
                <a:lnTo>
                  <a:pt x="1875" y="1001"/>
                </a:lnTo>
                <a:lnTo>
                  <a:pt x="1875" y="750"/>
                </a:lnTo>
                <a:lnTo>
                  <a:pt x="0" y="750"/>
                </a:lnTo>
                <a:lnTo>
                  <a:pt x="0" y="250"/>
                </a:lnTo>
              </a:path>
            </a:pathLst>
          </a:custGeom>
          <a:solidFill>
            <a:srgbClr val="9999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TextShape 10"/>
          <p:cNvSpPr/>
          <p:nvPr/>
        </p:nvSpPr>
        <p:spPr>
          <a:xfrm>
            <a:off x="5824800" y="5040000"/>
            <a:ext cx="4615200" cy="35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Método estático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 spd="med">
    <p:wipe dir="d"/>
  </p:transition>
  <p:timing>
    <p:tnLst>
      <p:par>
        <p:cTn id="331" dur="indefinite" restart="never" nodeType="tmRoot">
          <p:childTnLst>
            <p:seq>
              <p:cTn id="332" dur="indefinite" nodeType="mainSeq">
                <p:childTnLst>
                  <p:par>
                    <p:cTn id="333" fill="hold">
                      <p:stCondLst>
                        <p:cond delay="indefinite"/>
                      </p:stCondLst>
                      <p:childTnLst>
                        <p:par>
                          <p:cTn id="334" fill="hold">
                            <p:stCondLst>
                              <p:cond delay="0"/>
                            </p:stCondLst>
                            <p:childTnLst>
                              <p:par>
                                <p:cTn id="335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337"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8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340"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1" fill="hold">
                      <p:stCondLst>
                        <p:cond delay="indefinite"/>
                      </p:stCondLst>
                      <p:childTnLst>
                        <p:par>
                          <p:cTn id="342" fill="hold">
                            <p:stCondLst>
                              <p:cond delay="0"/>
                            </p:stCondLst>
                            <p:childTnLst>
                              <p:par>
                                <p:cTn id="343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345"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6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348"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9" fill="hold">
                      <p:stCondLst>
                        <p:cond delay="indefinite"/>
                      </p:stCondLst>
                      <p:childTnLst>
                        <p:par>
                          <p:cTn id="350" fill="hold">
                            <p:stCondLst>
                              <p:cond delay="0"/>
                            </p:stCondLst>
                            <p:childTnLst>
                              <p:par>
                                <p:cTn id="351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353"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4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356"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TextShape 3"/>
          <p:cNvSpPr/>
          <p:nvPr/>
        </p:nvSpPr>
        <p:spPr>
          <a:xfrm>
            <a:off x="180360" y="425880"/>
            <a:ext cx="9719640" cy="47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2600" spc="-1" strike="noStrike">
                <a:solidFill>
                  <a:srgbClr val="000000"/>
                </a:solidFill>
                <a:latin typeface="DejaVu Sans Condensed"/>
              </a:rPr>
              <a:t>Definición de Atributos</a:t>
            </a:r>
            <a:endParaRPr b="0" lang="es-A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TextShape 4"/>
          <p:cNvSpPr/>
          <p:nvPr/>
        </p:nvSpPr>
        <p:spPr>
          <a:xfrm>
            <a:off x="680040" y="1032120"/>
            <a:ext cx="10079640" cy="88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 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Siempre se especifican dentro de una clase.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 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Generalmente están definidos por: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CustomShape 5"/>
          <p:cNvSpPr/>
          <p:nvPr/>
        </p:nvSpPr>
        <p:spPr>
          <a:xfrm>
            <a:off x="360000" y="2628360"/>
            <a:ext cx="2879640" cy="539640"/>
          </a:xfrm>
          <a:prstGeom prst="rect">
            <a:avLst/>
          </a:prstGeom>
          <a:solidFill>
            <a:srgbClr val="99cc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s-ES" sz="18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Modificador de Acceso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CustomShape 6"/>
          <p:cNvSpPr/>
          <p:nvPr/>
        </p:nvSpPr>
        <p:spPr>
          <a:xfrm>
            <a:off x="360000" y="3600360"/>
            <a:ext cx="2879640" cy="539640"/>
          </a:xfrm>
          <a:prstGeom prst="rect">
            <a:avLst/>
          </a:prstGeom>
          <a:solidFill>
            <a:srgbClr val="99cc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s-ES" sz="18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Palabra clave static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CustomShape 7"/>
          <p:cNvSpPr/>
          <p:nvPr/>
        </p:nvSpPr>
        <p:spPr>
          <a:xfrm>
            <a:off x="360000" y="4644360"/>
            <a:ext cx="2879640" cy="539640"/>
          </a:xfrm>
          <a:prstGeom prst="rect">
            <a:avLst/>
          </a:prstGeom>
          <a:solidFill>
            <a:srgbClr val="99cc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s-ES" sz="18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Tipo de dato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CustomShape 8"/>
          <p:cNvSpPr/>
          <p:nvPr/>
        </p:nvSpPr>
        <p:spPr>
          <a:xfrm>
            <a:off x="360000" y="5760360"/>
            <a:ext cx="2879640" cy="539640"/>
          </a:xfrm>
          <a:prstGeom prst="rect">
            <a:avLst/>
          </a:prstGeom>
          <a:solidFill>
            <a:srgbClr val="99cc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s-ES" sz="18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Nombre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CustomShape 9"/>
          <p:cNvSpPr/>
          <p:nvPr/>
        </p:nvSpPr>
        <p:spPr>
          <a:xfrm>
            <a:off x="3600000" y="2700360"/>
            <a:ext cx="899640" cy="359640"/>
          </a:xfrm>
          <a:custGeom>
            <a:avLst/>
            <a:gdLst>
              <a:gd name="textAreaLeft" fmla="*/ 0 w 899640"/>
              <a:gd name="textAreaRight" fmla="*/ 900000 w 899640"/>
              <a:gd name="textAreaTop" fmla="*/ 0 h 359640"/>
              <a:gd name="textAreaBottom" fmla="*/ 360000 h 359640"/>
            </a:gdLst>
            <a:ahLst/>
            <a:rect l="textAreaLeft" t="textAreaTop" r="textAreaRight" b="textAreaBottom"/>
            <a:pathLst>
              <a:path w="2502" h="1002">
                <a:moveTo>
                  <a:pt x="0" y="250"/>
                </a:moveTo>
                <a:lnTo>
                  <a:pt x="1875" y="250"/>
                </a:lnTo>
                <a:lnTo>
                  <a:pt x="1875" y="0"/>
                </a:lnTo>
                <a:lnTo>
                  <a:pt x="2501" y="500"/>
                </a:lnTo>
                <a:lnTo>
                  <a:pt x="1875" y="1001"/>
                </a:lnTo>
                <a:lnTo>
                  <a:pt x="1875" y="750"/>
                </a:lnTo>
                <a:lnTo>
                  <a:pt x="0" y="750"/>
                </a:lnTo>
                <a:lnTo>
                  <a:pt x="0" y="250"/>
                </a:lnTo>
              </a:path>
            </a:pathLst>
          </a:custGeom>
          <a:solidFill>
            <a:srgbClr val="9999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CustomShape 10"/>
          <p:cNvSpPr/>
          <p:nvPr/>
        </p:nvSpPr>
        <p:spPr>
          <a:xfrm>
            <a:off x="3600000" y="3672360"/>
            <a:ext cx="899640" cy="359640"/>
          </a:xfrm>
          <a:custGeom>
            <a:avLst/>
            <a:gdLst>
              <a:gd name="textAreaLeft" fmla="*/ 0 w 899640"/>
              <a:gd name="textAreaRight" fmla="*/ 900000 w 899640"/>
              <a:gd name="textAreaTop" fmla="*/ 0 h 359640"/>
              <a:gd name="textAreaBottom" fmla="*/ 360000 h 359640"/>
            </a:gdLst>
            <a:ahLst/>
            <a:rect l="textAreaLeft" t="textAreaTop" r="textAreaRight" b="textAreaBottom"/>
            <a:pathLst>
              <a:path w="2502" h="1002">
                <a:moveTo>
                  <a:pt x="0" y="250"/>
                </a:moveTo>
                <a:lnTo>
                  <a:pt x="1875" y="250"/>
                </a:lnTo>
                <a:lnTo>
                  <a:pt x="1875" y="0"/>
                </a:lnTo>
                <a:lnTo>
                  <a:pt x="2501" y="500"/>
                </a:lnTo>
                <a:lnTo>
                  <a:pt x="1875" y="1001"/>
                </a:lnTo>
                <a:lnTo>
                  <a:pt x="1875" y="750"/>
                </a:lnTo>
                <a:lnTo>
                  <a:pt x="0" y="750"/>
                </a:lnTo>
                <a:lnTo>
                  <a:pt x="0" y="250"/>
                </a:lnTo>
              </a:path>
            </a:pathLst>
          </a:custGeom>
          <a:solidFill>
            <a:srgbClr val="9999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CustomShape 11"/>
          <p:cNvSpPr/>
          <p:nvPr/>
        </p:nvSpPr>
        <p:spPr>
          <a:xfrm>
            <a:off x="3600000" y="4680360"/>
            <a:ext cx="899640" cy="359640"/>
          </a:xfrm>
          <a:custGeom>
            <a:avLst/>
            <a:gdLst>
              <a:gd name="textAreaLeft" fmla="*/ 0 w 899640"/>
              <a:gd name="textAreaRight" fmla="*/ 900000 w 899640"/>
              <a:gd name="textAreaTop" fmla="*/ 0 h 359640"/>
              <a:gd name="textAreaBottom" fmla="*/ 360000 h 359640"/>
            </a:gdLst>
            <a:ahLst/>
            <a:rect l="textAreaLeft" t="textAreaTop" r="textAreaRight" b="textAreaBottom"/>
            <a:pathLst>
              <a:path w="2502" h="1002">
                <a:moveTo>
                  <a:pt x="0" y="250"/>
                </a:moveTo>
                <a:lnTo>
                  <a:pt x="1875" y="250"/>
                </a:lnTo>
                <a:lnTo>
                  <a:pt x="1875" y="0"/>
                </a:lnTo>
                <a:lnTo>
                  <a:pt x="2501" y="500"/>
                </a:lnTo>
                <a:lnTo>
                  <a:pt x="1875" y="1001"/>
                </a:lnTo>
                <a:lnTo>
                  <a:pt x="1875" y="750"/>
                </a:lnTo>
                <a:lnTo>
                  <a:pt x="0" y="750"/>
                </a:lnTo>
                <a:lnTo>
                  <a:pt x="0" y="250"/>
                </a:lnTo>
              </a:path>
            </a:pathLst>
          </a:custGeom>
          <a:solidFill>
            <a:srgbClr val="9999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CustomShape 12"/>
          <p:cNvSpPr/>
          <p:nvPr/>
        </p:nvSpPr>
        <p:spPr>
          <a:xfrm>
            <a:off x="3600000" y="5832360"/>
            <a:ext cx="899640" cy="359640"/>
          </a:xfrm>
          <a:custGeom>
            <a:avLst/>
            <a:gdLst>
              <a:gd name="textAreaLeft" fmla="*/ 0 w 899640"/>
              <a:gd name="textAreaRight" fmla="*/ 900000 w 899640"/>
              <a:gd name="textAreaTop" fmla="*/ 0 h 359640"/>
              <a:gd name="textAreaBottom" fmla="*/ 360000 h 359640"/>
            </a:gdLst>
            <a:ahLst/>
            <a:rect l="textAreaLeft" t="textAreaTop" r="textAreaRight" b="textAreaBottom"/>
            <a:pathLst>
              <a:path w="2502" h="1002">
                <a:moveTo>
                  <a:pt x="0" y="250"/>
                </a:moveTo>
                <a:lnTo>
                  <a:pt x="1875" y="250"/>
                </a:lnTo>
                <a:lnTo>
                  <a:pt x="1875" y="0"/>
                </a:lnTo>
                <a:lnTo>
                  <a:pt x="2501" y="500"/>
                </a:lnTo>
                <a:lnTo>
                  <a:pt x="1875" y="1001"/>
                </a:lnTo>
                <a:lnTo>
                  <a:pt x="1875" y="750"/>
                </a:lnTo>
                <a:lnTo>
                  <a:pt x="0" y="750"/>
                </a:lnTo>
                <a:lnTo>
                  <a:pt x="0" y="250"/>
                </a:lnTo>
              </a:path>
            </a:pathLst>
          </a:custGeom>
          <a:solidFill>
            <a:srgbClr val="9999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TextShape 13"/>
          <p:cNvSpPr/>
          <p:nvPr/>
        </p:nvSpPr>
        <p:spPr>
          <a:xfrm>
            <a:off x="4752000" y="2704320"/>
            <a:ext cx="5371200" cy="35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Especifica desde donde puede verse el atributo.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TextShape 14"/>
          <p:cNvSpPr/>
          <p:nvPr/>
        </p:nvSpPr>
        <p:spPr>
          <a:xfrm>
            <a:off x="4744800" y="3676680"/>
            <a:ext cx="4615200" cy="35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Especifica que el atributo es estático.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TextShape 15"/>
          <p:cNvSpPr/>
          <p:nvPr/>
        </p:nvSpPr>
        <p:spPr>
          <a:xfrm>
            <a:off x="4745160" y="4721040"/>
            <a:ext cx="4615200" cy="35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Especifica el tipo de dato del atributo.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TextShape 16"/>
          <p:cNvSpPr/>
          <p:nvPr/>
        </p:nvSpPr>
        <p:spPr>
          <a:xfrm>
            <a:off x="4744440" y="5832360"/>
            <a:ext cx="4615200" cy="35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Nombre con el cual lo identificaremos.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 spd="med">
    <p:wipe dir="d"/>
  </p:transition>
  <p:timing>
    <p:tnLst>
      <p:par>
        <p:cTn id="357" dur="indefinite" restart="never" nodeType="tmRoot">
          <p:childTnLst>
            <p:seq>
              <p:cTn id="358" dur="indefinite" nodeType="mainSeq">
                <p:childTnLst>
                  <p:par>
                    <p:cTn id="359" fill="hold">
                      <p:stCondLst>
                        <p:cond delay="indefinite"/>
                      </p:stCondLst>
                      <p:childTnLst>
                        <p:par>
                          <p:cTn id="360" fill="hold">
                            <p:stCondLst>
                              <p:cond delay="0"/>
                            </p:stCondLst>
                            <p:childTnLst>
                              <p:par>
                                <p:cTn id="361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363"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4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366"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7" fill="hold">
                      <p:stCondLst>
                        <p:cond delay="indefinite"/>
                      </p:stCondLst>
                      <p:childTnLst>
                        <p:par>
                          <p:cTn id="368" fill="hold">
                            <p:stCondLst>
                              <p:cond delay="0"/>
                            </p:stCondLst>
                            <p:childTnLst>
                              <p:par>
                                <p:cTn id="369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371"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2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374"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5" fill="hold">
                      <p:stCondLst>
                        <p:cond delay="indefinite"/>
                      </p:stCondLst>
                      <p:childTnLst>
                        <p:par>
                          <p:cTn id="376" fill="hold">
                            <p:stCondLst>
                              <p:cond delay="0"/>
                            </p:stCondLst>
                            <p:childTnLst>
                              <p:par>
                                <p:cTn id="377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379"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0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382"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3" fill="hold">
                      <p:stCondLst>
                        <p:cond delay="indefinite"/>
                      </p:stCondLst>
                      <p:childTnLst>
                        <p:par>
                          <p:cTn id="384" fill="hold">
                            <p:stCondLst>
                              <p:cond delay="0"/>
                            </p:stCondLst>
                            <p:childTnLst>
                              <p:par>
                                <p:cTn id="385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387" dur="5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8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390"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TextShape 3"/>
          <p:cNvSpPr/>
          <p:nvPr/>
        </p:nvSpPr>
        <p:spPr>
          <a:xfrm>
            <a:off x="180360" y="360000"/>
            <a:ext cx="9719640" cy="47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2600" spc="-1" strike="noStrike">
                <a:solidFill>
                  <a:srgbClr val="000000"/>
                </a:solidFill>
                <a:latin typeface="DejaVu Sans Condensed"/>
              </a:rPr>
              <a:t>Definición de Atributos</a:t>
            </a:r>
            <a:endParaRPr b="0" lang="es-A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TextShape 4"/>
          <p:cNvSpPr/>
          <p:nvPr/>
        </p:nvSpPr>
        <p:spPr>
          <a:xfrm>
            <a:off x="196920" y="1127160"/>
            <a:ext cx="2497320" cy="35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Algunos ejemplos...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5" name="" descr=""/>
          <p:cNvPicPr/>
          <p:nvPr/>
        </p:nvPicPr>
        <p:blipFill>
          <a:blip r:embed="rId1"/>
          <a:stretch/>
        </p:blipFill>
        <p:spPr>
          <a:xfrm>
            <a:off x="534600" y="1869480"/>
            <a:ext cx="2339640" cy="692640"/>
          </a:xfrm>
          <a:prstGeom prst="rect">
            <a:avLst/>
          </a:prstGeom>
          <a:ln w="0">
            <a:noFill/>
          </a:ln>
        </p:spPr>
      </p:pic>
      <p:pic>
        <p:nvPicPr>
          <p:cNvPr id="286" name="" descr=""/>
          <p:cNvPicPr/>
          <p:nvPr/>
        </p:nvPicPr>
        <p:blipFill>
          <a:blip r:embed="rId2"/>
          <a:stretch/>
        </p:blipFill>
        <p:spPr>
          <a:xfrm>
            <a:off x="570600" y="2925000"/>
            <a:ext cx="2699640" cy="645120"/>
          </a:xfrm>
          <a:prstGeom prst="rect">
            <a:avLst/>
          </a:prstGeom>
          <a:ln w="0">
            <a:noFill/>
          </a:ln>
        </p:spPr>
      </p:pic>
      <p:pic>
        <p:nvPicPr>
          <p:cNvPr id="287" name="" descr=""/>
          <p:cNvPicPr/>
          <p:nvPr/>
        </p:nvPicPr>
        <p:blipFill>
          <a:blip r:embed="rId3"/>
          <a:stretch/>
        </p:blipFill>
        <p:spPr>
          <a:xfrm>
            <a:off x="540360" y="3642480"/>
            <a:ext cx="3953880" cy="1079640"/>
          </a:xfrm>
          <a:prstGeom prst="rect">
            <a:avLst/>
          </a:prstGeom>
          <a:ln w="0">
            <a:noFill/>
          </a:ln>
        </p:spPr>
      </p:pic>
      <p:pic>
        <p:nvPicPr>
          <p:cNvPr id="288" name="" descr=""/>
          <p:cNvPicPr/>
          <p:nvPr/>
        </p:nvPicPr>
        <p:blipFill>
          <a:blip r:embed="rId4"/>
          <a:stretch/>
        </p:blipFill>
        <p:spPr>
          <a:xfrm>
            <a:off x="678600" y="5082480"/>
            <a:ext cx="5219640" cy="719640"/>
          </a:xfrm>
          <a:prstGeom prst="rect">
            <a:avLst/>
          </a:prstGeom>
          <a:ln w="0">
            <a:noFill/>
          </a:ln>
        </p:spPr>
      </p:pic>
      <p:sp>
        <p:nvSpPr>
          <p:cNvPr id="289" name="CustomShape 5"/>
          <p:cNvSpPr/>
          <p:nvPr/>
        </p:nvSpPr>
        <p:spPr>
          <a:xfrm>
            <a:off x="5070600" y="2922480"/>
            <a:ext cx="899640" cy="359640"/>
          </a:xfrm>
          <a:custGeom>
            <a:avLst/>
            <a:gdLst>
              <a:gd name="textAreaLeft" fmla="*/ 0 w 899640"/>
              <a:gd name="textAreaRight" fmla="*/ 900000 w 899640"/>
              <a:gd name="textAreaTop" fmla="*/ 0 h 359640"/>
              <a:gd name="textAreaBottom" fmla="*/ 360000 h 359640"/>
            </a:gdLst>
            <a:ahLst/>
            <a:rect l="textAreaLeft" t="textAreaTop" r="textAreaRight" b="textAreaBottom"/>
            <a:pathLst>
              <a:path w="2502" h="1002">
                <a:moveTo>
                  <a:pt x="0" y="250"/>
                </a:moveTo>
                <a:lnTo>
                  <a:pt x="1875" y="250"/>
                </a:lnTo>
                <a:lnTo>
                  <a:pt x="1875" y="0"/>
                </a:lnTo>
                <a:lnTo>
                  <a:pt x="2501" y="500"/>
                </a:lnTo>
                <a:lnTo>
                  <a:pt x="1875" y="1001"/>
                </a:lnTo>
                <a:lnTo>
                  <a:pt x="1875" y="750"/>
                </a:lnTo>
                <a:lnTo>
                  <a:pt x="0" y="750"/>
                </a:lnTo>
                <a:lnTo>
                  <a:pt x="0" y="250"/>
                </a:lnTo>
              </a:path>
            </a:pathLst>
          </a:custGeom>
          <a:solidFill>
            <a:srgbClr val="9999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TextShape 6"/>
          <p:cNvSpPr/>
          <p:nvPr/>
        </p:nvSpPr>
        <p:spPr>
          <a:xfrm>
            <a:off x="6395040" y="2922480"/>
            <a:ext cx="2311200" cy="35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Atributos privados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CustomShape 7"/>
          <p:cNvSpPr/>
          <p:nvPr/>
        </p:nvSpPr>
        <p:spPr>
          <a:xfrm>
            <a:off x="5934600" y="5118480"/>
            <a:ext cx="899640" cy="359640"/>
          </a:xfrm>
          <a:custGeom>
            <a:avLst/>
            <a:gdLst>
              <a:gd name="textAreaLeft" fmla="*/ 0 w 899640"/>
              <a:gd name="textAreaRight" fmla="*/ 900000 w 899640"/>
              <a:gd name="textAreaTop" fmla="*/ 0 h 359640"/>
              <a:gd name="textAreaBottom" fmla="*/ 360000 h 359640"/>
            </a:gdLst>
            <a:ahLst/>
            <a:rect l="textAreaLeft" t="textAreaTop" r="textAreaRight" b="textAreaBottom"/>
            <a:pathLst>
              <a:path w="2502" h="1002">
                <a:moveTo>
                  <a:pt x="0" y="250"/>
                </a:moveTo>
                <a:lnTo>
                  <a:pt x="1875" y="250"/>
                </a:lnTo>
                <a:lnTo>
                  <a:pt x="1875" y="0"/>
                </a:lnTo>
                <a:lnTo>
                  <a:pt x="2501" y="500"/>
                </a:lnTo>
                <a:lnTo>
                  <a:pt x="1875" y="1001"/>
                </a:lnTo>
                <a:lnTo>
                  <a:pt x="1875" y="750"/>
                </a:lnTo>
                <a:lnTo>
                  <a:pt x="0" y="750"/>
                </a:lnTo>
                <a:lnTo>
                  <a:pt x="0" y="250"/>
                </a:lnTo>
              </a:path>
            </a:pathLst>
          </a:custGeom>
          <a:solidFill>
            <a:srgbClr val="9999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TextShape 8"/>
          <p:cNvSpPr/>
          <p:nvPr/>
        </p:nvSpPr>
        <p:spPr>
          <a:xfrm>
            <a:off x="6868800" y="5118480"/>
            <a:ext cx="3031200" cy="35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Atributo público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CustomShape 9"/>
          <p:cNvSpPr/>
          <p:nvPr/>
        </p:nvSpPr>
        <p:spPr>
          <a:xfrm rot="1239600">
            <a:off x="5000040" y="2169000"/>
            <a:ext cx="899640" cy="359640"/>
          </a:xfrm>
          <a:custGeom>
            <a:avLst/>
            <a:gdLst>
              <a:gd name="textAreaLeft" fmla="*/ 0 w 899640"/>
              <a:gd name="textAreaRight" fmla="*/ 900000 w 899640"/>
              <a:gd name="textAreaTop" fmla="*/ 0 h 359640"/>
              <a:gd name="textAreaBottom" fmla="*/ 360000 h 359640"/>
            </a:gdLst>
            <a:ahLst/>
            <a:rect l="textAreaLeft" t="textAreaTop" r="textAreaRight" b="textAreaBottom"/>
            <a:pathLst>
              <a:path w="2503" h="1001">
                <a:moveTo>
                  <a:pt x="0" y="250"/>
                </a:moveTo>
                <a:lnTo>
                  <a:pt x="1875" y="250"/>
                </a:lnTo>
                <a:lnTo>
                  <a:pt x="1875" y="0"/>
                </a:lnTo>
                <a:lnTo>
                  <a:pt x="2502" y="498"/>
                </a:lnTo>
                <a:lnTo>
                  <a:pt x="1876" y="1000"/>
                </a:lnTo>
                <a:lnTo>
                  <a:pt x="1876" y="749"/>
                </a:lnTo>
                <a:lnTo>
                  <a:pt x="0" y="751"/>
                </a:lnTo>
                <a:lnTo>
                  <a:pt x="0" y="250"/>
                </a:lnTo>
              </a:path>
            </a:pathLst>
          </a:custGeom>
          <a:solidFill>
            <a:srgbClr val="9999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CustomShape 10"/>
          <p:cNvSpPr/>
          <p:nvPr/>
        </p:nvSpPr>
        <p:spPr>
          <a:xfrm rot="20844600">
            <a:off x="5098320" y="3771720"/>
            <a:ext cx="899640" cy="359640"/>
          </a:xfrm>
          <a:custGeom>
            <a:avLst/>
            <a:gdLst>
              <a:gd name="textAreaLeft" fmla="*/ 0 w 899640"/>
              <a:gd name="textAreaRight" fmla="*/ 900000 w 899640"/>
              <a:gd name="textAreaTop" fmla="*/ 0 h 359640"/>
              <a:gd name="textAreaBottom" fmla="*/ 360000 h 359640"/>
            </a:gdLst>
            <a:ahLst/>
            <a:rect l="textAreaLeft" t="textAreaTop" r="textAreaRight" b="textAreaBottom"/>
            <a:pathLst>
              <a:path w="2502" h="1002">
                <a:moveTo>
                  <a:pt x="0" y="253"/>
                </a:moveTo>
                <a:lnTo>
                  <a:pt x="1874" y="250"/>
                </a:lnTo>
                <a:lnTo>
                  <a:pt x="1874" y="0"/>
                </a:lnTo>
                <a:lnTo>
                  <a:pt x="2501" y="499"/>
                </a:lnTo>
                <a:lnTo>
                  <a:pt x="1876" y="1001"/>
                </a:lnTo>
                <a:lnTo>
                  <a:pt x="1875" y="750"/>
                </a:lnTo>
                <a:lnTo>
                  <a:pt x="1" y="753"/>
                </a:lnTo>
                <a:lnTo>
                  <a:pt x="0" y="253"/>
                </a:lnTo>
              </a:path>
            </a:pathLst>
          </a:custGeom>
          <a:solidFill>
            <a:srgbClr val="9999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 spd="med">
    <p:wipe dir="d"/>
  </p:transition>
  <p:timing>
    <p:tnLst>
      <p:par>
        <p:cTn id="391" dur="indefinite" restart="never" nodeType="tmRoot">
          <p:childTnLst>
            <p:seq>
              <p:cTn id="392" dur="indefinite" nodeType="mainSeq">
                <p:childTnLst>
                  <p:par>
                    <p:cTn id="393" fill="hold">
                      <p:stCondLst>
                        <p:cond delay="indefinite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95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397" dur="5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8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400"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1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403" dur="5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4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406" dur="5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7" fill="hold">
                      <p:stCondLst>
                        <p:cond delay="indefinite"/>
                      </p:stCondLst>
                      <p:childTnLst>
                        <p:par>
                          <p:cTn id="408" fill="hold">
                            <p:stCondLst>
                              <p:cond delay="0"/>
                            </p:stCondLst>
                            <p:childTnLst>
                              <p:par>
                                <p:cTn id="409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411" dur="5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2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414" dur="5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TextShape 3"/>
          <p:cNvSpPr/>
          <p:nvPr/>
        </p:nvSpPr>
        <p:spPr>
          <a:xfrm>
            <a:off x="180000" y="857880"/>
            <a:ext cx="9719640" cy="47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2600" spc="-1" strike="noStrike">
                <a:solidFill>
                  <a:srgbClr val="000000"/>
                </a:solidFill>
                <a:latin typeface="DejaVu Sans Condensed"/>
              </a:rPr>
              <a:t>Modificadores de Acceso</a:t>
            </a:r>
            <a:endParaRPr b="0" lang="es-A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TextShape 4"/>
          <p:cNvSpPr/>
          <p:nvPr/>
        </p:nvSpPr>
        <p:spPr>
          <a:xfrm>
            <a:off x="0" y="1620000"/>
            <a:ext cx="10079640" cy="88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 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Controlan el acceso a los atributos y métodos.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 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Para utilizar la encapsulación se recomienda utilizar variables privadas y métodos públicos.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CustomShape 5"/>
          <p:cNvSpPr/>
          <p:nvPr/>
        </p:nvSpPr>
        <p:spPr>
          <a:xfrm>
            <a:off x="606600" y="3060360"/>
            <a:ext cx="3059640" cy="3419640"/>
          </a:xfrm>
          <a:prstGeom prst="rect">
            <a:avLst/>
          </a:prstGeom>
          <a:solidFill>
            <a:srgbClr val="99cc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CustomShape 6"/>
          <p:cNvSpPr/>
          <p:nvPr/>
        </p:nvSpPr>
        <p:spPr>
          <a:xfrm>
            <a:off x="6474600" y="3060360"/>
            <a:ext cx="1979640" cy="3419640"/>
          </a:xfrm>
          <a:prstGeom prst="rect">
            <a:avLst/>
          </a:prstGeom>
          <a:solidFill>
            <a:srgbClr val="99cc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TextShape 7"/>
          <p:cNvSpPr/>
          <p:nvPr/>
        </p:nvSpPr>
        <p:spPr>
          <a:xfrm>
            <a:off x="1569240" y="2704320"/>
            <a:ext cx="1377000" cy="35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s-ES" sz="1800" spc="-1" strike="noStrike">
                <a:solidFill>
                  <a:srgbClr val="000000"/>
                </a:solidFill>
                <a:latin typeface="DejaVu Sans Condensed"/>
              </a:rPr>
              <a:t>Paquete 1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TextShape 8"/>
          <p:cNvSpPr/>
          <p:nvPr/>
        </p:nvSpPr>
        <p:spPr>
          <a:xfrm>
            <a:off x="6789240" y="2704680"/>
            <a:ext cx="1377000" cy="35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s-ES" sz="1800" spc="-1" strike="noStrike">
                <a:solidFill>
                  <a:srgbClr val="000000"/>
                </a:solidFill>
                <a:latin typeface="DejaVu Sans Condensed"/>
              </a:rPr>
              <a:t>Paquete 2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CustomShape 9"/>
          <p:cNvSpPr/>
          <p:nvPr/>
        </p:nvSpPr>
        <p:spPr>
          <a:xfrm>
            <a:off x="642600" y="3132360"/>
            <a:ext cx="1259640" cy="719640"/>
          </a:xfrm>
          <a:prstGeom prst="rect">
            <a:avLst/>
          </a:prstGeom>
          <a:solidFill>
            <a:srgbClr val="99cc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s-ES" sz="18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public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CustomShape 10"/>
          <p:cNvSpPr/>
          <p:nvPr/>
        </p:nvSpPr>
        <p:spPr>
          <a:xfrm>
            <a:off x="2082600" y="3924360"/>
            <a:ext cx="1259640" cy="719640"/>
          </a:xfrm>
          <a:prstGeom prst="rect">
            <a:avLst/>
          </a:prstGeom>
          <a:solidFill>
            <a:srgbClr val="99cc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s-ES" sz="18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public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CustomShape 11"/>
          <p:cNvSpPr/>
          <p:nvPr/>
        </p:nvSpPr>
        <p:spPr>
          <a:xfrm>
            <a:off x="642600" y="5688360"/>
            <a:ext cx="1259640" cy="719640"/>
          </a:xfrm>
          <a:prstGeom prst="rect">
            <a:avLst/>
          </a:prstGeom>
          <a:solidFill>
            <a:srgbClr val="99cc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s-ES" sz="18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private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CustomShape 12"/>
          <p:cNvSpPr/>
          <p:nvPr/>
        </p:nvSpPr>
        <p:spPr>
          <a:xfrm>
            <a:off x="2082600" y="5004360"/>
            <a:ext cx="1259640" cy="719640"/>
          </a:xfrm>
          <a:prstGeom prst="rect">
            <a:avLst/>
          </a:prstGeom>
          <a:solidFill>
            <a:srgbClr val="99cc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s-ES" sz="18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protected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05" name="Line 13"/>
          <p:cNvCxnSpPr>
            <a:stCxn id="304" idx="0"/>
            <a:endCxn id="302" idx="2"/>
          </p:cNvCxnSpPr>
          <p:nvPr/>
        </p:nvCxnSpPr>
        <p:spPr>
          <a:xfrm flipV="1">
            <a:off x="2712240" y="4644000"/>
            <a:ext cx="360" cy="360720"/>
          </a:xfrm>
          <a:prstGeom prst="straightConnector1">
            <a:avLst/>
          </a:prstGeom>
          <a:ln w="0">
            <a:solidFill>
              <a:srgbClr val="000000"/>
            </a:solidFill>
            <a:tailEnd len="med" type="triangle" w="med"/>
          </a:ln>
        </p:spPr>
      </p:cxnSp>
      <p:sp>
        <p:nvSpPr>
          <p:cNvPr id="306" name="CustomShape 14"/>
          <p:cNvSpPr/>
          <p:nvPr/>
        </p:nvSpPr>
        <p:spPr>
          <a:xfrm>
            <a:off x="6834600" y="3240360"/>
            <a:ext cx="1259640" cy="719640"/>
          </a:xfrm>
          <a:prstGeom prst="rect">
            <a:avLst/>
          </a:prstGeom>
          <a:solidFill>
            <a:srgbClr val="99cc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s-ES" sz="18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Clase 1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CustomShape 15"/>
          <p:cNvSpPr/>
          <p:nvPr/>
        </p:nvSpPr>
        <p:spPr>
          <a:xfrm>
            <a:off x="6834600" y="4428360"/>
            <a:ext cx="1259640" cy="719640"/>
          </a:xfrm>
          <a:prstGeom prst="rect">
            <a:avLst/>
          </a:prstGeom>
          <a:solidFill>
            <a:srgbClr val="99cc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s-ES" sz="18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Clase 2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CustomShape 16"/>
          <p:cNvSpPr/>
          <p:nvPr/>
        </p:nvSpPr>
        <p:spPr>
          <a:xfrm>
            <a:off x="6834600" y="5616360"/>
            <a:ext cx="1259640" cy="719640"/>
          </a:xfrm>
          <a:prstGeom prst="rect">
            <a:avLst/>
          </a:prstGeom>
          <a:solidFill>
            <a:srgbClr val="99cc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s-ES" sz="18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Clase 3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CustomShape 17"/>
          <p:cNvSpPr/>
          <p:nvPr/>
        </p:nvSpPr>
        <p:spPr>
          <a:xfrm>
            <a:off x="2334600" y="3312360"/>
            <a:ext cx="4319640" cy="359640"/>
          </a:xfrm>
          <a:custGeom>
            <a:avLst/>
            <a:gdLst>
              <a:gd name="textAreaLeft" fmla="*/ 0 w 4319640"/>
              <a:gd name="textAreaRight" fmla="*/ 4320000 w 4319640"/>
              <a:gd name="textAreaTop" fmla="*/ 0 h 359640"/>
              <a:gd name="textAreaBottom" fmla="*/ 360000 h 359640"/>
            </a:gdLst>
            <a:ahLst/>
            <a:rect l="textAreaLeft" t="textAreaTop" r="textAreaRight" b="textAreaBottom"/>
            <a:pathLst>
              <a:path w="12002" h="1002">
                <a:moveTo>
                  <a:pt x="12001" y="296"/>
                </a:moveTo>
                <a:lnTo>
                  <a:pt x="1131" y="296"/>
                </a:lnTo>
                <a:lnTo>
                  <a:pt x="1131" y="0"/>
                </a:lnTo>
                <a:lnTo>
                  <a:pt x="0" y="500"/>
                </a:lnTo>
                <a:lnTo>
                  <a:pt x="1131" y="1001"/>
                </a:lnTo>
                <a:lnTo>
                  <a:pt x="1131" y="704"/>
                </a:lnTo>
                <a:lnTo>
                  <a:pt x="12001" y="704"/>
                </a:lnTo>
                <a:lnTo>
                  <a:pt x="12001" y="296"/>
                </a:lnTo>
              </a:path>
            </a:pathLst>
          </a:custGeom>
          <a:solidFill>
            <a:srgbClr val="9999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CustomShape 18"/>
          <p:cNvSpPr/>
          <p:nvPr/>
        </p:nvSpPr>
        <p:spPr>
          <a:xfrm rot="567600">
            <a:off x="3421440" y="4259520"/>
            <a:ext cx="3239640" cy="359640"/>
          </a:xfrm>
          <a:custGeom>
            <a:avLst/>
            <a:gdLst>
              <a:gd name="textAreaLeft" fmla="*/ 0 w 3239640"/>
              <a:gd name="textAreaRight" fmla="*/ 3240000 w 3239640"/>
              <a:gd name="textAreaTop" fmla="*/ 0 h 359640"/>
              <a:gd name="textAreaBottom" fmla="*/ 360000 h 359640"/>
            </a:gdLst>
            <a:ahLst/>
            <a:rect l="textAreaLeft" t="textAreaTop" r="textAreaRight" b="textAreaBottom"/>
            <a:pathLst>
              <a:path w="9002" h="1002">
                <a:moveTo>
                  <a:pt x="9001" y="291"/>
                </a:moveTo>
                <a:lnTo>
                  <a:pt x="849" y="296"/>
                </a:lnTo>
                <a:lnTo>
                  <a:pt x="849" y="0"/>
                </a:lnTo>
                <a:lnTo>
                  <a:pt x="0" y="500"/>
                </a:lnTo>
                <a:lnTo>
                  <a:pt x="849" y="1001"/>
                </a:lnTo>
                <a:lnTo>
                  <a:pt x="849" y="704"/>
                </a:lnTo>
                <a:lnTo>
                  <a:pt x="9001" y="698"/>
                </a:lnTo>
                <a:lnTo>
                  <a:pt x="9001" y="291"/>
                </a:lnTo>
              </a:path>
            </a:pathLst>
          </a:custGeom>
          <a:solidFill>
            <a:srgbClr val="9999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CustomShape 19"/>
          <p:cNvSpPr/>
          <p:nvPr/>
        </p:nvSpPr>
        <p:spPr>
          <a:xfrm rot="21256800">
            <a:off x="3424320" y="5020920"/>
            <a:ext cx="3239640" cy="359640"/>
          </a:xfrm>
          <a:custGeom>
            <a:avLst/>
            <a:gdLst>
              <a:gd name="textAreaLeft" fmla="*/ 0 w 3239640"/>
              <a:gd name="textAreaRight" fmla="*/ 3240000 w 3239640"/>
              <a:gd name="textAreaTop" fmla="*/ 0 h 359640"/>
              <a:gd name="textAreaBottom" fmla="*/ 360000 h 359640"/>
            </a:gdLst>
            <a:ahLst/>
            <a:rect l="textAreaLeft" t="textAreaTop" r="textAreaRight" b="textAreaBottom"/>
            <a:pathLst>
              <a:path w="9002" h="1002">
                <a:moveTo>
                  <a:pt x="9001" y="293"/>
                </a:moveTo>
                <a:lnTo>
                  <a:pt x="849" y="296"/>
                </a:lnTo>
                <a:lnTo>
                  <a:pt x="849" y="0"/>
                </a:lnTo>
                <a:lnTo>
                  <a:pt x="0" y="501"/>
                </a:lnTo>
                <a:lnTo>
                  <a:pt x="849" y="1001"/>
                </a:lnTo>
                <a:lnTo>
                  <a:pt x="850" y="704"/>
                </a:lnTo>
                <a:lnTo>
                  <a:pt x="9001" y="701"/>
                </a:lnTo>
                <a:lnTo>
                  <a:pt x="9001" y="293"/>
                </a:lnTo>
              </a:path>
            </a:pathLst>
          </a:custGeom>
          <a:solidFill>
            <a:srgbClr val="ff0000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2" name="CustomShape 20"/>
          <p:cNvSpPr/>
          <p:nvPr/>
        </p:nvSpPr>
        <p:spPr>
          <a:xfrm>
            <a:off x="2334600" y="5832360"/>
            <a:ext cx="4319640" cy="359640"/>
          </a:xfrm>
          <a:custGeom>
            <a:avLst/>
            <a:gdLst>
              <a:gd name="textAreaLeft" fmla="*/ 0 w 4319640"/>
              <a:gd name="textAreaRight" fmla="*/ 4320000 w 4319640"/>
              <a:gd name="textAreaTop" fmla="*/ 0 h 359640"/>
              <a:gd name="textAreaBottom" fmla="*/ 360000 h 359640"/>
            </a:gdLst>
            <a:ahLst/>
            <a:rect l="textAreaLeft" t="textAreaTop" r="textAreaRight" b="textAreaBottom"/>
            <a:pathLst>
              <a:path w="12002" h="1002">
                <a:moveTo>
                  <a:pt x="12001" y="296"/>
                </a:moveTo>
                <a:lnTo>
                  <a:pt x="1131" y="296"/>
                </a:lnTo>
                <a:lnTo>
                  <a:pt x="1131" y="0"/>
                </a:lnTo>
                <a:lnTo>
                  <a:pt x="0" y="500"/>
                </a:lnTo>
                <a:lnTo>
                  <a:pt x="1131" y="1001"/>
                </a:lnTo>
                <a:lnTo>
                  <a:pt x="1131" y="704"/>
                </a:lnTo>
                <a:lnTo>
                  <a:pt x="12001" y="704"/>
                </a:lnTo>
                <a:lnTo>
                  <a:pt x="12001" y="296"/>
                </a:lnTo>
              </a:path>
            </a:pathLst>
          </a:custGeom>
          <a:solidFill>
            <a:srgbClr val="ff0000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3" name="CustomShape 21"/>
          <p:cNvSpPr/>
          <p:nvPr/>
        </p:nvSpPr>
        <p:spPr>
          <a:xfrm rot="12369000">
            <a:off x="788040" y="4023360"/>
            <a:ext cx="1185480" cy="359640"/>
          </a:xfrm>
          <a:custGeom>
            <a:avLst/>
            <a:gdLst>
              <a:gd name="textAreaLeft" fmla="*/ 0 w 1185480"/>
              <a:gd name="textAreaRight" fmla="*/ 1185840 w 1185480"/>
              <a:gd name="textAreaTop" fmla="*/ 0 h 359640"/>
              <a:gd name="textAreaBottom" fmla="*/ 360000 h 359640"/>
            </a:gdLst>
            <a:ahLst/>
            <a:rect l="textAreaLeft" t="textAreaTop" r="textAreaRight" b="textAreaBottom"/>
            <a:pathLst>
              <a:path w="3295" h="1003">
                <a:moveTo>
                  <a:pt x="3294" y="262"/>
                </a:moveTo>
                <a:lnTo>
                  <a:pt x="698" y="264"/>
                </a:lnTo>
                <a:lnTo>
                  <a:pt x="698" y="0"/>
                </a:lnTo>
                <a:lnTo>
                  <a:pt x="0" y="501"/>
                </a:lnTo>
                <a:lnTo>
                  <a:pt x="699" y="1002"/>
                </a:lnTo>
                <a:lnTo>
                  <a:pt x="699" y="736"/>
                </a:lnTo>
                <a:lnTo>
                  <a:pt x="3294" y="734"/>
                </a:lnTo>
                <a:lnTo>
                  <a:pt x="3294" y="262"/>
                </a:lnTo>
              </a:path>
            </a:pathLst>
          </a:custGeom>
          <a:solidFill>
            <a:srgbClr val="9999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 spd="med">
    <p:wipe dir="d"/>
  </p:transition>
  <p:timing>
    <p:tnLst>
      <p:par>
        <p:cTn id="415" dur="indefinite" restart="never" nodeType="tmRoot">
          <p:childTnLst>
            <p:seq>
              <p:cTn id="416" dur="indefinite" nodeType="mainSeq">
                <p:childTnLst>
                  <p:par>
                    <p:cTn id="417" fill="hold">
                      <p:stCondLst>
                        <p:cond delay="indefinite"/>
                      </p:stCondLst>
                      <p:childTnLst>
                        <p:par>
                          <p:cTn id="418" fill="hold">
                            <p:stCondLst>
                              <p:cond delay="0"/>
                            </p:stCondLst>
                            <p:childTnLst>
                              <p:par>
                                <p:cTn id="419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421"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2" fill="hold">
                      <p:stCondLst>
                        <p:cond delay="indefinite"/>
                      </p:stCondLst>
                      <p:childTnLst>
                        <p:par>
                          <p:cTn id="423" fill="hold">
                            <p:stCondLst>
                              <p:cond delay="0"/>
                            </p:stCondLst>
                            <p:childTnLst>
                              <p:par>
                                <p:cTn id="424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426" dur="5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7" fill="hold">
                      <p:stCondLst>
                        <p:cond delay="indefinite"/>
                      </p:stCondLst>
                      <p:childTnLst>
                        <p:par>
                          <p:cTn id="428" fill="hold">
                            <p:stCondLst>
                              <p:cond delay="0"/>
                            </p:stCondLst>
                            <p:childTnLst>
                              <p:par>
                                <p:cTn id="429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431" dur="5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2" fill="hold">
                      <p:stCondLst>
                        <p:cond delay="indefinite"/>
                      </p:stCondLst>
                      <p:childTnLst>
                        <p:par>
                          <p:cTn id="433" fill="hold">
                            <p:stCondLst>
                              <p:cond delay="0"/>
                            </p:stCondLst>
                            <p:childTnLst>
                              <p:par>
                                <p:cTn id="434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436" dur="5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7" fill="hold">
                      <p:stCondLst>
                        <p:cond delay="indefinite"/>
                      </p:stCondLst>
                      <p:childTnLst>
                        <p:par>
                          <p:cTn id="438" fill="hold">
                            <p:stCondLst>
                              <p:cond delay="0"/>
                            </p:stCondLst>
                            <p:childTnLst>
                              <p:par>
                                <p:cTn id="439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441" dur="5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CustomShape 2"/>
          <p:cNvSpPr/>
          <p:nvPr/>
        </p:nvSpPr>
        <p:spPr>
          <a:xfrm>
            <a:off x="8640" y="1045080"/>
            <a:ext cx="10080360" cy="414000"/>
          </a:xfrm>
          <a:custGeom>
            <a:avLst/>
            <a:gdLst>
              <a:gd name="textAreaLeft" fmla="*/ 0 w 10080360"/>
              <a:gd name="textAreaRight" fmla="*/ 10080720 w 10080360"/>
              <a:gd name="textAreaTop" fmla="*/ 0 h 414000"/>
              <a:gd name="textAreaBottom" fmla="*/ 414360 h 41400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>
              <a:lnSpc>
                <a:spcPct val="98000"/>
              </a:lnSpc>
            </a:pPr>
            <a:r>
              <a:rPr b="1" lang="en-GB" sz="2200" spc="-1" strike="noStrike">
                <a:solidFill>
                  <a:srgbClr val="ffffff"/>
                </a:solidFill>
                <a:latin typeface="DejaVu Sans"/>
                <a:ea typeface="DejaVu Sans"/>
              </a:rPr>
              <a:t>Clase 3: Codificación en el Lenguaje</a:t>
            </a:r>
            <a:endParaRPr b="0" lang="es-A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TextShape 3"/>
          <p:cNvSpPr/>
          <p:nvPr/>
        </p:nvSpPr>
        <p:spPr>
          <a:xfrm>
            <a:off x="180000" y="425880"/>
            <a:ext cx="9719640" cy="47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2600" spc="-1" strike="noStrike">
                <a:solidFill>
                  <a:srgbClr val="000000"/>
                </a:solidFill>
                <a:latin typeface="DejaVu Sans Condensed"/>
              </a:rPr>
              <a:t>Encapsulamiento</a:t>
            </a:r>
            <a:endParaRPr b="0" lang="es-A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TextShape 4"/>
          <p:cNvSpPr/>
          <p:nvPr/>
        </p:nvSpPr>
        <p:spPr>
          <a:xfrm>
            <a:off x="180360" y="1260000"/>
            <a:ext cx="10079640" cy="11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 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Es una propiedad que asegura que la información de un módulo este oculta al exterior.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 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Ocultando el estado de un objeto, solamente podremos modificar sus atributos mediante sus     métodos.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CustomShape 5"/>
          <p:cNvSpPr/>
          <p:nvPr/>
        </p:nvSpPr>
        <p:spPr>
          <a:xfrm>
            <a:off x="1253880" y="2490480"/>
            <a:ext cx="4679640" cy="4139640"/>
          </a:xfrm>
          <a:prstGeom prst="ellipse">
            <a:avLst/>
          </a:prstGeom>
          <a:solidFill>
            <a:srgbClr val="99cc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Line 6"/>
          <p:cNvSpPr/>
          <p:nvPr/>
        </p:nvSpPr>
        <p:spPr>
          <a:xfrm>
            <a:off x="3593880" y="2490480"/>
            <a:ext cx="360" cy="414000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Line 7"/>
          <p:cNvSpPr/>
          <p:nvPr/>
        </p:nvSpPr>
        <p:spPr>
          <a:xfrm>
            <a:off x="1253880" y="4542480"/>
            <a:ext cx="468000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Line 8"/>
          <p:cNvSpPr/>
          <p:nvPr/>
        </p:nvSpPr>
        <p:spPr>
          <a:xfrm>
            <a:off x="1865880" y="3138480"/>
            <a:ext cx="3420000" cy="288000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Line 9"/>
          <p:cNvSpPr/>
          <p:nvPr/>
        </p:nvSpPr>
        <p:spPr>
          <a:xfrm flipV="1">
            <a:off x="1829880" y="3030480"/>
            <a:ext cx="3420000" cy="291600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CustomShape 10"/>
          <p:cNvSpPr/>
          <p:nvPr/>
        </p:nvSpPr>
        <p:spPr>
          <a:xfrm>
            <a:off x="2153880" y="3390480"/>
            <a:ext cx="2879640" cy="2339640"/>
          </a:xfrm>
          <a:prstGeom prst="ellipse">
            <a:avLst/>
          </a:prstGeom>
          <a:solidFill>
            <a:srgbClr val="99cc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s-ES" sz="18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Atributo1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s-ES" sz="18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Atributo2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s-ES" sz="18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…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s-ES" sz="18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Atributo N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TextShape 11"/>
          <p:cNvSpPr/>
          <p:nvPr/>
        </p:nvSpPr>
        <p:spPr>
          <a:xfrm>
            <a:off x="3673080" y="2890440"/>
            <a:ext cx="1288440" cy="35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s-ES" sz="1800" spc="-1" strike="noStrike">
                <a:solidFill>
                  <a:srgbClr val="000000"/>
                </a:solidFill>
                <a:latin typeface="DejaVu Sans Condensed"/>
              </a:rPr>
              <a:t>Método1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TextShape 12"/>
          <p:cNvSpPr/>
          <p:nvPr/>
        </p:nvSpPr>
        <p:spPr>
          <a:xfrm>
            <a:off x="2197080" y="2890800"/>
            <a:ext cx="1288440" cy="35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s-ES" sz="1800" spc="-1" strike="noStrike">
                <a:solidFill>
                  <a:srgbClr val="000000"/>
                </a:solidFill>
                <a:latin typeface="DejaVu Sans Condensed"/>
              </a:rPr>
              <a:t>Método2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TextShape 13"/>
          <p:cNvSpPr/>
          <p:nvPr/>
        </p:nvSpPr>
        <p:spPr>
          <a:xfrm rot="18436800">
            <a:off x="1181520" y="3786120"/>
            <a:ext cx="1288440" cy="35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s-ES" sz="1800" spc="-1" strike="noStrike">
                <a:solidFill>
                  <a:srgbClr val="000000"/>
                </a:solidFill>
                <a:latin typeface="DejaVu Sans Condensed"/>
              </a:rPr>
              <a:t>Método3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TextShape 14"/>
          <p:cNvSpPr/>
          <p:nvPr/>
        </p:nvSpPr>
        <p:spPr>
          <a:xfrm>
            <a:off x="2197080" y="5879160"/>
            <a:ext cx="1288440" cy="35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s-ES" sz="1800" spc="-1" strike="noStrike">
                <a:solidFill>
                  <a:srgbClr val="000000"/>
                </a:solidFill>
                <a:latin typeface="DejaVu Sans Condensed"/>
              </a:rPr>
              <a:t>Método5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TextShape 15"/>
          <p:cNvSpPr/>
          <p:nvPr/>
        </p:nvSpPr>
        <p:spPr>
          <a:xfrm>
            <a:off x="3673080" y="5879520"/>
            <a:ext cx="1288440" cy="35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s-ES" sz="1800" spc="-1" strike="noStrike">
                <a:solidFill>
                  <a:srgbClr val="000000"/>
                </a:solidFill>
                <a:latin typeface="DejaVu Sans Condensed"/>
              </a:rPr>
              <a:t>Método6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TextShape 16"/>
          <p:cNvSpPr/>
          <p:nvPr/>
        </p:nvSpPr>
        <p:spPr>
          <a:xfrm rot="14058600">
            <a:off x="1146240" y="5010480"/>
            <a:ext cx="1288440" cy="35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s-ES" sz="1800" spc="-1" strike="noStrike">
                <a:solidFill>
                  <a:srgbClr val="000000"/>
                </a:solidFill>
                <a:latin typeface="DejaVu Sans Condensed"/>
              </a:rPr>
              <a:t>Método4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TextShape 17"/>
          <p:cNvSpPr/>
          <p:nvPr/>
        </p:nvSpPr>
        <p:spPr>
          <a:xfrm rot="18436800">
            <a:off x="4709880" y="4974120"/>
            <a:ext cx="1288440" cy="35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s-ES" sz="1800" spc="-1" strike="noStrike">
                <a:solidFill>
                  <a:srgbClr val="000000"/>
                </a:solidFill>
                <a:latin typeface="DejaVu Sans Condensed"/>
              </a:rPr>
              <a:t>Método7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TextShape 18"/>
          <p:cNvSpPr/>
          <p:nvPr/>
        </p:nvSpPr>
        <p:spPr>
          <a:xfrm rot="14058600">
            <a:off x="4638240" y="3750840"/>
            <a:ext cx="1288440" cy="35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s-ES" sz="1800" spc="-1" strike="noStrike">
                <a:solidFill>
                  <a:srgbClr val="000000"/>
                </a:solidFill>
                <a:latin typeface="DejaVu Sans Condensed"/>
              </a:rPr>
              <a:t>Método8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CustomShape 19"/>
          <p:cNvSpPr/>
          <p:nvPr/>
        </p:nvSpPr>
        <p:spPr>
          <a:xfrm rot="10787400">
            <a:off x="6437520" y="4143960"/>
            <a:ext cx="899640" cy="359640"/>
          </a:xfrm>
          <a:custGeom>
            <a:avLst/>
            <a:gdLst>
              <a:gd name="textAreaLeft" fmla="*/ 0 w 899640"/>
              <a:gd name="textAreaRight" fmla="*/ 900000 w 899640"/>
              <a:gd name="textAreaTop" fmla="*/ 0 h 359640"/>
              <a:gd name="textAreaBottom" fmla="*/ 360000 h 359640"/>
            </a:gdLst>
            <a:ahLst/>
            <a:rect l="textAreaLeft" t="textAreaTop" r="textAreaRight" b="textAreaBottom"/>
            <a:pathLst>
              <a:path w="2502" h="1002">
                <a:moveTo>
                  <a:pt x="0" y="251"/>
                </a:moveTo>
                <a:lnTo>
                  <a:pt x="1875" y="250"/>
                </a:lnTo>
                <a:lnTo>
                  <a:pt x="1875" y="0"/>
                </a:lnTo>
                <a:lnTo>
                  <a:pt x="2501" y="500"/>
                </a:lnTo>
                <a:lnTo>
                  <a:pt x="1876" y="1001"/>
                </a:lnTo>
                <a:lnTo>
                  <a:pt x="1875" y="750"/>
                </a:lnTo>
                <a:lnTo>
                  <a:pt x="0" y="751"/>
                </a:lnTo>
                <a:lnTo>
                  <a:pt x="0" y="251"/>
                </a:lnTo>
              </a:path>
            </a:pathLst>
          </a:custGeom>
          <a:solidFill>
            <a:srgbClr val="9999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CustomShape 20"/>
          <p:cNvSpPr/>
          <p:nvPr/>
        </p:nvSpPr>
        <p:spPr>
          <a:xfrm rot="10787400">
            <a:off x="6077520" y="3640320"/>
            <a:ext cx="899640" cy="359640"/>
          </a:xfrm>
          <a:custGeom>
            <a:avLst/>
            <a:gdLst>
              <a:gd name="textAreaLeft" fmla="*/ 0 w 899640"/>
              <a:gd name="textAreaRight" fmla="*/ 900000 w 899640"/>
              <a:gd name="textAreaTop" fmla="*/ 0 h 359640"/>
              <a:gd name="textAreaBottom" fmla="*/ 360000 h 359640"/>
            </a:gdLst>
            <a:ahLst/>
            <a:rect l="textAreaLeft" t="textAreaTop" r="textAreaRight" b="textAreaBottom"/>
            <a:pathLst>
              <a:path w="2502" h="1002">
                <a:moveTo>
                  <a:pt x="0" y="250"/>
                </a:moveTo>
                <a:lnTo>
                  <a:pt x="1875" y="250"/>
                </a:lnTo>
                <a:lnTo>
                  <a:pt x="1875" y="0"/>
                </a:lnTo>
                <a:lnTo>
                  <a:pt x="2501" y="499"/>
                </a:lnTo>
                <a:lnTo>
                  <a:pt x="1876" y="1001"/>
                </a:lnTo>
                <a:lnTo>
                  <a:pt x="1876" y="750"/>
                </a:lnTo>
                <a:lnTo>
                  <a:pt x="1" y="750"/>
                </a:lnTo>
                <a:lnTo>
                  <a:pt x="0" y="250"/>
                </a:lnTo>
              </a:path>
            </a:pathLst>
          </a:custGeom>
          <a:solidFill>
            <a:srgbClr val="9999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CustomShape 21"/>
          <p:cNvSpPr/>
          <p:nvPr/>
        </p:nvSpPr>
        <p:spPr>
          <a:xfrm rot="10787400">
            <a:off x="6833520" y="4720680"/>
            <a:ext cx="899640" cy="359640"/>
          </a:xfrm>
          <a:custGeom>
            <a:avLst/>
            <a:gdLst>
              <a:gd name="textAreaLeft" fmla="*/ 0 w 899640"/>
              <a:gd name="textAreaRight" fmla="*/ 900000 w 899640"/>
              <a:gd name="textAreaTop" fmla="*/ 0 h 359640"/>
              <a:gd name="textAreaBottom" fmla="*/ 360000 h 359640"/>
            </a:gdLst>
            <a:ahLst/>
            <a:rect l="textAreaLeft" t="textAreaTop" r="textAreaRight" b="textAreaBottom"/>
            <a:pathLst>
              <a:path w="2502" h="1002">
                <a:moveTo>
                  <a:pt x="0" y="250"/>
                </a:moveTo>
                <a:lnTo>
                  <a:pt x="1875" y="250"/>
                </a:lnTo>
                <a:lnTo>
                  <a:pt x="1875" y="0"/>
                </a:lnTo>
                <a:lnTo>
                  <a:pt x="2501" y="499"/>
                </a:lnTo>
                <a:lnTo>
                  <a:pt x="1875" y="1001"/>
                </a:lnTo>
                <a:lnTo>
                  <a:pt x="1875" y="750"/>
                </a:lnTo>
                <a:lnTo>
                  <a:pt x="0" y="750"/>
                </a:lnTo>
                <a:lnTo>
                  <a:pt x="0" y="250"/>
                </a:lnTo>
              </a:path>
            </a:pathLst>
          </a:custGeom>
          <a:solidFill>
            <a:srgbClr val="9999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TextShape 22"/>
          <p:cNvSpPr/>
          <p:nvPr/>
        </p:nvSpPr>
        <p:spPr>
          <a:xfrm>
            <a:off x="7733880" y="4074480"/>
            <a:ext cx="1799640" cy="46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uso correcto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 spd="med">
    <p:wipe dir="d"/>
  </p:transition>
  <p:timing>
    <p:tnLst>
      <p:par>
        <p:cTn id="442" dur="indefinite" restart="never" nodeType="tmRoot">
          <p:childTnLst>
            <p:seq>
              <p:cTn id="443" dur="indefinite" nodeType="mainSeq">
                <p:childTnLst>
                  <p:par>
                    <p:cTn id="444" fill="hold">
                      <p:stCondLst>
                        <p:cond delay="indefinite"/>
                      </p:stCondLst>
                      <p:childTnLst>
                        <p:par>
                          <p:cTn id="445" fill="hold">
                            <p:stCondLst>
                              <p:cond delay="0"/>
                            </p:stCondLst>
                            <p:childTnLst>
                              <p:par>
                                <p:cTn id="446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448" dur="5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9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451"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2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454" dur="5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5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457" dur="5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CustomShape 2"/>
          <p:cNvSpPr/>
          <p:nvPr/>
        </p:nvSpPr>
        <p:spPr>
          <a:xfrm>
            <a:off x="8280" y="1045080"/>
            <a:ext cx="10080360" cy="414000"/>
          </a:xfrm>
          <a:custGeom>
            <a:avLst/>
            <a:gdLst>
              <a:gd name="textAreaLeft" fmla="*/ 0 w 10080360"/>
              <a:gd name="textAreaRight" fmla="*/ 10080720 w 10080360"/>
              <a:gd name="textAreaTop" fmla="*/ 0 h 414000"/>
              <a:gd name="textAreaBottom" fmla="*/ 414360 h 41400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>
              <a:lnSpc>
                <a:spcPct val="98000"/>
              </a:lnSpc>
            </a:pPr>
            <a:r>
              <a:rPr b="1" lang="en-GB" sz="2200" spc="-1" strike="noStrike">
                <a:solidFill>
                  <a:srgbClr val="ffffff"/>
                </a:solidFill>
                <a:latin typeface="DejaVu Sans"/>
                <a:ea typeface="DejaVu Sans"/>
              </a:rPr>
              <a:t>Clase 3: Codificación en el Lenguaje</a:t>
            </a:r>
            <a:endParaRPr b="0" lang="es-A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TextShape 3"/>
          <p:cNvSpPr/>
          <p:nvPr/>
        </p:nvSpPr>
        <p:spPr>
          <a:xfrm>
            <a:off x="225720" y="360000"/>
            <a:ext cx="9719640" cy="47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2600" spc="-1" strike="noStrike">
                <a:solidFill>
                  <a:srgbClr val="000000"/>
                </a:solidFill>
                <a:latin typeface="DejaVu Sans Condensed"/>
              </a:rPr>
              <a:t>Modificadores de Acceso</a:t>
            </a:r>
            <a:endParaRPr b="0" lang="es-AR" sz="26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337" name="Table 4"/>
          <p:cNvGraphicFramePr/>
          <p:nvPr/>
        </p:nvGraphicFramePr>
        <p:xfrm>
          <a:off x="180000" y="2200680"/>
          <a:ext cx="9732240" cy="4249800"/>
        </p:xfrm>
        <a:graphic>
          <a:graphicData uri="http://schemas.openxmlformats.org/drawingml/2006/table">
            <a:tbl>
              <a:tblPr/>
              <a:tblGrid>
                <a:gridCol w="2478240"/>
                <a:gridCol w="2010960"/>
                <a:gridCol w="1872360"/>
                <a:gridCol w="1685520"/>
                <a:gridCol w="1685520"/>
              </a:tblGrid>
              <a:tr h="671040"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i="1" lang="es-ES" sz="1800" spc="-1" strike="noStrike">
                          <a:solidFill>
                            <a:srgbClr val="000000"/>
                          </a:solidFill>
                          <a:latin typeface="DejaVu Sans"/>
                        </a:rPr>
                        <a:t>Accesible a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9999ff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i="1" lang="es-E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Public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1224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9999ff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i="1" lang="es-E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Protected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9999ff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i="1" lang="es-E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 Condensed"/>
                        </a:rPr>
                        <a:t>Default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9999ff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i="1" lang="es-E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Private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9999ff"/>
                    </a:solidFill>
                  </a:tcPr>
                </a:tc>
              </a:tr>
              <a:tr h="666000"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i="1" lang="es-ES" sz="1800" spc="-1" strike="noStrike">
                          <a:solidFill>
                            <a:srgbClr val="000000"/>
                          </a:solidFill>
                          <a:latin typeface="DejaVu Sans Condensed"/>
                        </a:rPr>
                        <a:t>Misma clase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E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Sí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E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Sí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E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Sí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E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Sí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</a:tr>
              <a:tr h="921960"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i="1" lang="es-ES" sz="1800" spc="-1" strike="noStrike">
                          <a:solidFill>
                            <a:srgbClr val="000000"/>
                          </a:solidFill>
                          <a:latin typeface="DejaVu Sans Condensed"/>
                        </a:rPr>
                        <a:t>Cualquier clase 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i="1" lang="es-ES" sz="1800" spc="-1" strike="noStrike">
                          <a:solidFill>
                            <a:srgbClr val="000000"/>
                          </a:solidFill>
                          <a:latin typeface="DejaVu Sans Condensed"/>
                        </a:rPr>
                        <a:t>del mismo paquete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6e6ff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E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Sí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6e6ff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E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Sí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6e6ff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E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Sí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6e6ff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E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No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6e6ff"/>
                    </a:solidFill>
                  </a:tcPr>
                </a:tc>
              </a:tr>
              <a:tr h="1078200"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i="1" lang="es-ES" sz="1800" spc="-1" strike="noStrike">
                          <a:solidFill>
                            <a:srgbClr val="000000"/>
                          </a:solidFill>
                          <a:latin typeface="DejaVu Sans Condensed"/>
                        </a:rPr>
                        <a:t>Clase hija de un paquete diferente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E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Sí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E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Sí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E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No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E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No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</a:tr>
              <a:tr h="912600"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i="1" lang="es-ES" sz="1800" spc="-1" strike="noStrike">
                          <a:solidFill>
                            <a:srgbClr val="000000"/>
                          </a:solidFill>
                          <a:latin typeface="DejaVu Sans Condensed"/>
                        </a:rPr>
                        <a:t>Cualquier otra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6e6ff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E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Sí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6e6ff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E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No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6e6ff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E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No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6e6ff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E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No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6e6ff"/>
                    </a:solidFill>
                  </a:tcPr>
                </a:tc>
              </a:tr>
            </a:tbl>
          </a:graphicData>
        </a:graphic>
      </p:graphicFrame>
      <p:sp>
        <p:nvSpPr>
          <p:cNvPr id="338" name="TextShape 5"/>
          <p:cNvSpPr/>
          <p:nvPr/>
        </p:nvSpPr>
        <p:spPr>
          <a:xfrm>
            <a:off x="460800" y="942480"/>
            <a:ext cx="8578800" cy="88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 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Existen 3 tipos a definir, </a:t>
            </a:r>
            <a:r>
              <a:rPr b="1" i="1" lang="es-ES" sz="1800" spc="-1" strike="noStrike">
                <a:solidFill>
                  <a:srgbClr val="000000"/>
                </a:solidFill>
                <a:latin typeface="DejaVu Serif Condensed"/>
              </a:rPr>
              <a:t>public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 – </a:t>
            </a:r>
            <a:r>
              <a:rPr b="1" i="1" lang="es-ES" sz="1800" spc="-1" strike="noStrike">
                <a:solidFill>
                  <a:srgbClr val="000000"/>
                </a:solidFill>
                <a:latin typeface="DejaVu Serif Condensed"/>
              </a:rPr>
              <a:t>protected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 – </a:t>
            </a:r>
            <a:r>
              <a:rPr b="1" i="1" lang="es-ES" sz="1800" spc="-1" strike="noStrike">
                <a:solidFill>
                  <a:srgbClr val="000000"/>
                </a:solidFill>
                <a:latin typeface="DejaVu Serif Condensed"/>
              </a:rPr>
              <a:t>private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 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Si no especificamos ninguno se utiliza default.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 spd="med">
    <p:wipe dir="d"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CustomShape 2"/>
          <p:cNvSpPr/>
          <p:nvPr/>
        </p:nvSpPr>
        <p:spPr>
          <a:xfrm>
            <a:off x="8280" y="1045080"/>
            <a:ext cx="10080360" cy="414000"/>
          </a:xfrm>
          <a:custGeom>
            <a:avLst/>
            <a:gdLst>
              <a:gd name="textAreaLeft" fmla="*/ 0 w 10080360"/>
              <a:gd name="textAreaRight" fmla="*/ 10080720 w 10080360"/>
              <a:gd name="textAreaTop" fmla="*/ 0 h 414000"/>
              <a:gd name="textAreaBottom" fmla="*/ 414360 h 41400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>
              <a:lnSpc>
                <a:spcPct val="98000"/>
              </a:lnSpc>
            </a:pPr>
            <a:r>
              <a:rPr b="1" lang="en-GB" sz="2200" spc="-1" strike="noStrike">
                <a:solidFill>
                  <a:srgbClr val="ffffff"/>
                </a:solidFill>
                <a:latin typeface="DejaVu Sans"/>
                <a:ea typeface="DejaVu Sans"/>
              </a:rPr>
              <a:t>Clase 3: Codificación en el Lenguaje</a:t>
            </a:r>
            <a:endParaRPr b="0" lang="es-A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TextShape 3"/>
          <p:cNvSpPr/>
          <p:nvPr/>
        </p:nvSpPr>
        <p:spPr>
          <a:xfrm>
            <a:off x="180360" y="502920"/>
            <a:ext cx="9719640" cy="47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2600" spc="-1" strike="noStrike">
                <a:solidFill>
                  <a:srgbClr val="000000"/>
                </a:solidFill>
                <a:latin typeface="DejaVu Sans Condensed"/>
              </a:rPr>
              <a:t>Métodos get (obtener) y set (establecer)</a:t>
            </a:r>
            <a:endParaRPr b="0" lang="es-A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CustomShape 4"/>
          <p:cNvSpPr/>
          <p:nvPr/>
        </p:nvSpPr>
        <p:spPr>
          <a:xfrm>
            <a:off x="714600" y="1805400"/>
            <a:ext cx="1979640" cy="1439640"/>
          </a:xfrm>
          <a:prstGeom prst="rect">
            <a:avLst/>
          </a:prstGeom>
          <a:solidFill>
            <a:srgbClr val="99cc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s-ES" sz="18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Setters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TextShape 5"/>
          <p:cNvSpPr/>
          <p:nvPr/>
        </p:nvSpPr>
        <p:spPr>
          <a:xfrm>
            <a:off x="3234600" y="1639080"/>
            <a:ext cx="5939640" cy="221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 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Cambian el valor de un atributo.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 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Comienzan con </a:t>
            </a:r>
            <a:r>
              <a:rPr b="0" i="1" lang="es-ES" sz="1800" spc="-1" strike="noStrike">
                <a:solidFill>
                  <a:srgbClr val="000000"/>
                </a:solidFill>
                <a:latin typeface="DejaVu Serif Condensed"/>
              </a:rPr>
              <a:t>set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 seguido del nombre del atributo. 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 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 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Ejemplos: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void setApellido(String apellido) { … };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void setEdad(Date edad) { … };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void setNombre(String nombre) { … };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CustomShape 6"/>
          <p:cNvSpPr/>
          <p:nvPr/>
        </p:nvSpPr>
        <p:spPr>
          <a:xfrm>
            <a:off x="714600" y="4433760"/>
            <a:ext cx="1979640" cy="1439640"/>
          </a:xfrm>
          <a:prstGeom prst="rect">
            <a:avLst/>
          </a:prstGeom>
          <a:solidFill>
            <a:srgbClr val="99cc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s-ES" sz="18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Getters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TextShape 7"/>
          <p:cNvSpPr/>
          <p:nvPr/>
        </p:nvSpPr>
        <p:spPr>
          <a:xfrm>
            <a:off x="3234600" y="4267440"/>
            <a:ext cx="5939640" cy="221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 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Obtienen el  valor de un atributo.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 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Comienzan con g</a:t>
            </a:r>
            <a:r>
              <a:rPr b="0" i="1" lang="es-ES" sz="1800" spc="-1" strike="noStrike">
                <a:solidFill>
                  <a:srgbClr val="000000"/>
                </a:solidFill>
                <a:latin typeface="DejaVu Serif Condensed"/>
              </a:rPr>
              <a:t>et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 seguido del nombre del atributo. 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 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 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Ejemplos: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String getApellido() { … };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Date getEdad() { … };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String getNombre() { … };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 spd="med">
    <p:wipe dir="d"/>
  </p:transition>
  <p:timing>
    <p:tnLst>
      <p:par>
        <p:cTn id="458" dur="indefinite" restart="never" nodeType="tmRoot">
          <p:childTnLst>
            <p:seq>
              <p:cTn id="459" dur="indefinite" nodeType="mainSeq">
                <p:childTnLst>
                  <p:par>
                    <p:cTn id="460" fill="hold">
                      <p:stCondLst>
                        <p:cond delay="indefinite"/>
                      </p:stCondLst>
                      <p:childTnLst>
                        <p:par>
                          <p:cTn id="461" fill="hold">
                            <p:stCondLst>
                              <p:cond delay="0"/>
                            </p:stCondLst>
                            <p:childTnLst>
                              <p:par>
                                <p:cTn id="462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464" dur="50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5" fill="hold">
                      <p:stCondLst>
                        <p:cond delay="indefinite"/>
                      </p:stCondLst>
                      <p:childTnLst>
                        <p:par>
                          <p:cTn id="466" fill="hold">
                            <p:stCondLst>
                              <p:cond delay="0"/>
                            </p:stCondLst>
                            <p:childTnLst>
                              <p:par>
                                <p:cTn id="467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469" dur="5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TextShape 3"/>
          <p:cNvSpPr/>
          <p:nvPr/>
        </p:nvSpPr>
        <p:spPr>
          <a:xfrm>
            <a:off x="180360" y="360000"/>
            <a:ext cx="9719640" cy="47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2600" spc="-1" strike="noStrike">
                <a:solidFill>
                  <a:srgbClr val="000000"/>
                </a:solidFill>
                <a:latin typeface="DejaVu Sans Condensed"/>
              </a:rPr>
              <a:t>Uso de la referencia “this”</a:t>
            </a:r>
            <a:endParaRPr b="0" lang="es-A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TextShape 4"/>
          <p:cNvSpPr/>
          <p:nvPr/>
        </p:nvSpPr>
        <p:spPr>
          <a:xfrm>
            <a:off x="360" y="1456560"/>
            <a:ext cx="10079640" cy="88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 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Puede utilizarse dentro del cuerpo de un método de un objeto.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 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Lo utilizamos para evitar la ambigüedad entre nombres de atributos o métodos.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47" name="" descr=""/>
          <p:cNvPicPr/>
          <p:nvPr/>
        </p:nvPicPr>
        <p:blipFill>
          <a:blip r:embed="rId1"/>
          <a:stretch/>
        </p:blipFill>
        <p:spPr>
          <a:xfrm>
            <a:off x="159840" y="2574000"/>
            <a:ext cx="5579640" cy="1619640"/>
          </a:xfrm>
          <a:prstGeom prst="rect">
            <a:avLst/>
          </a:prstGeom>
          <a:ln w="0">
            <a:noFill/>
          </a:ln>
        </p:spPr>
      </p:pic>
      <p:sp>
        <p:nvSpPr>
          <p:cNvPr id="348" name="CustomShape 5"/>
          <p:cNvSpPr/>
          <p:nvPr/>
        </p:nvSpPr>
        <p:spPr>
          <a:xfrm>
            <a:off x="5919840" y="2934000"/>
            <a:ext cx="899640" cy="359640"/>
          </a:xfrm>
          <a:custGeom>
            <a:avLst/>
            <a:gdLst>
              <a:gd name="textAreaLeft" fmla="*/ 0 w 899640"/>
              <a:gd name="textAreaRight" fmla="*/ 900000 w 899640"/>
              <a:gd name="textAreaTop" fmla="*/ 0 h 359640"/>
              <a:gd name="textAreaBottom" fmla="*/ 360000 h 359640"/>
            </a:gdLst>
            <a:ahLst/>
            <a:rect l="textAreaLeft" t="textAreaTop" r="textAreaRight" b="textAreaBottom"/>
            <a:pathLst>
              <a:path w="2502" h="1002">
                <a:moveTo>
                  <a:pt x="0" y="250"/>
                </a:moveTo>
                <a:lnTo>
                  <a:pt x="1875" y="250"/>
                </a:lnTo>
                <a:lnTo>
                  <a:pt x="1875" y="0"/>
                </a:lnTo>
                <a:lnTo>
                  <a:pt x="2501" y="500"/>
                </a:lnTo>
                <a:lnTo>
                  <a:pt x="1875" y="1001"/>
                </a:lnTo>
                <a:lnTo>
                  <a:pt x="1875" y="750"/>
                </a:lnTo>
                <a:lnTo>
                  <a:pt x="0" y="750"/>
                </a:lnTo>
                <a:lnTo>
                  <a:pt x="0" y="250"/>
                </a:lnTo>
              </a:path>
            </a:pathLst>
          </a:custGeom>
          <a:solidFill>
            <a:srgbClr val="9999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TextShape 6"/>
          <p:cNvSpPr/>
          <p:nvPr/>
        </p:nvSpPr>
        <p:spPr>
          <a:xfrm>
            <a:off x="6999840" y="2937960"/>
            <a:ext cx="2879640" cy="71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Variable </a:t>
            </a:r>
            <a:r>
              <a:rPr b="0" i="1" lang="es-ES" sz="1800" spc="-1" strike="noStrike">
                <a:solidFill>
                  <a:srgbClr val="000000"/>
                </a:solidFill>
                <a:latin typeface="DejaVu Serif Condensed"/>
              </a:rPr>
              <a:t>nombre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 utilizada como parámetro.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CustomShape 7"/>
          <p:cNvSpPr/>
          <p:nvPr/>
        </p:nvSpPr>
        <p:spPr>
          <a:xfrm rot="5365200">
            <a:off x="1865160" y="4065840"/>
            <a:ext cx="899640" cy="359640"/>
          </a:xfrm>
          <a:custGeom>
            <a:avLst/>
            <a:gdLst>
              <a:gd name="textAreaLeft" fmla="*/ 0 w 899640"/>
              <a:gd name="textAreaRight" fmla="*/ 900000 w 899640"/>
              <a:gd name="textAreaTop" fmla="*/ 0 h 359640"/>
              <a:gd name="textAreaBottom" fmla="*/ 360000 h 359640"/>
            </a:gdLst>
            <a:ahLst/>
            <a:rect l="textAreaLeft" t="textAreaTop" r="textAreaRight" b="textAreaBottom"/>
            <a:pathLst>
              <a:path w="2502" h="1002">
                <a:moveTo>
                  <a:pt x="0" y="252"/>
                </a:moveTo>
                <a:lnTo>
                  <a:pt x="1874" y="250"/>
                </a:lnTo>
                <a:lnTo>
                  <a:pt x="1874" y="0"/>
                </a:lnTo>
                <a:lnTo>
                  <a:pt x="2501" y="498"/>
                </a:lnTo>
                <a:lnTo>
                  <a:pt x="1876" y="1001"/>
                </a:lnTo>
                <a:lnTo>
                  <a:pt x="1875" y="750"/>
                </a:lnTo>
                <a:lnTo>
                  <a:pt x="1" y="752"/>
                </a:lnTo>
                <a:lnTo>
                  <a:pt x="0" y="252"/>
                </a:lnTo>
              </a:path>
            </a:pathLst>
          </a:custGeom>
          <a:solidFill>
            <a:srgbClr val="9999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TextShape 8"/>
          <p:cNvSpPr/>
          <p:nvPr/>
        </p:nvSpPr>
        <p:spPr>
          <a:xfrm>
            <a:off x="339840" y="5058000"/>
            <a:ext cx="7019640" cy="71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i="1" lang="es-ES" sz="1800" spc="-1" strike="noStrike">
                <a:solidFill>
                  <a:srgbClr val="000000"/>
                </a:solidFill>
                <a:latin typeface="DejaVu Serif Condensed"/>
              </a:rPr>
              <a:t>this.nombre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 especifica la propiedad nombre de la clase actual.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TextShape 9"/>
          <p:cNvSpPr/>
          <p:nvPr/>
        </p:nvSpPr>
        <p:spPr>
          <a:xfrm>
            <a:off x="339840" y="5781960"/>
            <a:ext cx="7919640" cy="35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 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También podemos utilizarlo para invocar a métodos o constructores.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53" name="" descr=""/>
          <p:cNvPicPr/>
          <p:nvPr/>
        </p:nvPicPr>
        <p:blipFill>
          <a:blip r:embed="rId2"/>
          <a:stretch/>
        </p:blipFill>
        <p:spPr>
          <a:xfrm>
            <a:off x="5040000" y="6300000"/>
            <a:ext cx="5039640" cy="935640"/>
          </a:xfrm>
          <a:prstGeom prst="rect">
            <a:avLst/>
          </a:prstGeom>
          <a:ln w="0">
            <a:noFill/>
          </a:ln>
        </p:spPr>
      </p:pic>
    </p:spTree>
  </p:cSld>
  <p:transition spd="med">
    <p:wipe dir="d"/>
  </p:transition>
  <p:timing>
    <p:tnLst>
      <p:par>
        <p:cTn id="470" dur="indefinite" restart="never" nodeType="tmRoot">
          <p:childTnLst>
            <p:seq>
              <p:cTn id="471" dur="indefinite" nodeType="mainSeq">
                <p:childTnLst>
                  <p:par>
                    <p:cTn id="472" fill="hold">
                      <p:stCondLst>
                        <p:cond delay="indefinite"/>
                      </p:stCondLst>
                      <p:childTnLst>
                        <p:par>
                          <p:cTn id="473" fill="hold">
                            <p:stCondLst>
                              <p:cond delay="0"/>
                            </p:stCondLst>
                            <p:childTnLst>
                              <p:par>
                                <p:cTn id="474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476" dur="5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7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479" dur="5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0" fill="hold">
                      <p:stCondLst>
                        <p:cond delay="indefinite"/>
                      </p:stCondLst>
                      <p:childTnLst>
                        <p:par>
                          <p:cTn id="481" fill="hold">
                            <p:stCondLst>
                              <p:cond delay="0"/>
                            </p:stCondLst>
                            <p:childTnLst>
                              <p:par>
                                <p:cTn id="482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484" dur="5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5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487" dur="5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8" fill="hold">
                      <p:stCondLst>
                        <p:cond delay="indefinite"/>
                      </p:stCondLst>
                      <p:childTnLst>
                        <p:par>
                          <p:cTn id="489" fill="hold">
                            <p:stCondLst>
                              <p:cond delay="0"/>
                            </p:stCondLst>
                            <p:childTnLst>
                              <p:par>
                                <p:cTn id="490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492" dur="5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TextShape 3"/>
          <p:cNvSpPr/>
          <p:nvPr/>
        </p:nvSpPr>
        <p:spPr>
          <a:xfrm>
            <a:off x="186120" y="720000"/>
            <a:ext cx="9719640" cy="47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2600" spc="-1" strike="noStrike">
                <a:solidFill>
                  <a:srgbClr val="000000"/>
                </a:solidFill>
                <a:latin typeface="DejaVu Sans Condensed"/>
              </a:rPr>
              <a:t>Constructores</a:t>
            </a:r>
            <a:endParaRPr b="0" lang="es-A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TextShape 4"/>
          <p:cNvSpPr/>
          <p:nvPr/>
        </p:nvSpPr>
        <p:spPr>
          <a:xfrm>
            <a:off x="360" y="1440000"/>
            <a:ext cx="10079640" cy="194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 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Métodos con el mismo nombre de la clase.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 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Se utilizan para controlar el estado inicial en el que se crea un objeto.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 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No poseen valor de retorno (ni siquiera void).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 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No se pueden invocar directamente como otro método.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56" name="" descr=""/>
          <p:cNvPicPr/>
          <p:nvPr/>
        </p:nvPicPr>
        <p:blipFill>
          <a:blip r:embed="rId1"/>
          <a:stretch/>
        </p:blipFill>
        <p:spPr>
          <a:xfrm>
            <a:off x="360000" y="4182480"/>
            <a:ext cx="2339640" cy="1079640"/>
          </a:xfrm>
          <a:prstGeom prst="rect">
            <a:avLst/>
          </a:prstGeom>
          <a:ln w="0">
            <a:noFill/>
          </a:ln>
        </p:spPr>
      </p:pic>
      <p:pic>
        <p:nvPicPr>
          <p:cNvPr id="357" name="" descr=""/>
          <p:cNvPicPr/>
          <p:nvPr/>
        </p:nvPicPr>
        <p:blipFill>
          <a:blip r:embed="rId2"/>
          <a:stretch/>
        </p:blipFill>
        <p:spPr>
          <a:xfrm>
            <a:off x="3480120" y="4078440"/>
            <a:ext cx="6239520" cy="1903680"/>
          </a:xfrm>
          <a:prstGeom prst="rect">
            <a:avLst/>
          </a:prstGeom>
          <a:ln w="0">
            <a:noFill/>
          </a:ln>
        </p:spPr>
      </p:pic>
      <p:sp>
        <p:nvSpPr>
          <p:cNvPr id="358" name="TextShape 5"/>
          <p:cNvSpPr/>
          <p:nvPr/>
        </p:nvSpPr>
        <p:spPr>
          <a:xfrm>
            <a:off x="180000" y="5982480"/>
            <a:ext cx="2339640" cy="35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s-ES" sz="1800" spc="-1" strike="noStrike">
                <a:solidFill>
                  <a:srgbClr val="000000"/>
                </a:solidFill>
                <a:latin typeface="DejaVu Sans Condensed"/>
              </a:rPr>
              <a:t>Constructor vacío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TextShape 6"/>
          <p:cNvSpPr/>
          <p:nvPr/>
        </p:nvSpPr>
        <p:spPr>
          <a:xfrm>
            <a:off x="3852000" y="5982840"/>
            <a:ext cx="4247640" cy="35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s-ES" sz="1800" spc="-1" strike="noStrike">
                <a:solidFill>
                  <a:srgbClr val="000000"/>
                </a:solidFill>
                <a:latin typeface="DejaVu Sans Condensed"/>
              </a:rPr>
              <a:t>Constructor con Parámetros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 spd="med">
    <p:wipe dir="d"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CustomShape 2"/>
          <p:cNvSpPr/>
          <p:nvPr/>
        </p:nvSpPr>
        <p:spPr>
          <a:xfrm>
            <a:off x="9000" y="1045080"/>
            <a:ext cx="10080360" cy="414000"/>
          </a:xfrm>
          <a:custGeom>
            <a:avLst/>
            <a:gdLst>
              <a:gd name="textAreaLeft" fmla="*/ 0 w 10080360"/>
              <a:gd name="textAreaRight" fmla="*/ 10080720 w 10080360"/>
              <a:gd name="textAreaTop" fmla="*/ 0 h 414000"/>
              <a:gd name="textAreaBottom" fmla="*/ 414360 h 41400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>
              <a:lnSpc>
                <a:spcPct val="98000"/>
              </a:lnSpc>
            </a:pPr>
            <a:r>
              <a:rPr b="1" lang="en-GB" sz="2200" spc="-1" strike="noStrike">
                <a:solidFill>
                  <a:srgbClr val="ffffff"/>
                </a:solidFill>
                <a:latin typeface="DejaVu Sans"/>
                <a:ea typeface="DejaVu Sans"/>
              </a:rPr>
              <a:t>Clase 3: Codificación en el Lenguaje</a:t>
            </a:r>
            <a:endParaRPr b="0" lang="es-A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TextShape 3"/>
          <p:cNvSpPr/>
          <p:nvPr/>
        </p:nvSpPr>
        <p:spPr>
          <a:xfrm>
            <a:off x="180360" y="425880"/>
            <a:ext cx="9719640" cy="47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2600" spc="-1" strike="noStrike">
                <a:solidFill>
                  <a:srgbClr val="000000"/>
                </a:solidFill>
                <a:latin typeface="DejaVu Sans Condensed"/>
              </a:rPr>
              <a:t>Creando de Objetos</a:t>
            </a:r>
            <a:endParaRPr b="0" lang="es-A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TextShape 4"/>
          <p:cNvSpPr/>
          <p:nvPr/>
        </p:nvSpPr>
        <p:spPr>
          <a:xfrm>
            <a:off x="0" y="1179360"/>
            <a:ext cx="10079640" cy="62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 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Primeramente debemos crear una variable de referencia a ese objeto.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63" name="" descr=""/>
          <p:cNvPicPr/>
          <p:nvPr/>
        </p:nvPicPr>
        <p:blipFill>
          <a:blip r:embed="rId1"/>
          <a:stretch/>
        </p:blipFill>
        <p:spPr>
          <a:xfrm>
            <a:off x="360000" y="2156760"/>
            <a:ext cx="1810080" cy="579600"/>
          </a:xfrm>
          <a:prstGeom prst="rect">
            <a:avLst/>
          </a:prstGeom>
          <a:ln w="0">
            <a:noFill/>
          </a:ln>
        </p:spPr>
      </p:pic>
      <p:sp>
        <p:nvSpPr>
          <p:cNvPr id="364" name="TextShape 5"/>
          <p:cNvSpPr/>
          <p:nvPr/>
        </p:nvSpPr>
        <p:spPr>
          <a:xfrm>
            <a:off x="0" y="2714040"/>
            <a:ext cx="10079640" cy="88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 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Luego debemos inicializar esa referencia utilizando el operador </a:t>
            </a:r>
            <a:r>
              <a:rPr b="0" i="1" lang="es-ES" sz="1800" spc="-1" strike="noStrike">
                <a:solidFill>
                  <a:srgbClr val="000000"/>
                </a:solidFill>
                <a:latin typeface="DejaVu Serif Condensed"/>
              </a:rPr>
              <a:t>new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 y llamando al                    constructor correspondiente: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65" name="" descr=""/>
          <p:cNvPicPr/>
          <p:nvPr/>
        </p:nvPicPr>
        <p:blipFill>
          <a:blip r:embed="rId2"/>
          <a:stretch/>
        </p:blipFill>
        <p:spPr>
          <a:xfrm>
            <a:off x="540000" y="3832200"/>
            <a:ext cx="2519640" cy="664200"/>
          </a:xfrm>
          <a:prstGeom prst="rect">
            <a:avLst/>
          </a:prstGeom>
          <a:ln w="0">
            <a:noFill/>
          </a:ln>
        </p:spPr>
      </p:pic>
      <p:pic>
        <p:nvPicPr>
          <p:cNvPr id="366" name="" descr=""/>
          <p:cNvPicPr/>
          <p:nvPr/>
        </p:nvPicPr>
        <p:blipFill>
          <a:blip r:embed="rId3"/>
          <a:stretch/>
        </p:blipFill>
        <p:spPr>
          <a:xfrm>
            <a:off x="540000" y="5108760"/>
            <a:ext cx="7559640" cy="899640"/>
          </a:xfrm>
          <a:prstGeom prst="rect">
            <a:avLst/>
          </a:prstGeom>
          <a:ln w="0">
            <a:noFill/>
          </a:ln>
        </p:spPr>
      </p:pic>
      <p:sp>
        <p:nvSpPr>
          <p:cNvPr id="367" name="TextShape 6"/>
          <p:cNvSpPr/>
          <p:nvPr/>
        </p:nvSpPr>
        <p:spPr>
          <a:xfrm>
            <a:off x="4680000" y="3956760"/>
            <a:ext cx="2339640" cy="35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s-ES" sz="1800" spc="-1" strike="noStrike">
                <a:solidFill>
                  <a:srgbClr val="000000"/>
                </a:solidFill>
                <a:latin typeface="DejaVu Sans Condensed"/>
              </a:rPr>
              <a:t>Constructor vacío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TextShape 7"/>
          <p:cNvSpPr/>
          <p:nvPr/>
        </p:nvSpPr>
        <p:spPr>
          <a:xfrm>
            <a:off x="1872360" y="6664320"/>
            <a:ext cx="4247640" cy="35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s-ES" sz="1800" spc="-1" strike="noStrike">
                <a:solidFill>
                  <a:srgbClr val="000000"/>
                </a:solidFill>
                <a:latin typeface="DejaVu Sans Condensed"/>
              </a:rPr>
              <a:t>Constructor con Parámetros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CustomShape 8"/>
          <p:cNvSpPr/>
          <p:nvPr/>
        </p:nvSpPr>
        <p:spPr>
          <a:xfrm>
            <a:off x="3600000" y="3956760"/>
            <a:ext cx="899640" cy="359640"/>
          </a:xfrm>
          <a:custGeom>
            <a:avLst/>
            <a:gdLst>
              <a:gd name="textAreaLeft" fmla="*/ 0 w 899640"/>
              <a:gd name="textAreaRight" fmla="*/ 900000 w 899640"/>
              <a:gd name="textAreaTop" fmla="*/ 0 h 359640"/>
              <a:gd name="textAreaBottom" fmla="*/ 360000 h 359640"/>
            </a:gdLst>
            <a:ahLst/>
            <a:rect l="textAreaLeft" t="textAreaTop" r="textAreaRight" b="textAreaBottom"/>
            <a:pathLst>
              <a:path w="2502" h="1002">
                <a:moveTo>
                  <a:pt x="0" y="250"/>
                </a:moveTo>
                <a:lnTo>
                  <a:pt x="1875" y="250"/>
                </a:lnTo>
                <a:lnTo>
                  <a:pt x="1875" y="0"/>
                </a:lnTo>
                <a:lnTo>
                  <a:pt x="2501" y="500"/>
                </a:lnTo>
                <a:lnTo>
                  <a:pt x="1875" y="1001"/>
                </a:lnTo>
                <a:lnTo>
                  <a:pt x="1875" y="750"/>
                </a:lnTo>
                <a:lnTo>
                  <a:pt x="0" y="750"/>
                </a:lnTo>
                <a:lnTo>
                  <a:pt x="0" y="250"/>
                </a:lnTo>
              </a:path>
            </a:pathLst>
          </a:custGeom>
          <a:solidFill>
            <a:srgbClr val="9999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CustomShape 9"/>
          <p:cNvSpPr/>
          <p:nvPr/>
        </p:nvSpPr>
        <p:spPr>
          <a:xfrm rot="5365200">
            <a:off x="3505320" y="5848200"/>
            <a:ext cx="899640" cy="359640"/>
          </a:xfrm>
          <a:custGeom>
            <a:avLst/>
            <a:gdLst>
              <a:gd name="textAreaLeft" fmla="*/ 0 w 899640"/>
              <a:gd name="textAreaRight" fmla="*/ 900000 w 899640"/>
              <a:gd name="textAreaTop" fmla="*/ 0 h 359640"/>
              <a:gd name="textAreaBottom" fmla="*/ 360000 h 359640"/>
            </a:gdLst>
            <a:ahLst/>
            <a:rect l="textAreaLeft" t="textAreaTop" r="textAreaRight" b="textAreaBottom"/>
            <a:pathLst>
              <a:path w="2502" h="1002">
                <a:moveTo>
                  <a:pt x="0" y="252"/>
                </a:moveTo>
                <a:lnTo>
                  <a:pt x="1874" y="250"/>
                </a:lnTo>
                <a:lnTo>
                  <a:pt x="1875" y="0"/>
                </a:lnTo>
                <a:lnTo>
                  <a:pt x="2501" y="498"/>
                </a:lnTo>
                <a:lnTo>
                  <a:pt x="1876" y="1001"/>
                </a:lnTo>
                <a:lnTo>
                  <a:pt x="1875" y="750"/>
                </a:lnTo>
                <a:lnTo>
                  <a:pt x="1" y="752"/>
                </a:lnTo>
                <a:lnTo>
                  <a:pt x="0" y="252"/>
                </a:lnTo>
              </a:path>
            </a:pathLst>
          </a:custGeom>
          <a:solidFill>
            <a:srgbClr val="9999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 spd="med">
    <p:wipe dir="d"/>
  </p:transition>
  <p:timing>
    <p:tnLst>
      <p:par>
        <p:cTn id="493" dur="indefinite" restart="never" nodeType="tmRoot">
          <p:childTnLst>
            <p:seq>
              <p:cTn id="494" dur="indefinite" nodeType="mainSeq">
                <p:childTnLst>
                  <p:par>
                    <p:cTn id="495" fill="hold">
                      <p:stCondLst>
                        <p:cond delay="indefinite"/>
                      </p:stCondLst>
                      <p:childTnLst>
                        <p:par>
                          <p:cTn id="496" fill="hold">
                            <p:stCondLst>
                              <p:cond delay="0"/>
                            </p:stCondLst>
                            <p:childTnLst>
                              <p:par>
                                <p:cTn id="497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499" dur="50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0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502" dur="5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3" fill="hold">
                      <p:stCondLst>
                        <p:cond delay="indefinite"/>
                      </p:stCondLst>
                      <p:childTnLst>
                        <p:par>
                          <p:cTn id="504" fill="hold">
                            <p:stCondLst>
                              <p:cond delay="0"/>
                            </p:stCondLst>
                            <p:childTnLst>
                              <p:par>
                                <p:cTn id="505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507" dur="5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8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510" dur="5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CustomShape 2"/>
          <p:cNvSpPr/>
          <p:nvPr/>
        </p:nvSpPr>
        <p:spPr>
          <a:xfrm>
            <a:off x="9360" y="1045080"/>
            <a:ext cx="10080360" cy="414000"/>
          </a:xfrm>
          <a:custGeom>
            <a:avLst/>
            <a:gdLst>
              <a:gd name="textAreaLeft" fmla="*/ 0 w 10080360"/>
              <a:gd name="textAreaRight" fmla="*/ 10080720 w 10080360"/>
              <a:gd name="textAreaTop" fmla="*/ 0 h 414000"/>
              <a:gd name="textAreaBottom" fmla="*/ 414360 h 41400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>
              <a:lnSpc>
                <a:spcPct val="98000"/>
              </a:lnSpc>
            </a:pPr>
            <a:r>
              <a:rPr b="1" lang="en-GB" sz="2200" spc="-1" strike="noStrike">
                <a:solidFill>
                  <a:srgbClr val="ffffff"/>
                </a:solidFill>
                <a:latin typeface="DejaVu Sans"/>
                <a:ea typeface="DejaVu Sans"/>
              </a:rPr>
              <a:t>Clase 3: Codificación en el Lenguaje</a:t>
            </a:r>
            <a:endParaRPr b="0" lang="es-A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TextShape 3"/>
          <p:cNvSpPr/>
          <p:nvPr/>
        </p:nvSpPr>
        <p:spPr>
          <a:xfrm>
            <a:off x="180000" y="570960"/>
            <a:ext cx="9719640" cy="47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2600" spc="-1" strike="noStrike">
                <a:solidFill>
                  <a:srgbClr val="000000"/>
                </a:solidFill>
                <a:latin typeface="DejaVu Sans Condensed"/>
              </a:rPr>
              <a:t>Utilizando de Objetos</a:t>
            </a:r>
            <a:endParaRPr b="0" lang="es-A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TextShape 4"/>
          <p:cNvSpPr/>
          <p:nvPr/>
        </p:nvSpPr>
        <p:spPr>
          <a:xfrm>
            <a:off x="180000" y="1359360"/>
            <a:ext cx="7920000" cy="62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Existen dos formas de usar un objeto: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TextShape 5"/>
          <p:cNvSpPr/>
          <p:nvPr/>
        </p:nvSpPr>
        <p:spPr>
          <a:xfrm>
            <a:off x="1440000" y="2340360"/>
            <a:ext cx="3333600" cy="35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 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Manipulando sus atributos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TextShape 6"/>
          <p:cNvSpPr/>
          <p:nvPr/>
        </p:nvSpPr>
        <p:spPr>
          <a:xfrm>
            <a:off x="1440360" y="4104720"/>
            <a:ext cx="3333600" cy="35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 </a:t>
            </a:r>
            <a:r>
              <a:rPr b="0" lang="es-ES" sz="1800" spc="-1" strike="noStrike">
                <a:solidFill>
                  <a:srgbClr val="000000"/>
                </a:solidFill>
                <a:latin typeface="DejaVu Serif Condensed"/>
              </a:rPr>
              <a:t>Invocando sus métodos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76" name="" descr=""/>
          <p:cNvPicPr/>
          <p:nvPr/>
        </p:nvPicPr>
        <p:blipFill>
          <a:blip r:embed="rId1"/>
          <a:stretch/>
        </p:blipFill>
        <p:spPr>
          <a:xfrm>
            <a:off x="1680120" y="2880360"/>
            <a:ext cx="2639520" cy="598680"/>
          </a:xfrm>
          <a:prstGeom prst="rect">
            <a:avLst/>
          </a:prstGeom>
          <a:ln w="0">
            <a:noFill/>
          </a:ln>
        </p:spPr>
      </p:pic>
      <p:sp>
        <p:nvSpPr>
          <p:cNvPr id="377" name="CustomShape 7"/>
          <p:cNvSpPr/>
          <p:nvPr/>
        </p:nvSpPr>
        <p:spPr>
          <a:xfrm>
            <a:off x="5040000" y="2700360"/>
            <a:ext cx="3779640" cy="719640"/>
          </a:xfrm>
          <a:prstGeom prst="rect">
            <a:avLst/>
          </a:prstGeom>
          <a:solidFill>
            <a:srgbClr val="99cc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s-ES" sz="18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No es recomendable,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s-ES" sz="18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rompe la encapsulación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78" name="" descr=""/>
          <p:cNvPicPr/>
          <p:nvPr/>
        </p:nvPicPr>
        <p:blipFill>
          <a:blip r:embed="rId2"/>
          <a:stretch/>
        </p:blipFill>
        <p:spPr>
          <a:xfrm>
            <a:off x="1837080" y="4500360"/>
            <a:ext cx="3022560" cy="899640"/>
          </a:xfrm>
          <a:prstGeom prst="rect">
            <a:avLst/>
          </a:prstGeom>
          <a:ln w="0">
            <a:noFill/>
          </a:ln>
        </p:spPr>
      </p:pic>
      <p:pic>
        <p:nvPicPr>
          <p:cNvPr id="379" name="" descr=""/>
          <p:cNvPicPr/>
          <p:nvPr/>
        </p:nvPicPr>
        <p:blipFill>
          <a:blip r:embed="rId3"/>
          <a:stretch/>
        </p:blipFill>
        <p:spPr>
          <a:xfrm>
            <a:off x="1800000" y="5400360"/>
            <a:ext cx="3419640" cy="899640"/>
          </a:xfrm>
          <a:prstGeom prst="rect">
            <a:avLst/>
          </a:prstGeom>
          <a:ln w="0">
            <a:noFill/>
          </a:ln>
        </p:spPr>
      </p:pic>
      <p:sp>
        <p:nvSpPr>
          <p:cNvPr id="380" name="CustomShape 8"/>
          <p:cNvSpPr/>
          <p:nvPr/>
        </p:nvSpPr>
        <p:spPr>
          <a:xfrm>
            <a:off x="5220000" y="4860360"/>
            <a:ext cx="3779640" cy="719640"/>
          </a:xfrm>
          <a:prstGeom prst="rect">
            <a:avLst/>
          </a:prstGeom>
          <a:solidFill>
            <a:srgbClr val="99cc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s-ES" sz="18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Utilizamos el operador </a:t>
            </a:r>
            <a:r>
              <a:rPr b="1" i="1" lang="es-ES" sz="18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“.”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 spd="med">
    <p:wipe dir="d"/>
  </p:transition>
  <p:timing>
    <p:tnLst>
      <p:par>
        <p:cTn id="511" dur="indefinite" restart="never" nodeType="tmRoot">
          <p:childTnLst>
            <p:seq>
              <p:cTn id="512" dur="indefinite" nodeType="mainSeq">
                <p:childTnLst>
                  <p:par>
                    <p:cTn id="513" fill="hold">
                      <p:stCondLst>
                        <p:cond delay="indefinite"/>
                      </p:stCondLst>
                      <p:childTnLst>
                        <p:par>
                          <p:cTn id="514" fill="hold">
                            <p:stCondLst>
                              <p:cond delay="0"/>
                            </p:stCondLst>
                            <p:childTnLst>
                              <p:par>
                                <p:cTn id="515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517" dur="500"/>
                                        <p:tgtEl>
                                          <p:spTgt spid="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8" fill="hold">
                      <p:stCondLst>
                        <p:cond delay="indefinite"/>
                      </p:stCondLst>
                      <p:childTnLst>
                        <p:par>
                          <p:cTn id="519" fill="hold">
                            <p:stCondLst>
                              <p:cond delay="0"/>
                            </p:stCondLst>
                            <p:childTnLst>
                              <p:par>
                                <p:cTn id="520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522" dur="50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109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2013-02-18T17:34:35Z</dcterms:created>
  <dc:creator/>
  <dc:description/>
  <dc:language>es-ES</dc:language>
  <cp:lastModifiedBy/>
  <dcterms:modified xsi:type="dcterms:W3CDTF">2026-08-04T23:05:20Z</dcterms:modified>
  <cp:revision>6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fo 1">
    <vt:lpwstr/>
  </property>
  <property fmtid="{D5CDD505-2E9C-101B-9397-08002B2CF9AE}" pid="3" name="Info 2">
    <vt:lpwstr/>
  </property>
  <property fmtid="{D5CDD505-2E9C-101B-9397-08002B2CF9AE}" pid="4" name="Info 3">
    <vt:lpwstr/>
  </property>
  <property fmtid="{D5CDD505-2E9C-101B-9397-08002B2CF9AE}" pid="5" name="Info 4">
    <vt:lpwstr/>
  </property>
</Properties>
</file>