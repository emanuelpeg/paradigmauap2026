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14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15.xml.rels" ContentType="application/vnd.openxmlformats-package.relationships+xml"/>
  <Override PartName="/ppt/slides/_rels/slide19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27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_rels/presentation.xml.rels" ContentType="application/vnd.openxmlformats-package.relationships+xml"/>
  <Override PartName="/ppt/media/image29.png" ContentType="image/png"/>
  <Override PartName="/ppt/media/image28.png" ContentType="image/png"/>
  <Override PartName="/ppt/media/image27.png" ContentType="image/png"/>
  <Override PartName="/ppt/media/image2.gif" ContentType="image/gif"/>
  <Override PartName="/ppt/media/image26.png" ContentType="image/png"/>
  <Override PartName="/ppt/media/image25.png" ContentType="image/png"/>
  <Override PartName="/ppt/media/image24.png" ContentType="image/png"/>
  <Override PartName="/ppt/media/image31.gif" ContentType="image/gif"/>
  <Override PartName="/ppt/media/image23.png" ContentType="image/png"/>
  <Override PartName="/ppt/media/image22.png" ContentType="image/png"/>
  <Override PartName="/ppt/media/image45.jpeg" ContentType="image/jpeg"/>
  <Override PartName="/ppt/media/image21.png" ContentType="image/png"/>
  <Override PartName="/ppt/media/image19.png" ContentType="image/png"/>
  <Override PartName="/ppt/media/image1.jpeg" ContentType="image/jpeg"/>
  <Override PartName="/ppt/media/image47.png" ContentType="image/png"/>
  <Override PartName="/ppt/media/image15.png" ContentType="image/png"/>
  <Override PartName="/ppt/media/image6.png" ContentType="image/png"/>
  <Override PartName="/ppt/media/image38.png" ContentType="image/png"/>
  <Override PartName="/ppt/media/image5.png" ContentType="image/png"/>
  <Override PartName="/ppt/media/image37.png" ContentType="image/png"/>
  <Override PartName="/ppt/media/image16.png" ContentType="image/png"/>
  <Override PartName="/ppt/media/image7.png" ContentType="image/png"/>
  <Override PartName="/ppt/media/image39.png" ContentType="image/png"/>
  <Override PartName="/ppt/media/image11.png" ContentType="image/png"/>
  <Override PartName="/ppt/media/image48.png" ContentType="image/png"/>
  <Override PartName="/ppt/media/image17.png" ContentType="image/png"/>
  <Override PartName="/ppt/media/image33.png" ContentType="image/png"/>
  <Override PartName="/ppt/media/image44.png" ContentType="image/png"/>
  <Override PartName="/ppt/media/image34.png" ContentType="image/png"/>
  <Override PartName="/ppt/media/image46.png" ContentType="image/png"/>
  <Override PartName="/ppt/media/image50.png" ContentType="image/png"/>
  <Override PartName="/ppt/media/image13.png" ContentType="image/png"/>
  <Override PartName="/ppt/media/image51.png" ContentType="image/png"/>
  <Override PartName="/ppt/media/image40.png" ContentType="image/png"/>
  <Override PartName="/ppt/media/image52.png" ContentType="image/png"/>
  <Override PartName="/ppt/media/image41.png" ContentType="image/png"/>
  <Override PartName="/ppt/media/image53.png" ContentType="image/png"/>
  <Override PartName="/ppt/media/image54.png" ContentType="image/png"/>
  <Override PartName="/ppt/media/image8.png" ContentType="image/png"/>
  <Override PartName="/ppt/media/image14.gif" ContentType="image/gif"/>
  <Override PartName="/ppt/media/image43.png" ContentType="image/png"/>
  <Override PartName="/ppt/media/image55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32.png" ContentType="image/png"/>
  <Override PartName="/ppt/media/image30.png" ContentType="image/png"/>
  <Override PartName="/ppt/media/image10.jpeg" ContentType="image/jpeg"/>
  <Override PartName="/ppt/media/image42.png" ContentType="image/png"/>
  <Override PartName="/ppt/media/image4.png" ContentType="image/png"/>
  <Override PartName="/ppt/media/image36.png" ContentType="image/png"/>
  <Override PartName="/ppt/media/image49.png" ContentType="image/png"/>
  <Override PartName="/ppt/media/image12.png" ContentType="image/png"/>
  <Override PartName="/ppt/media/image3.png" ContentType="image/png"/>
  <Override PartName="/ppt/media/image35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</p:sldMasterIdLst>
  <p:sldIdLst>
    <p:sldId id="256" r:id="rId26"/>
    <p:sldId id="257" r:id="rId27"/>
    <p:sldId id="258" r:id="rId28"/>
    <p:sldId id="259" r:id="rId29"/>
    <p:sldId id="260" r:id="rId30"/>
    <p:sldId id="261" r:id="rId31"/>
    <p:sldId id="262" r:id="rId32"/>
    <p:sldId id="263" r:id="rId33"/>
    <p:sldId id="264" r:id="rId34"/>
    <p:sldId id="265" r:id="rId35"/>
    <p:sldId id="266" r:id="rId36"/>
    <p:sldId id="267" r:id="rId37"/>
    <p:sldId id="268" r:id="rId38"/>
    <p:sldId id="269" r:id="rId39"/>
    <p:sldId id="270" r:id="rId40"/>
    <p:sldId id="271" r:id="rId41"/>
    <p:sldId id="272" r:id="rId42"/>
    <p:sldId id="273" r:id="rId43"/>
    <p:sldId id="274" r:id="rId44"/>
    <p:sldId id="275" r:id="rId45"/>
    <p:sldId id="276" r:id="rId46"/>
    <p:sldId id="277" r:id="rId47"/>
    <p:sldId id="278" r:id="rId48"/>
    <p:sldId id="279" r:id="rId49"/>
    <p:sldId id="280" r:id="rId50"/>
    <p:sldId id="281" r:id="rId51"/>
    <p:sldId id="282" r:id="rId52"/>
    <p:sldId id="283" r:id="rId53"/>
    <p:sldId id="284" r:id="rId54"/>
    <p:sldId id="285" r:id="rId55"/>
    <p:sldId id="286" r:id="rId56"/>
    <p:sldId id="287" r:id="rId57"/>
    <p:sldId id="288" r:id="rId58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" Target="slides/slide1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Relationship Id="rId33" Type="http://schemas.openxmlformats.org/officeDocument/2006/relationships/slide" Target="slides/slide8.xml"/><Relationship Id="rId34" Type="http://schemas.openxmlformats.org/officeDocument/2006/relationships/slide" Target="slides/slide9.xml"/><Relationship Id="rId35" Type="http://schemas.openxmlformats.org/officeDocument/2006/relationships/slide" Target="slides/slide10.xml"/><Relationship Id="rId36" Type="http://schemas.openxmlformats.org/officeDocument/2006/relationships/slide" Target="slides/slide11.xml"/><Relationship Id="rId37" Type="http://schemas.openxmlformats.org/officeDocument/2006/relationships/slide" Target="slides/slide12.xml"/><Relationship Id="rId38" Type="http://schemas.openxmlformats.org/officeDocument/2006/relationships/slide" Target="slides/slide13.xml"/><Relationship Id="rId39" Type="http://schemas.openxmlformats.org/officeDocument/2006/relationships/slide" Target="slides/slide14.xml"/><Relationship Id="rId40" Type="http://schemas.openxmlformats.org/officeDocument/2006/relationships/slide" Target="slides/slide15.xml"/><Relationship Id="rId41" Type="http://schemas.openxmlformats.org/officeDocument/2006/relationships/slide" Target="slides/slide16.xml"/><Relationship Id="rId42" Type="http://schemas.openxmlformats.org/officeDocument/2006/relationships/slide" Target="slides/slide17.xml"/><Relationship Id="rId43" Type="http://schemas.openxmlformats.org/officeDocument/2006/relationships/slide" Target="slides/slide18.xml"/><Relationship Id="rId44" Type="http://schemas.openxmlformats.org/officeDocument/2006/relationships/slide" Target="slides/slide19.xml"/><Relationship Id="rId45" Type="http://schemas.openxmlformats.org/officeDocument/2006/relationships/slide" Target="slides/slide20.xml"/><Relationship Id="rId46" Type="http://schemas.openxmlformats.org/officeDocument/2006/relationships/slide" Target="slides/slide21.xml"/><Relationship Id="rId47" Type="http://schemas.openxmlformats.org/officeDocument/2006/relationships/slide" Target="slides/slide22.xml"/><Relationship Id="rId48" Type="http://schemas.openxmlformats.org/officeDocument/2006/relationships/slide" Target="slides/slide23.xml"/><Relationship Id="rId49" Type="http://schemas.openxmlformats.org/officeDocument/2006/relationships/slide" Target="slides/slide24.xml"/><Relationship Id="rId50" Type="http://schemas.openxmlformats.org/officeDocument/2006/relationships/slide" Target="slides/slide25.xml"/><Relationship Id="rId51" Type="http://schemas.openxmlformats.org/officeDocument/2006/relationships/slide" Target="slides/slide26.xml"/><Relationship Id="rId52" Type="http://schemas.openxmlformats.org/officeDocument/2006/relationships/slide" Target="slides/slide27.xml"/><Relationship Id="rId53" Type="http://schemas.openxmlformats.org/officeDocument/2006/relationships/slide" Target="slides/slide28.xml"/><Relationship Id="rId54" Type="http://schemas.openxmlformats.org/officeDocument/2006/relationships/slide" Target="slides/slide29.xml"/><Relationship Id="rId55" Type="http://schemas.openxmlformats.org/officeDocument/2006/relationships/slide" Target="slides/slide30.xml"/><Relationship Id="rId56" Type="http://schemas.openxmlformats.org/officeDocument/2006/relationships/slide" Target="slides/slide31.xml"/><Relationship Id="rId57" Type="http://schemas.openxmlformats.org/officeDocument/2006/relationships/slide" Target="slides/slide32.xml"/><Relationship Id="rId58" Type="http://schemas.openxmlformats.org/officeDocument/2006/relationships/slide" Target="slides/slide33.xml"/><Relationship Id="rId5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Predeterminad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357156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663912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body"/>
          </p:nvPr>
        </p:nvSpPr>
        <p:spPr>
          <a:xfrm>
            <a:off x="357156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7"/>
          <p:cNvSpPr>
            <a:spLocks noGrp="1"/>
          </p:cNvSpPr>
          <p:nvPr>
            <p:ph type="body"/>
          </p:nvPr>
        </p:nvSpPr>
        <p:spPr>
          <a:xfrm>
            <a:off x="663912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357156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body"/>
          </p:nvPr>
        </p:nvSpPr>
        <p:spPr>
          <a:xfrm>
            <a:off x="6639120" y="176868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6"/>
          <p:cNvSpPr>
            <a:spLocks noGrp="1"/>
          </p:cNvSpPr>
          <p:nvPr>
            <p:ph type="body"/>
          </p:nvPr>
        </p:nvSpPr>
        <p:spPr>
          <a:xfrm>
            <a:off x="357156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7"/>
          <p:cNvSpPr>
            <a:spLocks noGrp="1"/>
          </p:cNvSpPr>
          <p:nvPr>
            <p:ph type="body"/>
          </p:nvPr>
        </p:nvSpPr>
        <p:spPr>
          <a:xfrm>
            <a:off x="6639120" y="4058640"/>
            <a:ext cx="292068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1111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gif"/><Relationship Id="rId2" Type="http://schemas.openxmlformats.org/officeDocument/2006/relationships/slideLayout" Target="../slideLayouts/slideLayout1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4.gif"/><Relationship Id="rId2" Type="http://schemas.openxmlformats.org/officeDocument/2006/relationships/slideLayout" Target="../slideLayouts/slideLayout1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1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1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17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17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1.gif"/><Relationship Id="rId2" Type="http://schemas.openxmlformats.org/officeDocument/2006/relationships/slideLayout" Target="../slideLayouts/slideLayout17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slideLayout" Target="../slideLayouts/slideLayout17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7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slideLayout" Target="../slideLayouts/slideLayout17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slideLayout" Target="../slideLayouts/slideLayout17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slideLayout" Target="../slideLayouts/slideLayout1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45.jpeg"/><Relationship Id="rId2" Type="http://schemas.openxmlformats.org/officeDocument/2006/relationships/slideLayout" Target="../slideLayouts/slideLayout17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image" Target="../media/image47.png"/><Relationship Id="rId3" Type="http://schemas.openxmlformats.org/officeDocument/2006/relationships/slideLayout" Target="../slideLayouts/slideLayout17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slideLayout" Target="../slideLayouts/slideLayout17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image" Target="../media/image53.png"/><Relationship Id="rId3" Type="http://schemas.openxmlformats.org/officeDocument/2006/relationships/slideLayout" Target="../slideLayouts/slideLayout17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54.png"/><Relationship Id="rId2" Type="http://schemas.openxmlformats.org/officeDocument/2006/relationships/slideLayout" Target="../slideLayouts/slideLayout17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hyperlink" Target="http://www.gugler.com.ar/" TargetMode="External"/><Relationship Id="rId2" Type="http://schemas.openxmlformats.org/officeDocument/2006/relationships/hyperlink" Target="mailto:contacto@gugler.com.ar" TargetMode="External"/><Relationship Id="rId3" Type="http://schemas.openxmlformats.org/officeDocument/2006/relationships/hyperlink" Target="http://cursos.gugler.com.ar/" TargetMode="External"/><Relationship Id="rId4" Type="http://schemas.openxmlformats.org/officeDocument/2006/relationships/hyperlink" Target="http://www.facebook.com/gugler.com.ar" TargetMode="External"/><Relationship Id="rId5" Type="http://schemas.openxmlformats.org/officeDocument/2006/relationships/hyperlink" Target="http://www.twitter.com/cgugler" TargetMode="External"/><Relationship Id="rId6" Type="http://schemas.openxmlformats.org/officeDocument/2006/relationships/image" Target="../media/image55.png"/><Relationship Id="rId7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ustomShape 1"/>
          <p:cNvSpPr/>
          <p:nvPr/>
        </p:nvSpPr>
        <p:spPr>
          <a:xfrm>
            <a:off x="180720" y="1548000"/>
            <a:ext cx="971928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Herencia, polimorfismo, y sobrecarga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CustomShape 4"/>
          <p:cNvSpPr/>
          <p:nvPr/>
        </p:nvSpPr>
        <p:spPr>
          <a:xfrm>
            <a:off x="180720" y="2700000"/>
            <a:ext cx="971928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Upcasting y Downcasting de Objetos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CustomShape 5"/>
          <p:cNvSpPr/>
          <p:nvPr/>
        </p:nvSpPr>
        <p:spPr>
          <a:xfrm>
            <a:off x="180720" y="3960000"/>
            <a:ext cx="971928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Métodos y Clases final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CustomShape 6"/>
          <p:cNvSpPr/>
          <p:nvPr/>
        </p:nvSpPr>
        <p:spPr>
          <a:xfrm>
            <a:off x="180000" y="5328000"/>
            <a:ext cx="971928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Clases Abstractas e Interfaces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ustomShape 2"/>
          <p:cNvSpPr/>
          <p:nvPr/>
        </p:nvSpPr>
        <p:spPr>
          <a:xfrm>
            <a:off x="1800" y="217080"/>
            <a:ext cx="10080000" cy="413640"/>
          </a:xfrm>
          <a:custGeom>
            <a:avLst/>
            <a:gdLst>
              <a:gd name="textAreaLeft" fmla="*/ 0 w 10080000"/>
              <a:gd name="textAreaRight" fmla="*/ 10080360 w 10080000"/>
              <a:gd name="textAreaTop" fmla="*/ 0 h 413640"/>
              <a:gd name="textAreaBottom" fmla="*/ 414000 h 4136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s-AR" sz="2200" spc="-1" strike="noStrike">
                <a:solidFill>
                  <a:srgbClr val="ffffff"/>
                </a:solidFill>
                <a:latin typeface="DejaVu Sans"/>
                <a:ea typeface="DejaVu Sans"/>
              </a:rPr>
              <a:t>Clase 4: Herencia, polimorfismo y sobrecarga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CustomShape 3"/>
          <p:cNvSpPr/>
          <p:nvPr/>
        </p:nvSpPr>
        <p:spPr>
          <a:xfrm>
            <a:off x="181080" y="749520"/>
            <a:ext cx="971928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Herencia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CustomShape 4"/>
          <p:cNvSpPr/>
          <p:nvPr/>
        </p:nvSpPr>
        <p:spPr>
          <a:xfrm>
            <a:off x="0" y="1512720"/>
            <a:ext cx="10079280" cy="221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La reusabilidad puede lograrse mediante </a:t>
            </a:r>
            <a:r>
              <a:rPr b="1" i="1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herencia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Un comportamiento definido en una </a:t>
            </a:r>
            <a:r>
              <a:rPr b="0" i="1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superclase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es heredado por sus </a:t>
            </a:r>
            <a:r>
              <a:rPr b="0" i="1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subclases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Las subclases extienden la funcionalidad heredada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Esto nos permite definir la mayor cantidad de funcionalidades y atributos y luego                      reutilizarlas.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3" name="" descr=""/>
          <p:cNvPicPr/>
          <p:nvPr/>
        </p:nvPicPr>
        <p:blipFill>
          <a:blip r:embed="rId1"/>
          <a:stretch/>
        </p:blipFill>
        <p:spPr>
          <a:xfrm>
            <a:off x="1702080" y="4023720"/>
            <a:ext cx="3157200" cy="2167560"/>
          </a:xfrm>
          <a:prstGeom prst="rect">
            <a:avLst/>
          </a:prstGeom>
          <a:ln w="0">
            <a:noFill/>
          </a:ln>
        </p:spPr>
      </p:pic>
      <p:sp>
        <p:nvSpPr>
          <p:cNvPr id="134" name="CustomShape 5"/>
          <p:cNvSpPr/>
          <p:nvPr/>
        </p:nvSpPr>
        <p:spPr>
          <a:xfrm>
            <a:off x="4500000" y="4212000"/>
            <a:ext cx="719280" cy="359280"/>
          </a:xfrm>
          <a:custGeom>
            <a:avLst/>
            <a:gdLst>
              <a:gd name="textAreaLeft" fmla="*/ 0 w 719280"/>
              <a:gd name="textAreaRight" fmla="*/ 719640 w 719280"/>
              <a:gd name="textAreaTop" fmla="*/ 0 h 359280"/>
              <a:gd name="textAreaBottom" fmla="*/ 359640 h 359280"/>
            </a:gdLst>
            <a:ahLst/>
            <a:rect l="textAreaLeft" t="textAreaTop" r="textAreaRight" b="textAreaBottom"/>
            <a:pathLst>
              <a:path w="2002" h="1002">
                <a:moveTo>
                  <a:pt x="0" y="250"/>
                </a:moveTo>
                <a:lnTo>
                  <a:pt x="1500" y="250"/>
                </a:lnTo>
                <a:lnTo>
                  <a:pt x="1500" y="0"/>
                </a:lnTo>
                <a:lnTo>
                  <a:pt x="2001" y="500"/>
                </a:lnTo>
                <a:lnTo>
                  <a:pt x="1500" y="1001"/>
                </a:lnTo>
                <a:lnTo>
                  <a:pt x="1500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CustomShape 6"/>
          <p:cNvSpPr/>
          <p:nvPr/>
        </p:nvSpPr>
        <p:spPr>
          <a:xfrm>
            <a:off x="5364000" y="5616000"/>
            <a:ext cx="719280" cy="359280"/>
          </a:xfrm>
          <a:custGeom>
            <a:avLst/>
            <a:gdLst>
              <a:gd name="textAreaLeft" fmla="*/ 0 w 719280"/>
              <a:gd name="textAreaRight" fmla="*/ 719640 w 719280"/>
              <a:gd name="textAreaTop" fmla="*/ 0 h 359280"/>
              <a:gd name="textAreaBottom" fmla="*/ 359640 h 359280"/>
            </a:gdLst>
            <a:ahLst/>
            <a:rect l="textAreaLeft" t="textAreaTop" r="textAreaRight" b="textAreaBottom"/>
            <a:pathLst>
              <a:path w="2002" h="1002">
                <a:moveTo>
                  <a:pt x="0" y="250"/>
                </a:moveTo>
                <a:lnTo>
                  <a:pt x="1500" y="250"/>
                </a:lnTo>
                <a:lnTo>
                  <a:pt x="1500" y="0"/>
                </a:lnTo>
                <a:lnTo>
                  <a:pt x="2001" y="500"/>
                </a:lnTo>
                <a:lnTo>
                  <a:pt x="1500" y="1001"/>
                </a:lnTo>
                <a:lnTo>
                  <a:pt x="1500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CustomShape 7"/>
          <p:cNvSpPr/>
          <p:nvPr/>
        </p:nvSpPr>
        <p:spPr>
          <a:xfrm>
            <a:off x="5580000" y="4032000"/>
            <a:ext cx="2159280" cy="71928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AR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Clase Padre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CustomShape 8"/>
          <p:cNvSpPr/>
          <p:nvPr/>
        </p:nvSpPr>
        <p:spPr>
          <a:xfrm>
            <a:off x="6480000" y="5472000"/>
            <a:ext cx="2159280" cy="71928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AR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Clases Hijas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ustomShape 2"/>
          <p:cNvSpPr/>
          <p:nvPr/>
        </p:nvSpPr>
        <p:spPr>
          <a:xfrm>
            <a:off x="2160" y="721080"/>
            <a:ext cx="10080000" cy="413640"/>
          </a:xfrm>
          <a:custGeom>
            <a:avLst/>
            <a:gdLst>
              <a:gd name="textAreaLeft" fmla="*/ 0 w 10080000"/>
              <a:gd name="textAreaRight" fmla="*/ 10080360 w 10080000"/>
              <a:gd name="textAreaTop" fmla="*/ 0 h 413640"/>
              <a:gd name="textAreaBottom" fmla="*/ 414000 h 4136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s-AR" sz="2200" spc="-1" strike="noStrike">
                <a:solidFill>
                  <a:srgbClr val="ffffff"/>
                </a:solidFill>
                <a:latin typeface="DejaVu Sans"/>
                <a:ea typeface="DejaVu Sans"/>
              </a:rPr>
              <a:t>Clase 4: Herencia, polimorfismo y sobrecarga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CustomShape 3"/>
          <p:cNvSpPr/>
          <p:nvPr/>
        </p:nvSpPr>
        <p:spPr>
          <a:xfrm>
            <a:off x="181440" y="1253520"/>
            <a:ext cx="971928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Herencia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CustomShape 4"/>
          <p:cNvSpPr/>
          <p:nvPr/>
        </p:nvSpPr>
        <p:spPr>
          <a:xfrm>
            <a:off x="1476000" y="2016000"/>
            <a:ext cx="1619280" cy="125928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AR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Clase Padre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CustomShape 5"/>
          <p:cNvSpPr/>
          <p:nvPr/>
        </p:nvSpPr>
        <p:spPr>
          <a:xfrm>
            <a:off x="3816000" y="2124360"/>
            <a:ext cx="5759280" cy="11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Definimos atributos y comportamientos comunes.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Es considerada como un tipo de generalización.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CustomShape 6"/>
          <p:cNvSpPr/>
          <p:nvPr/>
        </p:nvSpPr>
        <p:spPr>
          <a:xfrm>
            <a:off x="180000" y="4356000"/>
            <a:ext cx="1799280" cy="143928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AR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Clase Hija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CustomShape 7"/>
          <p:cNvSpPr/>
          <p:nvPr/>
        </p:nvSpPr>
        <p:spPr>
          <a:xfrm>
            <a:off x="2592000" y="4356000"/>
            <a:ext cx="1799280" cy="143928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AR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Clase Hija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CustomShape 8"/>
          <p:cNvSpPr/>
          <p:nvPr/>
        </p:nvSpPr>
        <p:spPr>
          <a:xfrm rot="18057600">
            <a:off x="1303920" y="3641760"/>
            <a:ext cx="970560" cy="359280"/>
          </a:xfrm>
          <a:custGeom>
            <a:avLst/>
            <a:gdLst>
              <a:gd name="textAreaLeft" fmla="*/ 0 w 970560"/>
              <a:gd name="textAreaRight" fmla="*/ 970920 w 970560"/>
              <a:gd name="textAreaTop" fmla="*/ 0 h 359280"/>
              <a:gd name="textAreaBottom" fmla="*/ 359640 h 359280"/>
            </a:gdLst>
            <a:ahLst/>
            <a:rect l="textAreaLeft" t="textAreaTop" r="textAreaRight" b="textAreaBottom"/>
            <a:pathLst>
              <a:path w="2700" h="1002">
                <a:moveTo>
                  <a:pt x="0" y="501"/>
                </a:moveTo>
                <a:lnTo>
                  <a:pt x="2003" y="499"/>
                </a:lnTo>
                <a:lnTo>
                  <a:pt x="2003" y="0"/>
                </a:lnTo>
                <a:lnTo>
                  <a:pt x="2699" y="499"/>
                </a:lnTo>
                <a:lnTo>
                  <a:pt x="2003" y="1001"/>
                </a:lnTo>
                <a:lnTo>
                  <a:pt x="2003" y="499"/>
                </a:lnTo>
                <a:lnTo>
                  <a:pt x="0" y="501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CustomShape 9"/>
          <p:cNvSpPr/>
          <p:nvPr/>
        </p:nvSpPr>
        <p:spPr>
          <a:xfrm rot="13825200">
            <a:off x="2485800" y="3687120"/>
            <a:ext cx="970560" cy="359280"/>
          </a:xfrm>
          <a:custGeom>
            <a:avLst/>
            <a:gdLst>
              <a:gd name="textAreaLeft" fmla="*/ 0 w 970560"/>
              <a:gd name="textAreaRight" fmla="*/ 970920 w 970560"/>
              <a:gd name="textAreaTop" fmla="*/ 0 h 359280"/>
              <a:gd name="textAreaBottom" fmla="*/ 359640 h 359280"/>
            </a:gdLst>
            <a:ahLst/>
            <a:rect l="textAreaLeft" t="textAreaTop" r="textAreaRight" b="textAreaBottom"/>
            <a:pathLst>
              <a:path w="2700" h="1002">
                <a:moveTo>
                  <a:pt x="0" y="503"/>
                </a:moveTo>
                <a:lnTo>
                  <a:pt x="2004" y="500"/>
                </a:lnTo>
                <a:lnTo>
                  <a:pt x="2003" y="0"/>
                </a:lnTo>
                <a:lnTo>
                  <a:pt x="2699" y="499"/>
                </a:lnTo>
                <a:lnTo>
                  <a:pt x="2004" y="1001"/>
                </a:lnTo>
                <a:lnTo>
                  <a:pt x="2004" y="500"/>
                </a:lnTo>
                <a:lnTo>
                  <a:pt x="0" y="503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CustomShape 10"/>
          <p:cNvSpPr/>
          <p:nvPr/>
        </p:nvSpPr>
        <p:spPr>
          <a:xfrm>
            <a:off x="4536000" y="4572720"/>
            <a:ext cx="5759280" cy="14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Reutilizamos todo lo definido en la clase padre.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Podemos ampliar atributos y comportamientos 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redifinirlos.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  <p:timing>
    <p:tnLst>
      <p:par>
        <p:cTn id="19" dur="indefinite" restart="never" nodeType="tmRoot">
          <p:childTnLst>
            <p:seq>
              <p:cTn id="20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5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30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CustomShape 3"/>
          <p:cNvSpPr/>
          <p:nvPr/>
        </p:nvSpPr>
        <p:spPr>
          <a:xfrm>
            <a:off x="181800" y="425520"/>
            <a:ext cx="971928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Herencia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CustomShape 4"/>
          <p:cNvSpPr/>
          <p:nvPr/>
        </p:nvSpPr>
        <p:spPr>
          <a:xfrm>
            <a:off x="0" y="1189080"/>
            <a:ext cx="10079280" cy="22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Una clase hereda de su padre todos los atributos y métodos públicos y protegidos.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Los constructores no son heredados pero pueden invocarse.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Los métodos y atributos privados no se heredan.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Si la subclase esta en el mismo paquete que la clase padre, también se heredan los                   miembros default.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9" name="" descr=""/>
          <p:cNvPicPr/>
          <p:nvPr/>
        </p:nvPicPr>
        <p:blipFill>
          <a:blip r:embed="rId1"/>
          <a:stretch/>
        </p:blipFill>
        <p:spPr>
          <a:xfrm>
            <a:off x="1872000" y="3528000"/>
            <a:ext cx="3268800" cy="2648880"/>
          </a:xfrm>
          <a:prstGeom prst="rect">
            <a:avLst/>
          </a:prstGeom>
          <a:ln w="0">
            <a:noFill/>
          </a:ln>
        </p:spPr>
      </p:pic>
      <p:sp>
        <p:nvSpPr>
          <p:cNvPr id="150" name="CustomShape 5"/>
          <p:cNvSpPr/>
          <p:nvPr/>
        </p:nvSpPr>
        <p:spPr>
          <a:xfrm>
            <a:off x="4500000" y="3888000"/>
            <a:ext cx="719280" cy="359280"/>
          </a:xfrm>
          <a:custGeom>
            <a:avLst/>
            <a:gdLst>
              <a:gd name="textAreaLeft" fmla="*/ 0 w 719280"/>
              <a:gd name="textAreaRight" fmla="*/ 719640 w 719280"/>
              <a:gd name="textAreaTop" fmla="*/ 0 h 359280"/>
              <a:gd name="textAreaBottom" fmla="*/ 359640 h 359280"/>
            </a:gdLst>
            <a:ahLst/>
            <a:rect l="textAreaLeft" t="textAreaTop" r="textAreaRight" b="textAreaBottom"/>
            <a:pathLst>
              <a:path w="2002" h="1002">
                <a:moveTo>
                  <a:pt x="0" y="250"/>
                </a:moveTo>
                <a:lnTo>
                  <a:pt x="1500" y="250"/>
                </a:lnTo>
                <a:lnTo>
                  <a:pt x="1500" y="0"/>
                </a:lnTo>
                <a:lnTo>
                  <a:pt x="2001" y="500"/>
                </a:lnTo>
                <a:lnTo>
                  <a:pt x="1500" y="1001"/>
                </a:lnTo>
                <a:lnTo>
                  <a:pt x="1500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CustomShape 6"/>
          <p:cNvSpPr/>
          <p:nvPr/>
        </p:nvSpPr>
        <p:spPr>
          <a:xfrm>
            <a:off x="5364000" y="5292000"/>
            <a:ext cx="719280" cy="359280"/>
          </a:xfrm>
          <a:custGeom>
            <a:avLst/>
            <a:gdLst>
              <a:gd name="textAreaLeft" fmla="*/ 0 w 719280"/>
              <a:gd name="textAreaRight" fmla="*/ 719640 w 719280"/>
              <a:gd name="textAreaTop" fmla="*/ 0 h 359280"/>
              <a:gd name="textAreaBottom" fmla="*/ 359640 h 359280"/>
            </a:gdLst>
            <a:ahLst/>
            <a:rect l="textAreaLeft" t="textAreaTop" r="textAreaRight" b="textAreaBottom"/>
            <a:pathLst>
              <a:path w="2002" h="1002">
                <a:moveTo>
                  <a:pt x="0" y="250"/>
                </a:moveTo>
                <a:lnTo>
                  <a:pt x="1500" y="250"/>
                </a:lnTo>
                <a:lnTo>
                  <a:pt x="1500" y="0"/>
                </a:lnTo>
                <a:lnTo>
                  <a:pt x="2001" y="500"/>
                </a:lnTo>
                <a:lnTo>
                  <a:pt x="1500" y="1001"/>
                </a:lnTo>
                <a:lnTo>
                  <a:pt x="1500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CustomShape 7"/>
          <p:cNvSpPr/>
          <p:nvPr/>
        </p:nvSpPr>
        <p:spPr>
          <a:xfrm>
            <a:off x="5580000" y="3708000"/>
            <a:ext cx="1439280" cy="71928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AR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Superclase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CustomShape 8"/>
          <p:cNvSpPr/>
          <p:nvPr/>
        </p:nvSpPr>
        <p:spPr>
          <a:xfrm>
            <a:off x="6480000" y="5148000"/>
            <a:ext cx="1439280" cy="71928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AR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Subclases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  <p:timing>
    <p:tnLst>
      <p:par>
        <p:cTn id="31" dur="indefinite" restart="never" nodeType="tmRoot">
          <p:childTnLst>
            <p:seq>
              <p:cTn id="32" dur="indefinite" nodeType="mainSeq">
                <p:childTnLst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3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4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45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48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CustomShape 2"/>
          <p:cNvSpPr/>
          <p:nvPr/>
        </p:nvSpPr>
        <p:spPr>
          <a:xfrm>
            <a:off x="2880" y="1045080"/>
            <a:ext cx="10080000" cy="413640"/>
          </a:xfrm>
          <a:custGeom>
            <a:avLst/>
            <a:gdLst>
              <a:gd name="textAreaLeft" fmla="*/ 0 w 10080000"/>
              <a:gd name="textAreaRight" fmla="*/ 10080360 w 10080000"/>
              <a:gd name="textAreaTop" fmla="*/ 0 h 413640"/>
              <a:gd name="textAreaBottom" fmla="*/ 414000 h 4136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s-AR" sz="2200" spc="-1" strike="noStrike">
                <a:solidFill>
                  <a:srgbClr val="ffffff"/>
                </a:solidFill>
                <a:latin typeface="DejaVu Sans"/>
                <a:ea typeface="DejaVu Sans"/>
              </a:rPr>
              <a:t>Clase 4: Herencia, polimorfismo y sobrecarga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CustomShape 3"/>
          <p:cNvSpPr/>
          <p:nvPr/>
        </p:nvSpPr>
        <p:spPr>
          <a:xfrm>
            <a:off x="182160" y="785520"/>
            <a:ext cx="971928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Herencia en Java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CustomShape 4"/>
          <p:cNvSpPr/>
          <p:nvPr/>
        </p:nvSpPr>
        <p:spPr>
          <a:xfrm>
            <a:off x="0" y="1549440"/>
            <a:ext cx="10079280" cy="14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Para representar la herencia utilizaremos la palabra clave </a:t>
            </a:r>
            <a:r>
              <a:rPr b="0" i="1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extends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Java no soporta la herencia múltiple.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Si no especificamos herencia, todo extiende de la clase </a:t>
            </a:r>
            <a:r>
              <a:rPr b="0" i="1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Object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6300000" y="5362560"/>
            <a:ext cx="3599280" cy="1224720"/>
          </a:xfrm>
          <a:prstGeom prst="rect">
            <a:avLst/>
          </a:prstGeom>
          <a:ln w="0">
            <a:noFill/>
          </a:ln>
        </p:spPr>
      </p:pic>
      <p:pic>
        <p:nvPicPr>
          <p:cNvPr id="158" name="" descr=""/>
          <p:cNvPicPr/>
          <p:nvPr/>
        </p:nvPicPr>
        <p:blipFill>
          <a:blip r:embed="rId2"/>
          <a:stretch/>
        </p:blipFill>
        <p:spPr>
          <a:xfrm>
            <a:off x="381960" y="5328000"/>
            <a:ext cx="3577320" cy="1100880"/>
          </a:xfrm>
          <a:prstGeom prst="rect">
            <a:avLst/>
          </a:prstGeom>
          <a:ln w="0">
            <a:noFill/>
          </a:ln>
        </p:spPr>
      </p:pic>
      <p:pic>
        <p:nvPicPr>
          <p:cNvPr id="159" name="" descr=""/>
          <p:cNvPicPr/>
          <p:nvPr/>
        </p:nvPicPr>
        <p:blipFill>
          <a:blip r:embed="rId3"/>
          <a:stretch/>
        </p:blipFill>
        <p:spPr>
          <a:xfrm>
            <a:off x="3657240" y="3348000"/>
            <a:ext cx="2282040" cy="899280"/>
          </a:xfrm>
          <a:prstGeom prst="rect">
            <a:avLst/>
          </a:prstGeom>
          <a:ln w="0">
            <a:noFill/>
          </a:ln>
        </p:spPr>
      </p:pic>
      <p:sp>
        <p:nvSpPr>
          <p:cNvPr id="160" name="CustomShape 5"/>
          <p:cNvSpPr/>
          <p:nvPr/>
        </p:nvSpPr>
        <p:spPr>
          <a:xfrm rot="18057600">
            <a:off x="3823920" y="4433760"/>
            <a:ext cx="970560" cy="359280"/>
          </a:xfrm>
          <a:custGeom>
            <a:avLst/>
            <a:gdLst>
              <a:gd name="textAreaLeft" fmla="*/ 0 w 970560"/>
              <a:gd name="textAreaRight" fmla="*/ 970920 w 970560"/>
              <a:gd name="textAreaTop" fmla="*/ 0 h 359280"/>
              <a:gd name="textAreaBottom" fmla="*/ 359640 h 359280"/>
            </a:gdLst>
            <a:ahLst/>
            <a:rect l="textAreaLeft" t="textAreaTop" r="textAreaRight" b="textAreaBottom"/>
            <a:pathLst>
              <a:path w="2700" h="1002">
                <a:moveTo>
                  <a:pt x="0" y="501"/>
                </a:moveTo>
                <a:lnTo>
                  <a:pt x="2003" y="499"/>
                </a:lnTo>
                <a:lnTo>
                  <a:pt x="2003" y="0"/>
                </a:lnTo>
                <a:lnTo>
                  <a:pt x="2699" y="499"/>
                </a:lnTo>
                <a:lnTo>
                  <a:pt x="2003" y="1001"/>
                </a:lnTo>
                <a:lnTo>
                  <a:pt x="2003" y="499"/>
                </a:lnTo>
                <a:lnTo>
                  <a:pt x="0" y="501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CustomShape 6"/>
          <p:cNvSpPr/>
          <p:nvPr/>
        </p:nvSpPr>
        <p:spPr>
          <a:xfrm rot="13825200">
            <a:off x="5005800" y="4479120"/>
            <a:ext cx="970560" cy="359280"/>
          </a:xfrm>
          <a:custGeom>
            <a:avLst/>
            <a:gdLst>
              <a:gd name="textAreaLeft" fmla="*/ 0 w 970560"/>
              <a:gd name="textAreaRight" fmla="*/ 970920 w 970560"/>
              <a:gd name="textAreaTop" fmla="*/ 0 h 359280"/>
              <a:gd name="textAreaBottom" fmla="*/ 359640 h 359280"/>
            </a:gdLst>
            <a:ahLst/>
            <a:rect l="textAreaLeft" t="textAreaTop" r="textAreaRight" b="textAreaBottom"/>
            <a:pathLst>
              <a:path w="2700" h="1002">
                <a:moveTo>
                  <a:pt x="0" y="503"/>
                </a:moveTo>
                <a:lnTo>
                  <a:pt x="2004" y="500"/>
                </a:lnTo>
                <a:lnTo>
                  <a:pt x="2002" y="0"/>
                </a:lnTo>
                <a:lnTo>
                  <a:pt x="2699" y="499"/>
                </a:lnTo>
                <a:lnTo>
                  <a:pt x="2004" y="1001"/>
                </a:lnTo>
                <a:lnTo>
                  <a:pt x="2004" y="500"/>
                </a:lnTo>
                <a:lnTo>
                  <a:pt x="0" y="503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CustomShape 2"/>
          <p:cNvSpPr/>
          <p:nvPr/>
        </p:nvSpPr>
        <p:spPr>
          <a:xfrm>
            <a:off x="3240" y="253080"/>
            <a:ext cx="10080000" cy="413640"/>
          </a:xfrm>
          <a:custGeom>
            <a:avLst/>
            <a:gdLst>
              <a:gd name="textAreaLeft" fmla="*/ 0 w 10080000"/>
              <a:gd name="textAreaRight" fmla="*/ 10080360 w 10080000"/>
              <a:gd name="textAreaTop" fmla="*/ 0 h 413640"/>
              <a:gd name="textAreaBottom" fmla="*/ 414000 h 4136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s-AR" sz="2200" spc="-1" strike="noStrike">
                <a:solidFill>
                  <a:srgbClr val="ffffff"/>
                </a:solidFill>
                <a:latin typeface="DejaVu Sans"/>
                <a:ea typeface="DejaVu Sans"/>
              </a:rPr>
              <a:t>Clase 4: Herencia, polimorfismo y sobrecarga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CustomShape 3"/>
          <p:cNvSpPr/>
          <p:nvPr/>
        </p:nvSpPr>
        <p:spPr>
          <a:xfrm>
            <a:off x="182520" y="785520"/>
            <a:ext cx="971928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La clase Object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CustomShape 4"/>
          <p:cNvSpPr/>
          <p:nvPr/>
        </p:nvSpPr>
        <p:spPr>
          <a:xfrm>
            <a:off x="0" y="1549440"/>
            <a:ext cx="10079280" cy="19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Es la clase padre de toda clase en Java.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Toda clase hereda implícitamente de ella.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Provee métodos muy útiles para sobreescribir.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Si una clase extiende directamente de ella no es necesario especificarlo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5" name="" descr=""/>
          <p:cNvPicPr/>
          <p:nvPr/>
        </p:nvPicPr>
        <p:blipFill>
          <a:blip r:embed="rId1"/>
          <a:stretch/>
        </p:blipFill>
        <p:spPr>
          <a:xfrm>
            <a:off x="2553840" y="3708000"/>
            <a:ext cx="4825440" cy="2879280"/>
          </a:xfrm>
          <a:prstGeom prst="rect">
            <a:avLst/>
          </a:prstGeom>
          <a:ln w="0">
            <a:noFill/>
          </a:ln>
        </p:spPr>
      </p:pic>
    </p:spTree>
  </p:cSld>
  <p:transition spd="med">
    <p:wipe dir="d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CustomShape 2"/>
          <p:cNvSpPr/>
          <p:nvPr/>
        </p:nvSpPr>
        <p:spPr>
          <a:xfrm>
            <a:off x="3600" y="1045080"/>
            <a:ext cx="10080000" cy="413640"/>
          </a:xfrm>
          <a:custGeom>
            <a:avLst/>
            <a:gdLst>
              <a:gd name="textAreaLeft" fmla="*/ 0 w 10080000"/>
              <a:gd name="textAreaRight" fmla="*/ 10080360 w 10080000"/>
              <a:gd name="textAreaTop" fmla="*/ 0 h 413640"/>
              <a:gd name="textAreaBottom" fmla="*/ 414000 h 4136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s-AR" sz="2200" spc="-1" strike="noStrike">
                <a:solidFill>
                  <a:srgbClr val="ffffff"/>
                </a:solidFill>
                <a:latin typeface="DejaVu Sans"/>
                <a:ea typeface="DejaVu Sans"/>
              </a:rPr>
              <a:t>Clase 4: Herencia, polimorfismo y sobrecarga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CustomShape 3"/>
          <p:cNvSpPr/>
          <p:nvPr/>
        </p:nvSpPr>
        <p:spPr>
          <a:xfrm>
            <a:off x="182880" y="929520"/>
            <a:ext cx="971928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Métodos de la clase Object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8" name="" descr=""/>
          <p:cNvPicPr/>
          <p:nvPr/>
        </p:nvPicPr>
        <p:blipFill>
          <a:blip r:embed="rId1"/>
          <a:stretch/>
        </p:blipFill>
        <p:spPr>
          <a:xfrm>
            <a:off x="360000" y="1512000"/>
            <a:ext cx="5399280" cy="5219280"/>
          </a:xfrm>
          <a:prstGeom prst="rect">
            <a:avLst/>
          </a:prstGeom>
          <a:ln w="0">
            <a:noFill/>
          </a:ln>
        </p:spPr>
      </p:pic>
      <p:sp>
        <p:nvSpPr>
          <p:cNvPr id="169" name="CustomShape 4"/>
          <p:cNvSpPr/>
          <p:nvPr/>
        </p:nvSpPr>
        <p:spPr>
          <a:xfrm>
            <a:off x="5940000" y="1872000"/>
            <a:ext cx="719280" cy="359280"/>
          </a:xfrm>
          <a:custGeom>
            <a:avLst/>
            <a:gdLst>
              <a:gd name="textAreaLeft" fmla="*/ 0 w 719280"/>
              <a:gd name="textAreaRight" fmla="*/ 719640 w 719280"/>
              <a:gd name="textAreaTop" fmla="*/ 0 h 359280"/>
              <a:gd name="textAreaBottom" fmla="*/ 359640 h 359280"/>
            </a:gdLst>
            <a:ahLst/>
            <a:rect l="textAreaLeft" t="textAreaTop" r="textAreaRight" b="textAreaBottom"/>
            <a:pathLst>
              <a:path w="2002" h="1002">
                <a:moveTo>
                  <a:pt x="0" y="250"/>
                </a:moveTo>
                <a:lnTo>
                  <a:pt x="1500" y="250"/>
                </a:lnTo>
                <a:lnTo>
                  <a:pt x="1500" y="0"/>
                </a:lnTo>
                <a:lnTo>
                  <a:pt x="2001" y="500"/>
                </a:lnTo>
                <a:lnTo>
                  <a:pt x="1500" y="1001"/>
                </a:lnTo>
                <a:lnTo>
                  <a:pt x="1500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CustomShape 5"/>
          <p:cNvSpPr/>
          <p:nvPr/>
        </p:nvSpPr>
        <p:spPr>
          <a:xfrm>
            <a:off x="6840000" y="1728000"/>
            <a:ext cx="305928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Crear y retornar una copia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del objeto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CustomShape 6"/>
          <p:cNvSpPr/>
          <p:nvPr/>
        </p:nvSpPr>
        <p:spPr>
          <a:xfrm>
            <a:off x="5940000" y="2844360"/>
            <a:ext cx="719280" cy="359280"/>
          </a:xfrm>
          <a:custGeom>
            <a:avLst/>
            <a:gdLst>
              <a:gd name="textAreaLeft" fmla="*/ 0 w 719280"/>
              <a:gd name="textAreaRight" fmla="*/ 719640 w 719280"/>
              <a:gd name="textAreaTop" fmla="*/ 0 h 359280"/>
              <a:gd name="textAreaBottom" fmla="*/ 359640 h 359280"/>
            </a:gdLst>
            <a:ahLst/>
            <a:rect l="textAreaLeft" t="textAreaTop" r="textAreaRight" b="textAreaBottom"/>
            <a:pathLst>
              <a:path w="2002" h="1002">
                <a:moveTo>
                  <a:pt x="0" y="250"/>
                </a:moveTo>
                <a:lnTo>
                  <a:pt x="1500" y="250"/>
                </a:lnTo>
                <a:lnTo>
                  <a:pt x="1500" y="0"/>
                </a:lnTo>
                <a:lnTo>
                  <a:pt x="2001" y="500"/>
                </a:lnTo>
                <a:lnTo>
                  <a:pt x="1500" y="1001"/>
                </a:lnTo>
                <a:lnTo>
                  <a:pt x="1500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CustomShape 7"/>
          <p:cNvSpPr/>
          <p:nvPr/>
        </p:nvSpPr>
        <p:spPr>
          <a:xfrm>
            <a:off x="6840000" y="2736360"/>
            <a:ext cx="305928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Definir cuando dos objetos son iguales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CustomShape 8"/>
          <p:cNvSpPr/>
          <p:nvPr/>
        </p:nvSpPr>
        <p:spPr>
          <a:xfrm>
            <a:off x="5940000" y="3924720"/>
            <a:ext cx="719280" cy="359280"/>
          </a:xfrm>
          <a:custGeom>
            <a:avLst/>
            <a:gdLst>
              <a:gd name="textAreaLeft" fmla="*/ 0 w 719280"/>
              <a:gd name="textAreaRight" fmla="*/ 719640 w 719280"/>
              <a:gd name="textAreaTop" fmla="*/ 0 h 359280"/>
              <a:gd name="textAreaBottom" fmla="*/ 359640 h 359280"/>
            </a:gdLst>
            <a:ahLst/>
            <a:rect l="textAreaLeft" t="textAreaTop" r="textAreaRight" b="textAreaBottom"/>
            <a:pathLst>
              <a:path w="2002" h="1002">
                <a:moveTo>
                  <a:pt x="0" y="250"/>
                </a:moveTo>
                <a:lnTo>
                  <a:pt x="1500" y="250"/>
                </a:lnTo>
                <a:lnTo>
                  <a:pt x="1500" y="0"/>
                </a:lnTo>
                <a:lnTo>
                  <a:pt x="2001" y="500"/>
                </a:lnTo>
                <a:lnTo>
                  <a:pt x="1500" y="1001"/>
                </a:lnTo>
                <a:lnTo>
                  <a:pt x="1500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CustomShape 9"/>
          <p:cNvSpPr/>
          <p:nvPr/>
        </p:nvSpPr>
        <p:spPr>
          <a:xfrm>
            <a:off x="6840000" y="3744720"/>
            <a:ext cx="3059280" cy="88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Invocado por el recolector de basura cuando se libera la memoria del objeto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CustomShape 10"/>
          <p:cNvSpPr/>
          <p:nvPr/>
        </p:nvSpPr>
        <p:spPr>
          <a:xfrm>
            <a:off x="5940000" y="5040720"/>
            <a:ext cx="719280" cy="359280"/>
          </a:xfrm>
          <a:custGeom>
            <a:avLst/>
            <a:gdLst>
              <a:gd name="textAreaLeft" fmla="*/ 0 w 719280"/>
              <a:gd name="textAreaRight" fmla="*/ 719640 w 719280"/>
              <a:gd name="textAreaTop" fmla="*/ 0 h 359280"/>
              <a:gd name="textAreaBottom" fmla="*/ 359640 h 359280"/>
            </a:gdLst>
            <a:ahLst/>
            <a:rect l="textAreaLeft" t="textAreaTop" r="textAreaRight" b="textAreaBottom"/>
            <a:pathLst>
              <a:path w="2002" h="1002">
                <a:moveTo>
                  <a:pt x="0" y="250"/>
                </a:moveTo>
                <a:lnTo>
                  <a:pt x="1500" y="250"/>
                </a:lnTo>
                <a:lnTo>
                  <a:pt x="1500" y="0"/>
                </a:lnTo>
                <a:lnTo>
                  <a:pt x="2001" y="500"/>
                </a:lnTo>
                <a:lnTo>
                  <a:pt x="1500" y="1001"/>
                </a:lnTo>
                <a:lnTo>
                  <a:pt x="1500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CustomShape 11"/>
          <p:cNvSpPr/>
          <p:nvPr/>
        </p:nvSpPr>
        <p:spPr>
          <a:xfrm>
            <a:off x="6840000" y="4932720"/>
            <a:ext cx="305928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Retorna un valor único que identifica a un objeto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CustomShape 12"/>
          <p:cNvSpPr/>
          <p:nvPr/>
        </p:nvSpPr>
        <p:spPr>
          <a:xfrm>
            <a:off x="5940000" y="6013080"/>
            <a:ext cx="719280" cy="359280"/>
          </a:xfrm>
          <a:custGeom>
            <a:avLst/>
            <a:gdLst>
              <a:gd name="textAreaLeft" fmla="*/ 0 w 719280"/>
              <a:gd name="textAreaRight" fmla="*/ 719640 w 719280"/>
              <a:gd name="textAreaTop" fmla="*/ 0 h 359280"/>
              <a:gd name="textAreaBottom" fmla="*/ 359640 h 359280"/>
            </a:gdLst>
            <a:ahLst/>
            <a:rect l="textAreaLeft" t="textAreaTop" r="textAreaRight" b="textAreaBottom"/>
            <a:pathLst>
              <a:path w="2002" h="1002">
                <a:moveTo>
                  <a:pt x="0" y="250"/>
                </a:moveTo>
                <a:lnTo>
                  <a:pt x="1500" y="250"/>
                </a:lnTo>
                <a:lnTo>
                  <a:pt x="1500" y="0"/>
                </a:lnTo>
                <a:lnTo>
                  <a:pt x="2001" y="500"/>
                </a:lnTo>
                <a:lnTo>
                  <a:pt x="1500" y="1001"/>
                </a:lnTo>
                <a:lnTo>
                  <a:pt x="1500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CustomShape 13"/>
          <p:cNvSpPr/>
          <p:nvPr/>
        </p:nvSpPr>
        <p:spPr>
          <a:xfrm>
            <a:off x="6840000" y="5905080"/>
            <a:ext cx="305928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Retorna la representación en String de un objeto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  <p:timing>
    <p:tnLst>
      <p:par>
        <p:cTn id="49" dur="indefinite" restart="never" nodeType="tmRoot">
          <p:childTnLst>
            <p:seq>
              <p:cTn id="50" dur="indefinite" nodeType="mainSeq">
                <p:childTnLst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55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58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63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66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71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74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79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8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8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90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CustomShape 2"/>
          <p:cNvSpPr/>
          <p:nvPr/>
        </p:nvSpPr>
        <p:spPr>
          <a:xfrm>
            <a:off x="3960" y="1045080"/>
            <a:ext cx="10080000" cy="413640"/>
          </a:xfrm>
          <a:custGeom>
            <a:avLst/>
            <a:gdLst>
              <a:gd name="textAreaLeft" fmla="*/ 0 w 10080000"/>
              <a:gd name="textAreaRight" fmla="*/ 10080360 w 10080000"/>
              <a:gd name="textAreaTop" fmla="*/ 0 h 413640"/>
              <a:gd name="textAreaBottom" fmla="*/ 414000 h 4136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s-AR" sz="2200" spc="-1" strike="noStrike">
                <a:solidFill>
                  <a:srgbClr val="ffffff"/>
                </a:solidFill>
                <a:latin typeface="DejaVu Sans"/>
                <a:ea typeface="DejaVu Sans"/>
              </a:rPr>
              <a:t>Clase 4: Herencia, polimorfismo y sobrecarga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CustomShape 3"/>
          <p:cNvSpPr/>
          <p:nvPr/>
        </p:nvSpPr>
        <p:spPr>
          <a:xfrm>
            <a:off x="183240" y="893520"/>
            <a:ext cx="971928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Métodos de la clase Object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CustomShape 4"/>
          <p:cNvSpPr/>
          <p:nvPr/>
        </p:nvSpPr>
        <p:spPr>
          <a:xfrm>
            <a:off x="227880" y="1479960"/>
            <a:ext cx="445140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Un ejemplo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1"/>
          <a:stretch/>
        </p:blipFill>
        <p:spPr>
          <a:xfrm>
            <a:off x="360000" y="2077920"/>
            <a:ext cx="4007160" cy="3357360"/>
          </a:xfrm>
          <a:prstGeom prst="rect">
            <a:avLst/>
          </a:prstGeom>
          <a:ln w="0">
            <a:noFill/>
          </a:ln>
        </p:spPr>
      </p:pic>
      <p:pic>
        <p:nvPicPr>
          <p:cNvPr id="183" name="" descr=""/>
          <p:cNvPicPr/>
          <p:nvPr/>
        </p:nvPicPr>
        <p:blipFill>
          <a:blip r:embed="rId2"/>
          <a:stretch/>
        </p:blipFill>
        <p:spPr>
          <a:xfrm>
            <a:off x="5220000" y="2016000"/>
            <a:ext cx="4682160" cy="2777400"/>
          </a:xfrm>
          <a:prstGeom prst="rect">
            <a:avLst/>
          </a:prstGeom>
          <a:ln w="0">
            <a:noFill/>
          </a:ln>
        </p:spPr>
      </p:pic>
      <p:sp>
        <p:nvSpPr>
          <p:cNvPr id="184" name="CustomShape 5"/>
          <p:cNvSpPr/>
          <p:nvPr/>
        </p:nvSpPr>
        <p:spPr>
          <a:xfrm>
            <a:off x="540000" y="5616000"/>
            <a:ext cx="4319280" cy="71928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AR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Sobrecargamos el método </a:t>
            </a:r>
            <a:r>
              <a:rPr b="1" i="1" lang="es-AR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toString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CustomShape 6"/>
          <p:cNvSpPr/>
          <p:nvPr/>
        </p:nvSpPr>
        <p:spPr>
          <a:xfrm>
            <a:off x="5364000" y="5616000"/>
            <a:ext cx="4643280" cy="71928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AR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Utilizamos una referencia como String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  <p:timing>
    <p:tnLst>
      <p:par>
        <p:cTn id="91" dur="indefinite" restart="never" nodeType="tmRoot">
          <p:childTnLst>
            <p:seq>
              <p:cTn id="92" dur="indefinite" nodeType="mainSeq">
                <p:childTnLst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97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02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CustomShape 2"/>
          <p:cNvSpPr/>
          <p:nvPr/>
        </p:nvSpPr>
        <p:spPr>
          <a:xfrm>
            <a:off x="4320" y="217080"/>
            <a:ext cx="10080000" cy="413640"/>
          </a:xfrm>
          <a:custGeom>
            <a:avLst/>
            <a:gdLst>
              <a:gd name="textAreaLeft" fmla="*/ 0 w 10080000"/>
              <a:gd name="textAreaRight" fmla="*/ 10080360 w 10080000"/>
              <a:gd name="textAreaTop" fmla="*/ 0 h 413640"/>
              <a:gd name="textAreaBottom" fmla="*/ 414000 h 4136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s-AR" sz="2200" spc="-1" strike="noStrike">
                <a:solidFill>
                  <a:srgbClr val="ffffff"/>
                </a:solidFill>
                <a:latin typeface="DejaVu Sans"/>
                <a:ea typeface="DejaVu Sans"/>
              </a:rPr>
              <a:t>Clase 4: Herencia, polimorfismo y sobrecarga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CustomShape 3"/>
          <p:cNvSpPr/>
          <p:nvPr/>
        </p:nvSpPr>
        <p:spPr>
          <a:xfrm>
            <a:off x="183600" y="749520"/>
            <a:ext cx="971928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Sobreescritura de métodos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CustomShape 4"/>
          <p:cNvSpPr/>
          <p:nvPr/>
        </p:nvSpPr>
        <p:spPr>
          <a:xfrm>
            <a:off x="0" y="1513440"/>
            <a:ext cx="10079280" cy="22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Se da en el contexto de relaciones de herencia.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Consiste en reescribir la implementación de un método de </a:t>
            </a:r>
            <a:r>
              <a:rPr b="0" i="1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instancia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, con su mismo nombre y    argumentos (</a:t>
            </a:r>
            <a:r>
              <a:rPr b="0" i="1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firma del método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).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Sólo pueden sobreescribirse los métodos no declarados como </a:t>
            </a:r>
            <a:r>
              <a:rPr b="0" i="1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final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Si una clase hija sobreescribe un método de su clase padre, entonces ocultará al mismo.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9" name="" descr=""/>
          <p:cNvPicPr/>
          <p:nvPr/>
        </p:nvPicPr>
        <p:blipFill>
          <a:blip r:embed="rId1"/>
          <a:stretch/>
        </p:blipFill>
        <p:spPr>
          <a:xfrm>
            <a:off x="1008000" y="3852000"/>
            <a:ext cx="3239280" cy="2699280"/>
          </a:xfrm>
          <a:prstGeom prst="rect">
            <a:avLst/>
          </a:prstGeom>
          <a:ln w="0">
            <a:noFill/>
          </a:ln>
        </p:spPr>
      </p:pic>
      <p:sp>
        <p:nvSpPr>
          <p:cNvPr id="190" name="CustomShape 5"/>
          <p:cNvSpPr/>
          <p:nvPr/>
        </p:nvSpPr>
        <p:spPr>
          <a:xfrm>
            <a:off x="5040000" y="4572000"/>
            <a:ext cx="4139280" cy="89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Dinámicamente la JVM determina a que método llamar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  <p:timing>
    <p:tnLst>
      <p:par>
        <p:cTn id="103" dur="indefinite" restart="never" nodeType="tmRoot">
          <p:childTnLst>
            <p:seq>
              <p:cTn id="104" dur="indefinite" nodeType="mainSeq">
                <p:childTnLst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09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CustomShape 2"/>
          <p:cNvSpPr/>
          <p:nvPr/>
        </p:nvSpPr>
        <p:spPr>
          <a:xfrm>
            <a:off x="4680" y="325080"/>
            <a:ext cx="10080000" cy="413640"/>
          </a:xfrm>
          <a:custGeom>
            <a:avLst/>
            <a:gdLst>
              <a:gd name="textAreaLeft" fmla="*/ 0 w 10080000"/>
              <a:gd name="textAreaRight" fmla="*/ 10080360 w 10080000"/>
              <a:gd name="textAreaTop" fmla="*/ 0 h 413640"/>
              <a:gd name="textAreaBottom" fmla="*/ 414000 h 4136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s-AR" sz="2200" spc="-1" strike="noStrike">
                <a:solidFill>
                  <a:srgbClr val="ffffff"/>
                </a:solidFill>
                <a:latin typeface="DejaVu Sans"/>
                <a:ea typeface="DejaVu Sans"/>
              </a:rPr>
              <a:t>Clase 4: Herencia, polimorfismo y sobrecarga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CustomShape 3"/>
          <p:cNvSpPr/>
          <p:nvPr/>
        </p:nvSpPr>
        <p:spPr>
          <a:xfrm>
            <a:off x="183960" y="857520"/>
            <a:ext cx="971928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Sobreescritura de métodos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CustomShape 4"/>
          <p:cNvSpPr/>
          <p:nvPr/>
        </p:nvSpPr>
        <p:spPr>
          <a:xfrm>
            <a:off x="228240" y="1444320"/>
            <a:ext cx="445140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Un ejemplo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4" name="" descr=""/>
          <p:cNvPicPr/>
          <p:nvPr/>
        </p:nvPicPr>
        <p:blipFill>
          <a:blip r:embed="rId1"/>
          <a:stretch/>
        </p:blipFill>
        <p:spPr>
          <a:xfrm>
            <a:off x="5385600" y="1611720"/>
            <a:ext cx="4513680" cy="1627560"/>
          </a:xfrm>
          <a:prstGeom prst="rect">
            <a:avLst/>
          </a:prstGeom>
          <a:ln w="0">
            <a:noFill/>
          </a:ln>
        </p:spPr>
      </p:pic>
      <p:pic>
        <p:nvPicPr>
          <p:cNvPr id="195" name="" descr=""/>
          <p:cNvPicPr/>
          <p:nvPr/>
        </p:nvPicPr>
        <p:blipFill>
          <a:blip r:embed="rId2"/>
          <a:stretch/>
        </p:blipFill>
        <p:spPr>
          <a:xfrm>
            <a:off x="5433120" y="4484160"/>
            <a:ext cx="4466160" cy="1599120"/>
          </a:xfrm>
          <a:prstGeom prst="rect">
            <a:avLst/>
          </a:prstGeom>
          <a:ln w="0">
            <a:noFill/>
          </a:ln>
        </p:spPr>
      </p:pic>
      <p:pic>
        <p:nvPicPr>
          <p:cNvPr id="196" name="" descr=""/>
          <p:cNvPicPr/>
          <p:nvPr/>
        </p:nvPicPr>
        <p:blipFill>
          <a:blip r:embed="rId3"/>
          <a:stretch/>
        </p:blipFill>
        <p:spPr>
          <a:xfrm>
            <a:off x="291240" y="2160000"/>
            <a:ext cx="4028040" cy="3103920"/>
          </a:xfrm>
          <a:prstGeom prst="rect">
            <a:avLst/>
          </a:prstGeom>
          <a:ln w="0">
            <a:noFill/>
          </a:ln>
        </p:spPr>
      </p:pic>
      <p:sp>
        <p:nvSpPr>
          <p:cNvPr id="197" name="CustomShape 5"/>
          <p:cNvSpPr/>
          <p:nvPr/>
        </p:nvSpPr>
        <p:spPr>
          <a:xfrm rot="16137600">
            <a:off x="6665400" y="3597480"/>
            <a:ext cx="719280" cy="359280"/>
          </a:xfrm>
          <a:custGeom>
            <a:avLst/>
            <a:gdLst>
              <a:gd name="textAreaLeft" fmla="*/ 0 w 719280"/>
              <a:gd name="textAreaRight" fmla="*/ 719640 w 719280"/>
              <a:gd name="textAreaTop" fmla="*/ 0 h 359280"/>
              <a:gd name="textAreaBottom" fmla="*/ 359640 h 359280"/>
            </a:gdLst>
            <a:ahLst/>
            <a:rect l="textAreaLeft" t="textAreaTop" r="textAreaRight" b="textAreaBottom"/>
            <a:pathLst>
              <a:path w="2002" h="1002">
                <a:moveTo>
                  <a:pt x="0" y="251"/>
                </a:moveTo>
                <a:lnTo>
                  <a:pt x="1500" y="250"/>
                </a:lnTo>
                <a:lnTo>
                  <a:pt x="1500" y="0"/>
                </a:lnTo>
                <a:lnTo>
                  <a:pt x="2001" y="500"/>
                </a:lnTo>
                <a:lnTo>
                  <a:pt x="1501" y="1001"/>
                </a:lnTo>
                <a:lnTo>
                  <a:pt x="1500" y="750"/>
                </a:lnTo>
                <a:lnTo>
                  <a:pt x="1" y="751"/>
                </a:lnTo>
                <a:lnTo>
                  <a:pt x="0" y="251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CustomShape 6"/>
          <p:cNvSpPr/>
          <p:nvPr/>
        </p:nvSpPr>
        <p:spPr>
          <a:xfrm>
            <a:off x="252000" y="5364000"/>
            <a:ext cx="2699280" cy="35928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AR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Animal.metodoClase()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CustomShape 7"/>
          <p:cNvSpPr/>
          <p:nvPr/>
        </p:nvSpPr>
        <p:spPr>
          <a:xfrm>
            <a:off x="252000" y="6012000"/>
            <a:ext cx="3527280" cy="35928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AR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miAnimal.metodoInstancia()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  <p:timing>
    <p:tnLst>
      <p:par>
        <p:cTn id="110" dur="indefinite" restart="never" nodeType="tmRoot">
          <p:childTnLst>
            <p:seq>
              <p:cTn id="111" dur="indefinite" nodeType="mainSeq">
                <p:childTnLst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16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21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24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CustomShape 3"/>
          <p:cNvSpPr/>
          <p:nvPr/>
        </p:nvSpPr>
        <p:spPr>
          <a:xfrm>
            <a:off x="184320" y="461520"/>
            <a:ext cx="971928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Sobreescritura de métodos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CustomShape 4"/>
          <p:cNvSpPr/>
          <p:nvPr/>
        </p:nvSpPr>
        <p:spPr>
          <a:xfrm>
            <a:off x="0" y="1369800"/>
            <a:ext cx="10079280" cy="19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La lista de argumentos debe ser idéntica en tipos y orden en ambos métodos.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Los modificadores de acceso no pueden ser más restrictivos en la clase padre que en la           subclase.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Obtendremos un error de compilación si intentamos cambiar un método de instancia en una    superclase a método de instancia en la subclase y viceversa.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2" name="" descr=""/>
          <p:cNvPicPr/>
          <p:nvPr/>
        </p:nvPicPr>
        <p:blipFill>
          <a:blip r:embed="rId1"/>
          <a:stretch/>
        </p:blipFill>
        <p:spPr>
          <a:xfrm>
            <a:off x="2589120" y="4054680"/>
            <a:ext cx="4790160" cy="2208600"/>
          </a:xfrm>
          <a:prstGeom prst="rect">
            <a:avLst/>
          </a:prstGeom>
          <a:ln w="0">
            <a:noFill/>
          </a:ln>
        </p:spPr>
      </p:pic>
    </p:spTree>
  </p:cSld>
  <p:transition spd="med">
    <p:wipe dir="d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CustomShape 2"/>
          <p:cNvSpPr/>
          <p:nvPr/>
        </p:nvSpPr>
        <p:spPr>
          <a:xfrm>
            <a:off x="5400" y="1045080"/>
            <a:ext cx="10080000" cy="413640"/>
          </a:xfrm>
          <a:custGeom>
            <a:avLst/>
            <a:gdLst>
              <a:gd name="textAreaLeft" fmla="*/ 0 w 10080000"/>
              <a:gd name="textAreaRight" fmla="*/ 10080360 w 10080000"/>
              <a:gd name="textAreaTop" fmla="*/ 0 h 413640"/>
              <a:gd name="textAreaBottom" fmla="*/ 414000 h 4136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s-AR" sz="2200" spc="-1" strike="noStrike">
                <a:solidFill>
                  <a:srgbClr val="ffffff"/>
                </a:solidFill>
                <a:latin typeface="DejaVu Sans"/>
                <a:ea typeface="DejaVu Sans"/>
              </a:rPr>
              <a:t>Clase 4: Herencia, polimorfismo y sobrecarga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CustomShape 3"/>
          <p:cNvSpPr/>
          <p:nvPr/>
        </p:nvSpPr>
        <p:spPr>
          <a:xfrm>
            <a:off x="184680" y="821520"/>
            <a:ext cx="971928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Sobrecarga de métodos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CustomShape 4"/>
          <p:cNvSpPr/>
          <p:nvPr/>
        </p:nvSpPr>
        <p:spPr>
          <a:xfrm>
            <a:off x="0" y="1585800"/>
            <a:ext cx="10079280" cy="19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Dos o más métodos definidos en la </a:t>
            </a:r>
            <a:r>
              <a:rPr b="0" i="1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misma clase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y con igual nombre pueden sobrecargarse.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Para ello es necesario que tengan el mismo nombre y tipo de retorno, pero </a:t>
            </a:r>
            <a:r>
              <a:rPr b="0" i="1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diferentes listas       de argumentos (en número o tipos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)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La JVM en tiempo real determina los parámetros con los cuales estamos invocando a un            método y selecciona el correspondiente.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6" name="" descr=""/>
          <p:cNvPicPr/>
          <p:nvPr/>
        </p:nvPicPr>
        <p:blipFill>
          <a:blip r:embed="rId1"/>
          <a:stretch/>
        </p:blipFill>
        <p:spPr>
          <a:xfrm>
            <a:off x="540000" y="3862080"/>
            <a:ext cx="3342240" cy="2761200"/>
          </a:xfrm>
          <a:prstGeom prst="rect">
            <a:avLst/>
          </a:prstGeom>
          <a:ln w="0">
            <a:noFill/>
          </a:ln>
        </p:spPr>
      </p:pic>
      <p:sp>
        <p:nvSpPr>
          <p:cNvPr id="207" name="CustomShape 5"/>
          <p:cNvSpPr/>
          <p:nvPr/>
        </p:nvSpPr>
        <p:spPr>
          <a:xfrm>
            <a:off x="3960000" y="4752000"/>
            <a:ext cx="719280" cy="359280"/>
          </a:xfrm>
          <a:custGeom>
            <a:avLst/>
            <a:gdLst>
              <a:gd name="textAreaLeft" fmla="*/ 0 w 719280"/>
              <a:gd name="textAreaRight" fmla="*/ 719640 w 719280"/>
              <a:gd name="textAreaTop" fmla="*/ 0 h 359280"/>
              <a:gd name="textAreaBottom" fmla="*/ 359640 h 359280"/>
            </a:gdLst>
            <a:ahLst/>
            <a:rect l="textAreaLeft" t="textAreaTop" r="textAreaRight" b="textAreaBottom"/>
            <a:pathLst>
              <a:path w="2002" h="1002">
                <a:moveTo>
                  <a:pt x="0" y="250"/>
                </a:moveTo>
                <a:lnTo>
                  <a:pt x="1500" y="250"/>
                </a:lnTo>
                <a:lnTo>
                  <a:pt x="1500" y="0"/>
                </a:lnTo>
                <a:lnTo>
                  <a:pt x="2001" y="500"/>
                </a:lnTo>
                <a:lnTo>
                  <a:pt x="1500" y="1001"/>
                </a:lnTo>
                <a:lnTo>
                  <a:pt x="1500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CustomShape 6"/>
          <p:cNvSpPr/>
          <p:nvPr/>
        </p:nvSpPr>
        <p:spPr>
          <a:xfrm>
            <a:off x="4860000" y="4644000"/>
            <a:ext cx="377928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Métodos con el mismo nombre, pero con distinta firma.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  <p:timing>
    <p:tnLst>
      <p:par>
        <p:cTn id="125" dur="indefinite" restart="never" nodeType="tmRoot">
          <p:childTnLst>
            <p:seq>
              <p:cTn id="126" dur="indefinite" nodeType="mainSeq">
                <p:childTnLst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31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34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CustomShape 2"/>
          <p:cNvSpPr/>
          <p:nvPr/>
        </p:nvSpPr>
        <p:spPr>
          <a:xfrm>
            <a:off x="5760" y="361080"/>
            <a:ext cx="10080000" cy="413640"/>
          </a:xfrm>
          <a:custGeom>
            <a:avLst/>
            <a:gdLst>
              <a:gd name="textAreaLeft" fmla="*/ 0 w 10080000"/>
              <a:gd name="textAreaRight" fmla="*/ 10080360 w 10080000"/>
              <a:gd name="textAreaTop" fmla="*/ 0 h 413640"/>
              <a:gd name="textAreaBottom" fmla="*/ 414000 h 4136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s-AR" sz="2200" spc="-1" strike="noStrike">
                <a:solidFill>
                  <a:srgbClr val="ffffff"/>
                </a:solidFill>
                <a:latin typeface="DejaVu Sans"/>
                <a:ea typeface="DejaVu Sans"/>
              </a:rPr>
              <a:t>Clase 4: Herencia, polimorfismo y sobrecarga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CustomShape 3"/>
          <p:cNvSpPr/>
          <p:nvPr/>
        </p:nvSpPr>
        <p:spPr>
          <a:xfrm>
            <a:off x="185040" y="893520"/>
            <a:ext cx="971928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Variable </a:t>
            </a:r>
            <a:r>
              <a:rPr b="1" i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super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CustomShape 4"/>
          <p:cNvSpPr/>
          <p:nvPr/>
        </p:nvSpPr>
        <p:spPr>
          <a:xfrm>
            <a:off x="0" y="1657800"/>
            <a:ext cx="10079280" cy="11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Utilizada durante la sobreescritura, para acceder a métodos o atributos de instancia de la         superclase ocultos para la subclase.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Referencia a miembros de la superclase de la clase dada.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CustomShape 5"/>
          <p:cNvSpPr/>
          <p:nvPr/>
        </p:nvSpPr>
        <p:spPr>
          <a:xfrm>
            <a:off x="540000" y="3456000"/>
            <a:ext cx="2339280" cy="71928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AR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Referencia </a:t>
            </a:r>
            <a:r>
              <a:rPr b="1" i="1" lang="es-AR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this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CustomShape 6"/>
          <p:cNvSpPr/>
          <p:nvPr/>
        </p:nvSpPr>
        <p:spPr>
          <a:xfrm>
            <a:off x="540000" y="5040000"/>
            <a:ext cx="2339280" cy="71928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AR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Referencia </a:t>
            </a:r>
            <a:r>
              <a:rPr b="1" i="1" lang="es-AR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super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CustomShape 7"/>
          <p:cNvSpPr/>
          <p:nvPr/>
        </p:nvSpPr>
        <p:spPr>
          <a:xfrm>
            <a:off x="3420000" y="3600000"/>
            <a:ext cx="719280" cy="359280"/>
          </a:xfrm>
          <a:custGeom>
            <a:avLst/>
            <a:gdLst>
              <a:gd name="textAreaLeft" fmla="*/ 0 w 719280"/>
              <a:gd name="textAreaRight" fmla="*/ 719640 w 719280"/>
              <a:gd name="textAreaTop" fmla="*/ 0 h 359280"/>
              <a:gd name="textAreaBottom" fmla="*/ 359640 h 359280"/>
            </a:gdLst>
            <a:ahLst/>
            <a:rect l="textAreaLeft" t="textAreaTop" r="textAreaRight" b="textAreaBottom"/>
            <a:pathLst>
              <a:path w="2002" h="1002">
                <a:moveTo>
                  <a:pt x="0" y="250"/>
                </a:moveTo>
                <a:lnTo>
                  <a:pt x="1500" y="250"/>
                </a:lnTo>
                <a:lnTo>
                  <a:pt x="1500" y="0"/>
                </a:lnTo>
                <a:lnTo>
                  <a:pt x="2001" y="500"/>
                </a:lnTo>
                <a:lnTo>
                  <a:pt x="1500" y="1001"/>
                </a:lnTo>
                <a:lnTo>
                  <a:pt x="1500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CustomShape 8"/>
          <p:cNvSpPr/>
          <p:nvPr/>
        </p:nvSpPr>
        <p:spPr>
          <a:xfrm>
            <a:off x="4320000" y="3600000"/>
            <a:ext cx="539928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Apunta a atributos y métodos de la </a:t>
            </a:r>
            <a:r>
              <a:rPr b="0" i="1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clase actual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CustomShape 9"/>
          <p:cNvSpPr/>
          <p:nvPr/>
        </p:nvSpPr>
        <p:spPr>
          <a:xfrm>
            <a:off x="3420000" y="5184000"/>
            <a:ext cx="719280" cy="359280"/>
          </a:xfrm>
          <a:custGeom>
            <a:avLst/>
            <a:gdLst>
              <a:gd name="textAreaLeft" fmla="*/ 0 w 719280"/>
              <a:gd name="textAreaRight" fmla="*/ 719640 w 719280"/>
              <a:gd name="textAreaTop" fmla="*/ 0 h 359280"/>
              <a:gd name="textAreaBottom" fmla="*/ 359640 h 359280"/>
            </a:gdLst>
            <a:ahLst/>
            <a:rect l="textAreaLeft" t="textAreaTop" r="textAreaRight" b="textAreaBottom"/>
            <a:pathLst>
              <a:path w="2002" h="1002">
                <a:moveTo>
                  <a:pt x="0" y="250"/>
                </a:moveTo>
                <a:lnTo>
                  <a:pt x="1500" y="250"/>
                </a:lnTo>
                <a:lnTo>
                  <a:pt x="1500" y="0"/>
                </a:lnTo>
                <a:lnTo>
                  <a:pt x="2001" y="500"/>
                </a:lnTo>
                <a:lnTo>
                  <a:pt x="1500" y="1001"/>
                </a:lnTo>
                <a:lnTo>
                  <a:pt x="1500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CustomShape 10"/>
          <p:cNvSpPr/>
          <p:nvPr/>
        </p:nvSpPr>
        <p:spPr>
          <a:xfrm>
            <a:off x="4320000" y="5184000"/>
            <a:ext cx="539928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Apunta a atributos y métodos de la </a:t>
            </a:r>
            <a:r>
              <a:rPr b="0" i="1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clase padre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  <p:timing>
    <p:tnLst>
      <p:par>
        <p:cTn id="135" dur="indefinite" restart="never" nodeType="tmRoot">
          <p:childTnLst>
            <p:seq>
              <p:cTn id="136" dur="indefinite" nodeType="mainSeq">
                <p:childTnLst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41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44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49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52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CustomShape 3"/>
          <p:cNvSpPr/>
          <p:nvPr/>
        </p:nvSpPr>
        <p:spPr>
          <a:xfrm>
            <a:off x="185400" y="713520"/>
            <a:ext cx="971928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Variable </a:t>
            </a:r>
            <a:r>
              <a:rPr b="1" i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super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CustomShape 4"/>
          <p:cNvSpPr/>
          <p:nvPr/>
        </p:nvSpPr>
        <p:spPr>
          <a:xfrm>
            <a:off x="228600" y="1300680"/>
            <a:ext cx="445140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Un ejemplo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0" name="" descr=""/>
          <p:cNvPicPr/>
          <p:nvPr/>
        </p:nvPicPr>
        <p:blipFill>
          <a:blip r:embed="rId1"/>
          <a:stretch/>
        </p:blipFill>
        <p:spPr>
          <a:xfrm>
            <a:off x="360000" y="1836000"/>
            <a:ext cx="5399280" cy="2368800"/>
          </a:xfrm>
          <a:prstGeom prst="rect">
            <a:avLst/>
          </a:prstGeom>
          <a:ln w="0">
            <a:noFill/>
          </a:ln>
        </p:spPr>
      </p:pic>
      <p:pic>
        <p:nvPicPr>
          <p:cNvPr id="221" name="" descr=""/>
          <p:cNvPicPr/>
          <p:nvPr/>
        </p:nvPicPr>
        <p:blipFill>
          <a:blip r:embed="rId2"/>
          <a:stretch/>
        </p:blipFill>
        <p:spPr>
          <a:xfrm>
            <a:off x="432000" y="4608000"/>
            <a:ext cx="4427280" cy="1522080"/>
          </a:xfrm>
          <a:prstGeom prst="rect">
            <a:avLst/>
          </a:prstGeom>
          <a:ln w="0">
            <a:noFill/>
          </a:ln>
        </p:spPr>
      </p:pic>
      <p:sp>
        <p:nvSpPr>
          <p:cNvPr id="222" name="CustomShape 5"/>
          <p:cNvSpPr/>
          <p:nvPr/>
        </p:nvSpPr>
        <p:spPr>
          <a:xfrm>
            <a:off x="5652000" y="2376000"/>
            <a:ext cx="719280" cy="359280"/>
          </a:xfrm>
          <a:custGeom>
            <a:avLst/>
            <a:gdLst>
              <a:gd name="textAreaLeft" fmla="*/ 0 w 719280"/>
              <a:gd name="textAreaRight" fmla="*/ 719640 w 719280"/>
              <a:gd name="textAreaTop" fmla="*/ 0 h 359280"/>
              <a:gd name="textAreaBottom" fmla="*/ 359640 h 359280"/>
            </a:gdLst>
            <a:ahLst/>
            <a:rect l="textAreaLeft" t="textAreaTop" r="textAreaRight" b="textAreaBottom"/>
            <a:pathLst>
              <a:path w="2002" h="1002">
                <a:moveTo>
                  <a:pt x="0" y="250"/>
                </a:moveTo>
                <a:lnTo>
                  <a:pt x="1500" y="250"/>
                </a:lnTo>
                <a:lnTo>
                  <a:pt x="1500" y="0"/>
                </a:lnTo>
                <a:lnTo>
                  <a:pt x="2001" y="500"/>
                </a:lnTo>
                <a:lnTo>
                  <a:pt x="1500" y="1001"/>
                </a:lnTo>
                <a:lnTo>
                  <a:pt x="1500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CustomShape 6"/>
          <p:cNvSpPr/>
          <p:nvPr/>
        </p:nvSpPr>
        <p:spPr>
          <a:xfrm>
            <a:off x="6552000" y="2268000"/>
            <a:ext cx="287928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Clase padre que define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el método </a:t>
            </a:r>
            <a:r>
              <a:rPr b="0" i="1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mostrarInfo()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CustomShape 7"/>
          <p:cNvSpPr/>
          <p:nvPr/>
        </p:nvSpPr>
        <p:spPr>
          <a:xfrm>
            <a:off x="5652000" y="5040360"/>
            <a:ext cx="719280" cy="359280"/>
          </a:xfrm>
          <a:custGeom>
            <a:avLst/>
            <a:gdLst>
              <a:gd name="textAreaLeft" fmla="*/ 0 w 719280"/>
              <a:gd name="textAreaRight" fmla="*/ 719640 w 719280"/>
              <a:gd name="textAreaTop" fmla="*/ 0 h 359280"/>
              <a:gd name="textAreaBottom" fmla="*/ 359640 h 359280"/>
            </a:gdLst>
            <a:ahLst/>
            <a:rect l="textAreaLeft" t="textAreaTop" r="textAreaRight" b="textAreaBottom"/>
            <a:pathLst>
              <a:path w="2002" h="1002">
                <a:moveTo>
                  <a:pt x="0" y="250"/>
                </a:moveTo>
                <a:lnTo>
                  <a:pt x="1500" y="250"/>
                </a:lnTo>
                <a:lnTo>
                  <a:pt x="1500" y="0"/>
                </a:lnTo>
                <a:lnTo>
                  <a:pt x="2001" y="500"/>
                </a:lnTo>
                <a:lnTo>
                  <a:pt x="1500" y="1001"/>
                </a:lnTo>
                <a:lnTo>
                  <a:pt x="1500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CustomShape 8"/>
          <p:cNvSpPr/>
          <p:nvPr/>
        </p:nvSpPr>
        <p:spPr>
          <a:xfrm>
            <a:off x="6552000" y="4860360"/>
            <a:ext cx="3167280" cy="88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Clase que sobreescribe el método e invoca a su definición en la clase padre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  <p:timing>
    <p:tnLst>
      <p:par>
        <p:cTn id="153" dur="indefinite" restart="never" nodeType="tmRoot">
          <p:childTnLst>
            <p:seq>
              <p:cTn id="154" dur="indefinite" nodeType="mainSeq">
                <p:childTnLst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59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62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6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70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CustomShape 2"/>
          <p:cNvSpPr/>
          <p:nvPr/>
        </p:nvSpPr>
        <p:spPr>
          <a:xfrm>
            <a:off x="6480" y="433080"/>
            <a:ext cx="10080000" cy="413640"/>
          </a:xfrm>
          <a:custGeom>
            <a:avLst/>
            <a:gdLst>
              <a:gd name="textAreaLeft" fmla="*/ 0 w 10080000"/>
              <a:gd name="textAreaRight" fmla="*/ 10080360 w 10080000"/>
              <a:gd name="textAreaTop" fmla="*/ 0 h 413640"/>
              <a:gd name="textAreaBottom" fmla="*/ 414000 h 4136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s-AR" sz="2200" spc="-1" strike="noStrike">
                <a:solidFill>
                  <a:srgbClr val="ffffff"/>
                </a:solidFill>
                <a:latin typeface="DejaVu Sans"/>
                <a:ea typeface="DejaVu Sans"/>
              </a:rPr>
              <a:t>Clase 4: Herencia, polimorfismo y sobrecarga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CustomShape 3"/>
          <p:cNvSpPr/>
          <p:nvPr/>
        </p:nvSpPr>
        <p:spPr>
          <a:xfrm>
            <a:off x="185760" y="965520"/>
            <a:ext cx="971928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Encadenamiento de constructores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CustomShape 4"/>
          <p:cNvSpPr/>
          <p:nvPr/>
        </p:nvSpPr>
        <p:spPr>
          <a:xfrm>
            <a:off x="0" y="1730160"/>
            <a:ext cx="10079280" cy="14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Debido a que los constructores son un tipo especial de métodos, también pueden                       sobrecargarse.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Esto nos permite asegurar mínimamente como se inicialicen los objetos, no importando que     constructor se utilice.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9" name="" descr=""/>
          <p:cNvPicPr/>
          <p:nvPr/>
        </p:nvPicPr>
        <p:blipFill>
          <a:blip r:embed="rId1"/>
          <a:stretch/>
        </p:blipFill>
        <p:spPr>
          <a:xfrm>
            <a:off x="2880000" y="3528000"/>
            <a:ext cx="3871440" cy="2600280"/>
          </a:xfrm>
          <a:prstGeom prst="rect">
            <a:avLst/>
          </a:prstGeom>
          <a:ln w="0">
            <a:noFill/>
          </a:ln>
        </p:spPr>
      </p:pic>
    </p:spTree>
  </p:cSld>
  <p:transition spd="med">
    <p:wipe dir="d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CustomShape 2"/>
          <p:cNvSpPr/>
          <p:nvPr/>
        </p:nvSpPr>
        <p:spPr>
          <a:xfrm>
            <a:off x="6840" y="325080"/>
            <a:ext cx="10080000" cy="413640"/>
          </a:xfrm>
          <a:custGeom>
            <a:avLst/>
            <a:gdLst>
              <a:gd name="textAreaLeft" fmla="*/ 0 w 10080000"/>
              <a:gd name="textAreaRight" fmla="*/ 10080360 w 10080000"/>
              <a:gd name="textAreaTop" fmla="*/ 0 h 413640"/>
              <a:gd name="textAreaBottom" fmla="*/ 414000 h 4136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s-AR" sz="2200" spc="-1" strike="noStrike">
                <a:solidFill>
                  <a:srgbClr val="ffffff"/>
                </a:solidFill>
                <a:latin typeface="DejaVu Sans"/>
                <a:ea typeface="DejaVu Sans"/>
              </a:rPr>
              <a:t>Clase 4: Herencia, polimorfismo y sobrecarga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CustomShape 3"/>
          <p:cNvSpPr/>
          <p:nvPr/>
        </p:nvSpPr>
        <p:spPr>
          <a:xfrm>
            <a:off x="186120" y="857520"/>
            <a:ext cx="971928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Encadenamiento de constructores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CustomShape 4"/>
          <p:cNvSpPr/>
          <p:nvPr/>
        </p:nvSpPr>
        <p:spPr>
          <a:xfrm>
            <a:off x="228960" y="1445040"/>
            <a:ext cx="445140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Un ejemplo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3" name="" descr=""/>
          <p:cNvPicPr/>
          <p:nvPr/>
        </p:nvPicPr>
        <p:blipFill>
          <a:blip r:embed="rId1"/>
          <a:stretch/>
        </p:blipFill>
        <p:spPr>
          <a:xfrm>
            <a:off x="72000" y="2433960"/>
            <a:ext cx="5171040" cy="3037320"/>
          </a:xfrm>
          <a:prstGeom prst="rect">
            <a:avLst/>
          </a:prstGeom>
          <a:ln w="0">
            <a:noFill/>
          </a:ln>
        </p:spPr>
      </p:pic>
      <p:pic>
        <p:nvPicPr>
          <p:cNvPr id="234" name="" descr=""/>
          <p:cNvPicPr/>
          <p:nvPr/>
        </p:nvPicPr>
        <p:blipFill>
          <a:blip r:embed="rId2"/>
          <a:stretch/>
        </p:blipFill>
        <p:spPr>
          <a:xfrm>
            <a:off x="5760000" y="2520000"/>
            <a:ext cx="4139280" cy="2339280"/>
          </a:xfrm>
          <a:prstGeom prst="rect">
            <a:avLst/>
          </a:prstGeom>
          <a:ln w="0">
            <a:noFill/>
          </a:ln>
        </p:spPr>
      </p:pic>
      <p:sp>
        <p:nvSpPr>
          <p:cNvPr id="235" name="CustomShape 5"/>
          <p:cNvSpPr/>
          <p:nvPr/>
        </p:nvSpPr>
        <p:spPr>
          <a:xfrm>
            <a:off x="4500000" y="3600000"/>
            <a:ext cx="719280" cy="359280"/>
          </a:xfrm>
          <a:custGeom>
            <a:avLst/>
            <a:gdLst>
              <a:gd name="textAreaLeft" fmla="*/ 0 w 719280"/>
              <a:gd name="textAreaRight" fmla="*/ 719640 w 719280"/>
              <a:gd name="textAreaTop" fmla="*/ 0 h 359280"/>
              <a:gd name="textAreaBottom" fmla="*/ 359640 h 359280"/>
            </a:gdLst>
            <a:ahLst/>
            <a:rect l="textAreaLeft" t="textAreaTop" r="textAreaRight" b="textAreaBottom"/>
            <a:pathLst>
              <a:path w="2002" h="1002">
                <a:moveTo>
                  <a:pt x="0" y="250"/>
                </a:moveTo>
                <a:lnTo>
                  <a:pt x="1500" y="250"/>
                </a:lnTo>
                <a:lnTo>
                  <a:pt x="1500" y="0"/>
                </a:lnTo>
                <a:lnTo>
                  <a:pt x="2001" y="500"/>
                </a:lnTo>
                <a:lnTo>
                  <a:pt x="1500" y="1001"/>
                </a:lnTo>
                <a:lnTo>
                  <a:pt x="1500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CustomShape 6"/>
          <p:cNvSpPr/>
          <p:nvPr/>
        </p:nvSpPr>
        <p:spPr>
          <a:xfrm>
            <a:off x="540000" y="5944320"/>
            <a:ext cx="899928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Aseguramos que mínimanente como se creen los objetos tengan un estado mínimo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  <p:timing>
    <p:tnLst>
      <p:par>
        <p:cTn id="171" dur="indefinite" restart="never" nodeType="tmRoot">
          <p:childTnLst>
            <p:seq>
              <p:cTn id="172" dur="indefinite" nodeType="mainSeq">
                <p:childTnLst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77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80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85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CustomShape 2"/>
          <p:cNvSpPr/>
          <p:nvPr/>
        </p:nvSpPr>
        <p:spPr>
          <a:xfrm>
            <a:off x="7200" y="1045440"/>
            <a:ext cx="10080000" cy="413640"/>
          </a:xfrm>
          <a:custGeom>
            <a:avLst/>
            <a:gdLst>
              <a:gd name="textAreaLeft" fmla="*/ 0 w 10080000"/>
              <a:gd name="textAreaRight" fmla="*/ 10080360 w 10080000"/>
              <a:gd name="textAreaTop" fmla="*/ 0 h 413640"/>
              <a:gd name="textAreaBottom" fmla="*/ 414000 h 4136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s-AR" sz="2200" spc="-1" strike="noStrike">
                <a:solidFill>
                  <a:srgbClr val="ffffff"/>
                </a:solidFill>
                <a:latin typeface="DejaVu Sans"/>
                <a:ea typeface="DejaVu Sans"/>
              </a:rPr>
              <a:t>Clase 4: Herencia, polimorfismo y sobrecarga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CustomShape 3"/>
          <p:cNvSpPr/>
          <p:nvPr/>
        </p:nvSpPr>
        <p:spPr>
          <a:xfrm>
            <a:off x="186480" y="929880"/>
            <a:ext cx="971928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Downcasting y Upcasting de Objetos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CustomShape 4"/>
          <p:cNvSpPr/>
          <p:nvPr/>
        </p:nvSpPr>
        <p:spPr>
          <a:xfrm>
            <a:off x="0" y="1694160"/>
            <a:ext cx="10079280" cy="32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Un objeto de un tipo se puede tratar como objeto de otro tipo siempre que la clase fuente y la clase destino estén relacionadas por herencia.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Upcasting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: conversión de clase derivada a la clase base, se hace implícitamente.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Downcasting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: conversión de clase base a la clase derivada. Es explícito.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0" name="" descr=""/>
          <p:cNvPicPr/>
          <p:nvPr/>
        </p:nvPicPr>
        <p:blipFill>
          <a:blip r:embed="rId1"/>
          <a:stretch/>
        </p:blipFill>
        <p:spPr>
          <a:xfrm>
            <a:off x="540720" y="3492000"/>
            <a:ext cx="3778560" cy="1079280"/>
          </a:xfrm>
          <a:prstGeom prst="rect">
            <a:avLst/>
          </a:prstGeom>
          <a:ln w="0">
            <a:noFill/>
          </a:ln>
        </p:spPr>
      </p:pic>
      <p:pic>
        <p:nvPicPr>
          <p:cNvPr id="241" name="" descr=""/>
          <p:cNvPicPr/>
          <p:nvPr/>
        </p:nvPicPr>
        <p:blipFill>
          <a:blip r:embed="rId2"/>
          <a:stretch/>
        </p:blipFill>
        <p:spPr>
          <a:xfrm>
            <a:off x="528480" y="5231160"/>
            <a:ext cx="4150800" cy="960120"/>
          </a:xfrm>
          <a:prstGeom prst="rect">
            <a:avLst/>
          </a:prstGeom>
          <a:ln w="0">
            <a:noFill/>
          </a:ln>
        </p:spPr>
      </p:pic>
      <p:sp>
        <p:nvSpPr>
          <p:cNvPr id="242" name="CustomShape 5"/>
          <p:cNvSpPr/>
          <p:nvPr/>
        </p:nvSpPr>
        <p:spPr>
          <a:xfrm>
            <a:off x="6300000" y="6192000"/>
            <a:ext cx="3779280" cy="71928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AR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Alumno es subclase de Persona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CustomShape 2"/>
          <p:cNvSpPr/>
          <p:nvPr/>
        </p:nvSpPr>
        <p:spPr>
          <a:xfrm>
            <a:off x="7560" y="541440"/>
            <a:ext cx="10080000" cy="413640"/>
          </a:xfrm>
          <a:custGeom>
            <a:avLst/>
            <a:gdLst>
              <a:gd name="textAreaLeft" fmla="*/ 0 w 10080000"/>
              <a:gd name="textAreaRight" fmla="*/ 10080360 w 10080000"/>
              <a:gd name="textAreaTop" fmla="*/ 0 h 413640"/>
              <a:gd name="textAreaBottom" fmla="*/ 414000 h 4136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s-AR" sz="2200" spc="-1" strike="noStrike">
                <a:solidFill>
                  <a:srgbClr val="ffffff"/>
                </a:solidFill>
                <a:latin typeface="DejaVu Sans"/>
                <a:ea typeface="DejaVu Sans"/>
              </a:rPr>
              <a:t>Clase 4: Herencia, polimorfismo y sobrecarga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CustomShape 3"/>
          <p:cNvSpPr/>
          <p:nvPr/>
        </p:nvSpPr>
        <p:spPr>
          <a:xfrm>
            <a:off x="186840" y="1073880"/>
            <a:ext cx="971928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El operador </a:t>
            </a:r>
            <a:r>
              <a:rPr b="1" i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instanceof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CustomShape 4"/>
          <p:cNvSpPr/>
          <p:nvPr/>
        </p:nvSpPr>
        <p:spPr>
          <a:xfrm>
            <a:off x="0" y="1838160"/>
            <a:ext cx="10079280" cy="88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Verifica que una referencia a un objeto sea de un tipo o de un subtipo dado.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Podemos utilizarlo antes de convertir un objeto para evitar errores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CustomShape 5"/>
          <p:cNvSpPr/>
          <p:nvPr/>
        </p:nvSpPr>
        <p:spPr>
          <a:xfrm>
            <a:off x="5940000" y="6336000"/>
            <a:ext cx="4139280" cy="71928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AR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Alumno no es subclase de Profesor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7" name="" descr=""/>
          <p:cNvPicPr/>
          <p:nvPr/>
        </p:nvPicPr>
        <p:blipFill>
          <a:blip r:embed="rId1"/>
          <a:stretch/>
        </p:blipFill>
        <p:spPr>
          <a:xfrm>
            <a:off x="180000" y="3276000"/>
            <a:ext cx="4499280" cy="1130400"/>
          </a:xfrm>
          <a:prstGeom prst="rect">
            <a:avLst/>
          </a:prstGeom>
          <a:ln w="0">
            <a:noFill/>
          </a:ln>
        </p:spPr>
      </p:pic>
      <p:sp>
        <p:nvSpPr>
          <p:cNvPr id="248" name="CustomShape 6"/>
          <p:cNvSpPr/>
          <p:nvPr/>
        </p:nvSpPr>
        <p:spPr>
          <a:xfrm>
            <a:off x="4860000" y="3636000"/>
            <a:ext cx="719280" cy="359280"/>
          </a:xfrm>
          <a:custGeom>
            <a:avLst/>
            <a:gdLst>
              <a:gd name="textAreaLeft" fmla="*/ 0 w 719280"/>
              <a:gd name="textAreaRight" fmla="*/ 719640 w 719280"/>
              <a:gd name="textAreaTop" fmla="*/ 0 h 359280"/>
              <a:gd name="textAreaBottom" fmla="*/ 359640 h 359280"/>
            </a:gdLst>
            <a:ahLst/>
            <a:rect l="textAreaLeft" t="textAreaTop" r="textAreaRight" b="textAreaBottom"/>
            <a:pathLst>
              <a:path w="2002" h="1002">
                <a:moveTo>
                  <a:pt x="0" y="250"/>
                </a:moveTo>
                <a:lnTo>
                  <a:pt x="1500" y="250"/>
                </a:lnTo>
                <a:lnTo>
                  <a:pt x="1500" y="0"/>
                </a:lnTo>
                <a:lnTo>
                  <a:pt x="2001" y="500"/>
                </a:lnTo>
                <a:lnTo>
                  <a:pt x="1500" y="1001"/>
                </a:lnTo>
                <a:lnTo>
                  <a:pt x="1500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ff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CustomShape 7"/>
          <p:cNvSpPr/>
          <p:nvPr/>
        </p:nvSpPr>
        <p:spPr>
          <a:xfrm>
            <a:off x="5940000" y="3636000"/>
            <a:ext cx="251928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Error de compilación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0" name="" descr=""/>
          <p:cNvPicPr/>
          <p:nvPr/>
        </p:nvPicPr>
        <p:blipFill>
          <a:blip r:embed="rId2"/>
          <a:stretch/>
        </p:blipFill>
        <p:spPr>
          <a:xfrm>
            <a:off x="360000" y="4716000"/>
            <a:ext cx="3779280" cy="899280"/>
          </a:xfrm>
          <a:prstGeom prst="rect">
            <a:avLst/>
          </a:prstGeom>
          <a:ln w="0">
            <a:noFill/>
          </a:ln>
        </p:spPr>
      </p:pic>
      <p:sp>
        <p:nvSpPr>
          <p:cNvPr id="251" name="CustomShape 8"/>
          <p:cNvSpPr/>
          <p:nvPr/>
        </p:nvSpPr>
        <p:spPr>
          <a:xfrm>
            <a:off x="4896000" y="4716000"/>
            <a:ext cx="719280" cy="359280"/>
          </a:xfrm>
          <a:custGeom>
            <a:avLst/>
            <a:gdLst>
              <a:gd name="textAreaLeft" fmla="*/ 0 w 719280"/>
              <a:gd name="textAreaRight" fmla="*/ 719640 w 719280"/>
              <a:gd name="textAreaTop" fmla="*/ 0 h 359280"/>
              <a:gd name="textAreaBottom" fmla="*/ 359640 h 359280"/>
            </a:gdLst>
            <a:ahLst/>
            <a:rect l="textAreaLeft" t="textAreaTop" r="textAreaRight" b="textAreaBottom"/>
            <a:pathLst>
              <a:path w="2002" h="1002">
                <a:moveTo>
                  <a:pt x="0" y="250"/>
                </a:moveTo>
                <a:lnTo>
                  <a:pt x="1500" y="250"/>
                </a:lnTo>
                <a:lnTo>
                  <a:pt x="1500" y="0"/>
                </a:lnTo>
                <a:lnTo>
                  <a:pt x="2001" y="500"/>
                </a:lnTo>
                <a:lnTo>
                  <a:pt x="1500" y="1001"/>
                </a:lnTo>
                <a:lnTo>
                  <a:pt x="1500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CustomShape 9"/>
          <p:cNvSpPr/>
          <p:nvPr/>
        </p:nvSpPr>
        <p:spPr>
          <a:xfrm>
            <a:off x="6156000" y="4752360"/>
            <a:ext cx="251928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Uso correcto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  <p:timing>
    <p:tnLst>
      <p:par>
        <p:cTn id="186" dur="indefinite" restart="never" nodeType="tmRoot">
          <p:childTnLst>
            <p:seq>
              <p:cTn id="187" dur="indefinite" nodeType="mainSeq">
                <p:childTnLst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92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195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00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03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CustomShape 2"/>
          <p:cNvSpPr/>
          <p:nvPr/>
        </p:nvSpPr>
        <p:spPr>
          <a:xfrm>
            <a:off x="7920" y="1045440"/>
            <a:ext cx="10080000" cy="413640"/>
          </a:xfrm>
          <a:custGeom>
            <a:avLst/>
            <a:gdLst>
              <a:gd name="textAreaLeft" fmla="*/ 0 w 10080000"/>
              <a:gd name="textAreaRight" fmla="*/ 10080360 w 10080000"/>
              <a:gd name="textAreaTop" fmla="*/ 0 h 413640"/>
              <a:gd name="textAreaBottom" fmla="*/ 414000 h 4136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s-AR" sz="2200" spc="-1" strike="noStrike">
                <a:solidFill>
                  <a:srgbClr val="ffffff"/>
                </a:solidFill>
                <a:latin typeface="DejaVu Sans"/>
                <a:ea typeface="DejaVu Sans"/>
              </a:rPr>
              <a:t>Clase 4: Herencia, polimorfismo y sobrecarga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CustomShape 3"/>
          <p:cNvSpPr/>
          <p:nvPr/>
        </p:nvSpPr>
        <p:spPr>
          <a:xfrm>
            <a:off x="187200" y="1217880"/>
            <a:ext cx="971928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Métodos y clases </a:t>
            </a:r>
            <a:r>
              <a:rPr b="1" i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final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CustomShape 4"/>
          <p:cNvSpPr/>
          <p:nvPr/>
        </p:nvSpPr>
        <p:spPr>
          <a:xfrm>
            <a:off x="0" y="1982520"/>
            <a:ext cx="10079280" cy="328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El calificador </a:t>
            </a:r>
            <a:r>
              <a:rPr b="0" i="1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final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condiciona el diseño de una jerarquía de herencia.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Clases Final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: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7" marL="1728000" indent="-215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No pueden ser extendidas.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Métodos Final: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7" marL="1728000" indent="-215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No pueden ser sobreescritos.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7" marL="1728000" indent="-215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Los métodos estáticos son automáticamente </a:t>
            </a:r>
            <a:r>
              <a:rPr b="0" i="1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final.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6" name="" descr=""/>
          <p:cNvPicPr/>
          <p:nvPr/>
        </p:nvPicPr>
        <p:blipFill>
          <a:blip r:embed="rId1"/>
          <a:stretch/>
        </p:blipFill>
        <p:spPr>
          <a:xfrm>
            <a:off x="1969560" y="3420000"/>
            <a:ext cx="2709720" cy="359280"/>
          </a:xfrm>
          <a:prstGeom prst="rect">
            <a:avLst/>
          </a:prstGeom>
          <a:ln w="0">
            <a:noFill/>
          </a:ln>
        </p:spPr>
      </p:pic>
      <p:pic>
        <p:nvPicPr>
          <p:cNvPr id="257" name="" descr=""/>
          <p:cNvPicPr/>
          <p:nvPr/>
        </p:nvPicPr>
        <p:blipFill>
          <a:blip r:embed="rId2"/>
          <a:stretch/>
        </p:blipFill>
        <p:spPr>
          <a:xfrm>
            <a:off x="1908000" y="5435640"/>
            <a:ext cx="3599280" cy="863640"/>
          </a:xfrm>
          <a:prstGeom prst="rect">
            <a:avLst/>
          </a:prstGeom>
          <a:ln w="0">
            <a:noFill/>
          </a:ln>
        </p:spPr>
      </p:pic>
      <p:sp>
        <p:nvSpPr>
          <p:cNvPr id="258" name="CustomShape 5"/>
          <p:cNvSpPr/>
          <p:nvPr/>
        </p:nvSpPr>
        <p:spPr>
          <a:xfrm>
            <a:off x="3420000" y="6480000"/>
            <a:ext cx="6659280" cy="71928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AR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Se suele usar para evitar modificar una implementación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CustomShape 2"/>
          <p:cNvSpPr/>
          <p:nvPr/>
        </p:nvSpPr>
        <p:spPr>
          <a:xfrm>
            <a:off x="8280" y="793440"/>
            <a:ext cx="10080000" cy="413640"/>
          </a:xfrm>
          <a:custGeom>
            <a:avLst/>
            <a:gdLst>
              <a:gd name="textAreaLeft" fmla="*/ 0 w 10080000"/>
              <a:gd name="textAreaRight" fmla="*/ 10080360 w 10080000"/>
              <a:gd name="textAreaTop" fmla="*/ 0 h 413640"/>
              <a:gd name="textAreaBottom" fmla="*/ 414000 h 4136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s-AR" sz="2200" spc="-1" strike="noStrike">
                <a:solidFill>
                  <a:srgbClr val="ffffff"/>
                </a:solidFill>
                <a:latin typeface="DejaVu Sans"/>
                <a:ea typeface="DejaVu Sans"/>
              </a:rPr>
              <a:t>Clase 4: Herencia, polimorfismo y sobrecarga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CustomShape 3"/>
          <p:cNvSpPr/>
          <p:nvPr/>
        </p:nvSpPr>
        <p:spPr>
          <a:xfrm>
            <a:off x="187560" y="1325880"/>
            <a:ext cx="971928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Métodos y clases </a:t>
            </a:r>
            <a:r>
              <a:rPr b="1" i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abstract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CustomShape 4"/>
          <p:cNvSpPr/>
          <p:nvPr/>
        </p:nvSpPr>
        <p:spPr>
          <a:xfrm>
            <a:off x="0" y="2090880"/>
            <a:ext cx="10079280" cy="354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El calificador </a:t>
            </a:r>
            <a:r>
              <a:rPr b="0" i="1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abstract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condiciona el diseño de una jerarquía de herencia.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Clases Abstract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: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7" marL="1728000" indent="-215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No pueden ser instanciadas.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Métodos Abstract: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7" marL="1728000" indent="-215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No pueden tener implementación.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7" marL="1728000" indent="-215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Deben ser implementados para las clases no abstractas que extiendan de su clase.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2" name="" descr=""/>
          <p:cNvPicPr/>
          <p:nvPr/>
        </p:nvPicPr>
        <p:blipFill>
          <a:blip r:embed="rId1"/>
          <a:stretch/>
        </p:blipFill>
        <p:spPr>
          <a:xfrm>
            <a:off x="1892520" y="3528000"/>
            <a:ext cx="2786760" cy="359280"/>
          </a:xfrm>
          <a:prstGeom prst="rect">
            <a:avLst/>
          </a:prstGeom>
          <a:ln w="0">
            <a:noFill/>
          </a:ln>
        </p:spPr>
      </p:pic>
      <p:pic>
        <p:nvPicPr>
          <p:cNvPr id="263" name="" descr=""/>
          <p:cNvPicPr/>
          <p:nvPr/>
        </p:nvPicPr>
        <p:blipFill>
          <a:blip r:embed="rId2"/>
          <a:stretch/>
        </p:blipFill>
        <p:spPr>
          <a:xfrm>
            <a:off x="1767600" y="5719320"/>
            <a:ext cx="3091680" cy="435960"/>
          </a:xfrm>
          <a:prstGeom prst="rect">
            <a:avLst/>
          </a:prstGeom>
          <a:ln w="0">
            <a:noFill/>
          </a:ln>
        </p:spPr>
      </p:pic>
    </p:spTree>
  </p:cSld>
  <p:transition spd="med">
    <p:wipe dir="d"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CustomShape 2"/>
          <p:cNvSpPr/>
          <p:nvPr/>
        </p:nvSpPr>
        <p:spPr>
          <a:xfrm>
            <a:off x="8640" y="649440"/>
            <a:ext cx="10080000" cy="413640"/>
          </a:xfrm>
          <a:custGeom>
            <a:avLst/>
            <a:gdLst>
              <a:gd name="textAreaLeft" fmla="*/ 0 w 10080000"/>
              <a:gd name="textAreaRight" fmla="*/ 10080360 w 10080000"/>
              <a:gd name="textAreaTop" fmla="*/ 0 h 413640"/>
              <a:gd name="textAreaBottom" fmla="*/ 414000 h 4136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s-AR" sz="2200" spc="-1" strike="noStrike">
                <a:solidFill>
                  <a:srgbClr val="ffffff"/>
                </a:solidFill>
                <a:latin typeface="DejaVu Sans"/>
                <a:ea typeface="DejaVu Sans"/>
              </a:rPr>
              <a:t>Clase 4: Herencia, polimorfismo y sobrecarga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CustomShape 3"/>
          <p:cNvSpPr/>
          <p:nvPr/>
        </p:nvSpPr>
        <p:spPr>
          <a:xfrm>
            <a:off x="187920" y="1181880"/>
            <a:ext cx="971928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Métodos y clases </a:t>
            </a:r>
            <a:r>
              <a:rPr b="1" i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abstract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CustomShape 4"/>
          <p:cNvSpPr/>
          <p:nvPr/>
        </p:nvSpPr>
        <p:spPr>
          <a:xfrm>
            <a:off x="0" y="1946160"/>
            <a:ext cx="1007928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Cuando un método está presente en todas las clases de una jerarquía pero se implementa en   forma diferente conviene definirlo como abstracto.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Una clase con al menos un método abstracto debe declararse como abstracta.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Una clase que extiende de una clase abstracta debe: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5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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Implementar todos sus métodos abstractos o …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5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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Declararse como abstracta.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7" name="" descr=""/>
          <p:cNvPicPr/>
          <p:nvPr/>
        </p:nvPicPr>
        <p:blipFill>
          <a:blip r:embed="rId1"/>
          <a:stretch/>
        </p:blipFill>
        <p:spPr>
          <a:xfrm>
            <a:off x="549360" y="5004000"/>
            <a:ext cx="4129920" cy="1619280"/>
          </a:xfrm>
          <a:prstGeom prst="rect">
            <a:avLst/>
          </a:prstGeom>
          <a:ln w="0">
            <a:noFill/>
          </a:ln>
        </p:spPr>
      </p:pic>
      <p:pic>
        <p:nvPicPr>
          <p:cNvPr id="268" name="" descr=""/>
          <p:cNvPicPr/>
          <p:nvPr/>
        </p:nvPicPr>
        <p:blipFill>
          <a:blip r:embed="rId2"/>
          <a:stretch/>
        </p:blipFill>
        <p:spPr>
          <a:xfrm>
            <a:off x="5220000" y="5004000"/>
            <a:ext cx="3959280" cy="1619280"/>
          </a:xfrm>
          <a:prstGeom prst="rect">
            <a:avLst/>
          </a:prstGeom>
          <a:ln w="0">
            <a:noFill/>
          </a:ln>
        </p:spPr>
      </p:pic>
    </p:spTree>
  </p:cSld>
  <p:transition spd="med">
    <p:wipe dir="d"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CustomShape 2"/>
          <p:cNvSpPr/>
          <p:nvPr/>
        </p:nvSpPr>
        <p:spPr>
          <a:xfrm>
            <a:off x="9000" y="469440"/>
            <a:ext cx="10080000" cy="413640"/>
          </a:xfrm>
          <a:custGeom>
            <a:avLst/>
            <a:gdLst>
              <a:gd name="textAreaLeft" fmla="*/ 0 w 10080000"/>
              <a:gd name="textAreaRight" fmla="*/ 10080360 w 10080000"/>
              <a:gd name="textAreaTop" fmla="*/ 0 h 413640"/>
              <a:gd name="textAreaBottom" fmla="*/ 414000 h 4136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s-AR" sz="2200" spc="-1" strike="noStrike">
                <a:solidFill>
                  <a:srgbClr val="ffffff"/>
                </a:solidFill>
                <a:latin typeface="DejaVu Sans"/>
                <a:ea typeface="DejaVu Sans"/>
              </a:rPr>
              <a:t>Clase 4: Herencia, polimorfismo y sobrecarga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CustomShape 3"/>
          <p:cNvSpPr/>
          <p:nvPr/>
        </p:nvSpPr>
        <p:spPr>
          <a:xfrm>
            <a:off x="188280" y="1001880"/>
            <a:ext cx="971928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Interfaces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CustomShape 4"/>
          <p:cNvSpPr/>
          <p:nvPr/>
        </p:nvSpPr>
        <p:spPr>
          <a:xfrm>
            <a:off x="0" y="1766520"/>
            <a:ext cx="10079280" cy="22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Bloques de códigos que poseen declaraciones de métodos y opcionalmente constantes.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Todos sus métodos son abstractos, por ende no se definen.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Una interface puede ser implementada por N clases.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Una una clase implementa una interfaz se compromete a cumplir con su implementación, es     decir se firma un contrato entre la clase y la interfaz.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2" name="" descr=""/>
          <p:cNvPicPr/>
          <p:nvPr/>
        </p:nvPicPr>
        <p:blipFill>
          <a:blip r:embed="rId1"/>
          <a:stretch/>
        </p:blipFill>
        <p:spPr>
          <a:xfrm>
            <a:off x="1044000" y="4320000"/>
            <a:ext cx="2833560" cy="2874960"/>
          </a:xfrm>
          <a:prstGeom prst="rect">
            <a:avLst/>
          </a:prstGeom>
          <a:ln w="0">
            <a:noFill/>
          </a:ln>
        </p:spPr>
      </p:pic>
      <p:sp>
        <p:nvSpPr>
          <p:cNvPr id="273" name="CustomShape 5"/>
          <p:cNvSpPr/>
          <p:nvPr/>
        </p:nvSpPr>
        <p:spPr>
          <a:xfrm>
            <a:off x="3420000" y="6516000"/>
            <a:ext cx="6659280" cy="71928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AR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Definimos interfaces utilizando la palabra clave </a:t>
            </a:r>
            <a:r>
              <a:rPr b="1" i="1" lang="es-AR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interface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CustomShape 2"/>
          <p:cNvSpPr/>
          <p:nvPr/>
        </p:nvSpPr>
        <p:spPr>
          <a:xfrm>
            <a:off x="9360" y="361440"/>
            <a:ext cx="10080000" cy="413640"/>
          </a:xfrm>
          <a:custGeom>
            <a:avLst/>
            <a:gdLst>
              <a:gd name="textAreaLeft" fmla="*/ 0 w 10080000"/>
              <a:gd name="textAreaRight" fmla="*/ 10080360 w 10080000"/>
              <a:gd name="textAreaTop" fmla="*/ 0 h 413640"/>
              <a:gd name="textAreaBottom" fmla="*/ 414000 h 4136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s-AR" sz="2200" spc="-1" strike="noStrike">
                <a:solidFill>
                  <a:srgbClr val="ffffff"/>
                </a:solidFill>
                <a:latin typeface="DejaVu Sans"/>
                <a:ea typeface="DejaVu Sans"/>
              </a:rPr>
              <a:t>Clase 4: Herencia, polimorfismo y sobrecarga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CustomShape 3"/>
          <p:cNvSpPr/>
          <p:nvPr/>
        </p:nvSpPr>
        <p:spPr>
          <a:xfrm>
            <a:off x="188640" y="893880"/>
            <a:ext cx="971928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Interfaces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CustomShape 4"/>
          <p:cNvSpPr/>
          <p:nvPr/>
        </p:nvSpPr>
        <p:spPr>
          <a:xfrm>
            <a:off x="0" y="1658880"/>
            <a:ext cx="10079280" cy="22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Brindan la declaración de un comportamiento sin brindar la implementación.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Cada clase que se compromete a realizar una interfaz debe implementar todos sus métodos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7" name="" descr=""/>
          <p:cNvPicPr/>
          <p:nvPr/>
        </p:nvPicPr>
        <p:blipFill>
          <a:blip r:embed="rId1"/>
          <a:stretch/>
        </p:blipFill>
        <p:spPr>
          <a:xfrm>
            <a:off x="360000" y="2201040"/>
            <a:ext cx="2699280" cy="1074240"/>
          </a:xfrm>
          <a:prstGeom prst="rect">
            <a:avLst/>
          </a:prstGeom>
          <a:ln w="0">
            <a:noFill/>
          </a:ln>
        </p:spPr>
      </p:pic>
      <p:pic>
        <p:nvPicPr>
          <p:cNvPr id="278" name="" descr=""/>
          <p:cNvPicPr/>
          <p:nvPr/>
        </p:nvPicPr>
        <p:blipFill>
          <a:blip r:embed="rId2"/>
          <a:stretch/>
        </p:blipFill>
        <p:spPr>
          <a:xfrm>
            <a:off x="360000" y="4274280"/>
            <a:ext cx="4679280" cy="1521000"/>
          </a:xfrm>
          <a:prstGeom prst="rect">
            <a:avLst/>
          </a:prstGeom>
          <a:ln w="0">
            <a:noFill/>
          </a:ln>
        </p:spPr>
      </p:pic>
    </p:spTree>
  </p:cSld>
  <p:transition spd="med">
    <p:wipe dir="d"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CustomShape 2"/>
          <p:cNvSpPr/>
          <p:nvPr/>
        </p:nvSpPr>
        <p:spPr>
          <a:xfrm>
            <a:off x="9720" y="1045440"/>
            <a:ext cx="10080000" cy="413640"/>
          </a:xfrm>
          <a:custGeom>
            <a:avLst/>
            <a:gdLst>
              <a:gd name="textAreaLeft" fmla="*/ 0 w 10080000"/>
              <a:gd name="textAreaRight" fmla="*/ 10080360 w 10080000"/>
              <a:gd name="textAreaTop" fmla="*/ 0 h 413640"/>
              <a:gd name="textAreaBottom" fmla="*/ 414000 h 4136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s-AR" sz="2200" spc="-1" strike="noStrike">
                <a:solidFill>
                  <a:srgbClr val="ffffff"/>
                </a:solidFill>
                <a:latin typeface="DejaVu Sans"/>
                <a:ea typeface="DejaVu Sans"/>
              </a:rPr>
              <a:t>Clase 4: Herencia, polimorfismo y sobrecarga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CustomShape 3"/>
          <p:cNvSpPr/>
          <p:nvPr/>
        </p:nvSpPr>
        <p:spPr>
          <a:xfrm>
            <a:off x="189000" y="605880"/>
            <a:ext cx="971928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Interfaces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CustomShape 4"/>
          <p:cNvSpPr/>
          <p:nvPr/>
        </p:nvSpPr>
        <p:spPr>
          <a:xfrm>
            <a:off x="0" y="1370880"/>
            <a:ext cx="1007928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Una interfaz puede contener: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5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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Declaraciones de métodos públicos.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5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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Constantes: atributos públicos, estáticos y finales.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Las interfaces no pueden ser instanciadas.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Si es pública debe coincidir con el nombre del archivo fuente (.java).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Una referencia a una interfaz puede ser asignada a un objeto de cualquier clase que                  implemente esa interfaz.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2" name="" descr=""/>
          <p:cNvPicPr/>
          <p:nvPr/>
        </p:nvPicPr>
        <p:blipFill>
          <a:blip r:embed="rId1"/>
          <a:stretch/>
        </p:blipFill>
        <p:spPr>
          <a:xfrm>
            <a:off x="3420000" y="5364000"/>
            <a:ext cx="3160800" cy="1789200"/>
          </a:xfrm>
          <a:prstGeom prst="rect">
            <a:avLst/>
          </a:prstGeom>
          <a:ln w="0">
            <a:noFill/>
          </a:ln>
        </p:spPr>
      </p:pic>
    </p:spTree>
  </p:cSld>
  <p:transition spd="med">
    <p:wipe dir="d"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CustomShape 2"/>
          <p:cNvSpPr/>
          <p:nvPr/>
        </p:nvSpPr>
        <p:spPr>
          <a:xfrm>
            <a:off x="10080" y="1045440"/>
            <a:ext cx="10080000" cy="413640"/>
          </a:xfrm>
          <a:custGeom>
            <a:avLst/>
            <a:gdLst>
              <a:gd name="textAreaLeft" fmla="*/ 0 w 10080000"/>
              <a:gd name="textAreaRight" fmla="*/ 10080360 w 10080000"/>
              <a:gd name="textAreaTop" fmla="*/ 0 h 413640"/>
              <a:gd name="textAreaBottom" fmla="*/ 414000 h 4136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s-AR" sz="2200" spc="-1" strike="noStrike">
                <a:solidFill>
                  <a:srgbClr val="ffffff"/>
                </a:solidFill>
                <a:latin typeface="DejaVu Sans"/>
                <a:ea typeface="DejaVu Sans"/>
              </a:rPr>
              <a:t>Clase 4: Herencia, polimorfismo y sobrecarga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CustomShape 3"/>
          <p:cNvSpPr/>
          <p:nvPr/>
        </p:nvSpPr>
        <p:spPr>
          <a:xfrm>
            <a:off x="189360" y="821880"/>
            <a:ext cx="971928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Interfaces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CustomShape 4"/>
          <p:cNvSpPr/>
          <p:nvPr/>
        </p:nvSpPr>
        <p:spPr>
          <a:xfrm>
            <a:off x="229320" y="1409400"/>
            <a:ext cx="8949960" cy="62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Para tener en cuenta: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	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La clase </a:t>
            </a:r>
            <a:r>
              <a:rPr b="1" i="1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B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extiende de la clase </a:t>
            </a:r>
            <a:r>
              <a:rPr b="1" i="1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A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e implementa la interface </a:t>
            </a:r>
            <a:r>
              <a:rPr b="1" i="1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I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6" name="" descr=""/>
          <p:cNvPicPr/>
          <p:nvPr/>
        </p:nvPicPr>
        <p:blipFill>
          <a:blip r:embed="rId1"/>
          <a:stretch/>
        </p:blipFill>
        <p:spPr>
          <a:xfrm>
            <a:off x="792000" y="2124000"/>
            <a:ext cx="3419280" cy="719280"/>
          </a:xfrm>
          <a:prstGeom prst="rect">
            <a:avLst/>
          </a:prstGeom>
          <a:ln w="0">
            <a:noFill/>
          </a:ln>
        </p:spPr>
      </p:pic>
      <p:pic>
        <p:nvPicPr>
          <p:cNvPr id="287" name="" descr=""/>
          <p:cNvPicPr/>
          <p:nvPr/>
        </p:nvPicPr>
        <p:blipFill>
          <a:blip r:embed="rId2"/>
          <a:stretch/>
        </p:blipFill>
        <p:spPr>
          <a:xfrm>
            <a:off x="720000" y="5724000"/>
            <a:ext cx="1799280" cy="539280"/>
          </a:xfrm>
          <a:prstGeom prst="rect">
            <a:avLst/>
          </a:prstGeom>
          <a:ln w="0">
            <a:noFill/>
          </a:ln>
        </p:spPr>
      </p:pic>
      <p:pic>
        <p:nvPicPr>
          <p:cNvPr id="288" name="" descr=""/>
          <p:cNvPicPr/>
          <p:nvPr/>
        </p:nvPicPr>
        <p:blipFill>
          <a:blip r:embed="rId3"/>
          <a:stretch/>
        </p:blipFill>
        <p:spPr>
          <a:xfrm>
            <a:off x="540000" y="4176000"/>
            <a:ext cx="2699280" cy="1079280"/>
          </a:xfrm>
          <a:prstGeom prst="rect">
            <a:avLst/>
          </a:prstGeom>
          <a:ln w="0">
            <a:noFill/>
          </a:ln>
        </p:spPr>
      </p:pic>
      <p:pic>
        <p:nvPicPr>
          <p:cNvPr id="289" name="" descr=""/>
          <p:cNvPicPr/>
          <p:nvPr/>
        </p:nvPicPr>
        <p:blipFill>
          <a:blip r:embed="rId4"/>
          <a:stretch/>
        </p:blipFill>
        <p:spPr>
          <a:xfrm>
            <a:off x="792000" y="3024000"/>
            <a:ext cx="1799280" cy="719280"/>
          </a:xfrm>
          <a:prstGeom prst="rect">
            <a:avLst/>
          </a:prstGeom>
          <a:ln w="0">
            <a:noFill/>
          </a:ln>
        </p:spPr>
      </p:pic>
      <p:sp>
        <p:nvSpPr>
          <p:cNvPr id="290" name="CustomShape 5"/>
          <p:cNvSpPr/>
          <p:nvPr/>
        </p:nvSpPr>
        <p:spPr>
          <a:xfrm>
            <a:off x="3060000" y="3204000"/>
            <a:ext cx="719280" cy="359280"/>
          </a:xfrm>
          <a:custGeom>
            <a:avLst/>
            <a:gdLst>
              <a:gd name="textAreaLeft" fmla="*/ 0 w 719280"/>
              <a:gd name="textAreaRight" fmla="*/ 719640 w 719280"/>
              <a:gd name="textAreaTop" fmla="*/ 0 h 359280"/>
              <a:gd name="textAreaBottom" fmla="*/ 359640 h 359280"/>
            </a:gdLst>
            <a:ahLst/>
            <a:rect l="textAreaLeft" t="textAreaTop" r="textAreaRight" b="textAreaBottom"/>
            <a:pathLst>
              <a:path w="2002" h="1002">
                <a:moveTo>
                  <a:pt x="0" y="250"/>
                </a:moveTo>
                <a:lnTo>
                  <a:pt x="1500" y="250"/>
                </a:lnTo>
                <a:lnTo>
                  <a:pt x="1500" y="0"/>
                </a:lnTo>
                <a:lnTo>
                  <a:pt x="2001" y="500"/>
                </a:lnTo>
                <a:lnTo>
                  <a:pt x="1500" y="1001"/>
                </a:lnTo>
                <a:lnTo>
                  <a:pt x="1500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CustomShape 6"/>
          <p:cNvSpPr/>
          <p:nvPr/>
        </p:nvSpPr>
        <p:spPr>
          <a:xfrm>
            <a:off x="3996000" y="3096360"/>
            <a:ext cx="5399280" cy="62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Se crea un objeto </a:t>
            </a:r>
            <a:r>
              <a:rPr b="1" i="1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B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referenciado por variable </a:t>
            </a:r>
            <a:r>
              <a:rPr b="1" i="1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b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de tipo de referencia </a:t>
            </a:r>
            <a:r>
              <a:rPr b="1" i="1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B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CustomShape 7"/>
          <p:cNvSpPr/>
          <p:nvPr/>
        </p:nvSpPr>
        <p:spPr>
          <a:xfrm>
            <a:off x="3060000" y="4500360"/>
            <a:ext cx="719280" cy="359280"/>
          </a:xfrm>
          <a:custGeom>
            <a:avLst/>
            <a:gdLst>
              <a:gd name="textAreaLeft" fmla="*/ 0 w 719280"/>
              <a:gd name="textAreaRight" fmla="*/ 719640 w 719280"/>
              <a:gd name="textAreaTop" fmla="*/ 0 h 359280"/>
              <a:gd name="textAreaBottom" fmla="*/ 359640 h 359280"/>
            </a:gdLst>
            <a:ahLst/>
            <a:rect l="textAreaLeft" t="textAreaTop" r="textAreaRight" b="textAreaBottom"/>
            <a:pathLst>
              <a:path w="2002" h="1002">
                <a:moveTo>
                  <a:pt x="0" y="250"/>
                </a:moveTo>
                <a:lnTo>
                  <a:pt x="1500" y="250"/>
                </a:lnTo>
                <a:lnTo>
                  <a:pt x="1500" y="0"/>
                </a:lnTo>
                <a:lnTo>
                  <a:pt x="2001" y="500"/>
                </a:lnTo>
                <a:lnTo>
                  <a:pt x="1500" y="1001"/>
                </a:lnTo>
                <a:lnTo>
                  <a:pt x="1500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CustomShape 8"/>
          <p:cNvSpPr/>
          <p:nvPr/>
        </p:nvSpPr>
        <p:spPr>
          <a:xfrm>
            <a:off x="3996000" y="4392720"/>
            <a:ext cx="5399280" cy="62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Se crea un objeto </a:t>
            </a:r>
            <a:r>
              <a:rPr b="1" i="1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B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referenciado por variable </a:t>
            </a:r>
            <a:r>
              <a:rPr b="1" i="1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a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de tipo de referencia </a:t>
            </a:r>
            <a:r>
              <a:rPr b="1" i="1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A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CustomShape 9"/>
          <p:cNvSpPr/>
          <p:nvPr/>
        </p:nvSpPr>
        <p:spPr>
          <a:xfrm>
            <a:off x="3060000" y="5796720"/>
            <a:ext cx="719280" cy="359280"/>
          </a:xfrm>
          <a:custGeom>
            <a:avLst/>
            <a:gdLst>
              <a:gd name="textAreaLeft" fmla="*/ 0 w 719280"/>
              <a:gd name="textAreaRight" fmla="*/ 719640 w 719280"/>
              <a:gd name="textAreaTop" fmla="*/ 0 h 359280"/>
              <a:gd name="textAreaBottom" fmla="*/ 359640 h 359280"/>
            </a:gdLst>
            <a:ahLst/>
            <a:rect l="textAreaLeft" t="textAreaTop" r="textAreaRight" b="textAreaBottom"/>
            <a:pathLst>
              <a:path w="2002" h="1002">
                <a:moveTo>
                  <a:pt x="0" y="250"/>
                </a:moveTo>
                <a:lnTo>
                  <a:pt x="1500" y="250"/>
                </a:lnTo>
                <a:lnTo>
                  <a:pt x="1500" y="0"/>
                </a:lnTo>
                <a:lnTo>
                  <a:pt x="2001" y="500"/>
                </a:lnTo>
                <a:lnTo>
                  <a:pt x="1500" y="1001"/>
                </a:lnTo>
                <a:lnTo>
                  <a:pt x="1500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CustomShape 10"/>
          <p:cNvSpPr/>
          <p:nvPr/>
        </p:nvSpPr>
        <p:spPr>
          <a:xfrm>
            <a:off x="3996000" y="5689080"/>
            <a:ext cx="5399280" cy="62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Se crea un objeto </a:t>
            </a:r>
            <a:r>
              <a:rPr b="1" i="1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B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referenciado por variable </a:t>
            </a:r>
            <a:r>
              <a:rPr b="1" i="1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i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de tipo de referencia </a:t>
            </a:r>
            <a:r>
              <a:rPr b="1" i="1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I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  <p:timing>
    <p:tnLst>
      <p:par>
        <p:cTn id="204" dur="indefinite" restart="never" nodeType="tmRoot">
          <p:childTnLst>
            <p:seq>
              <p:cTn id="205" dur="indefinite" nodeType="mainSeq">
                <p:childTnLst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10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13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18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21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26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29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CustomShape 2"/>
          <p:cNvSpPr/>
          <p:nvPr/>
        </p:nvSpPr>
        <p:spPr>
          <a:xfrm>
            <a:off x="10440" y="1045440"/>
            <a:ext cx="10080000" cy="413640"/>
          </a:xfrm>
          <a:custGeom>
            <a:avLst/>
            <a:gdLst>
              <a:gd name="textAreaLeft" fmla="*/ 0 w 10080000"/>
              <a:gd name="textAreaRight" fmla="*/ 10080360 w 10080000"/>
              <a:gd name="textAreaTop" fmla="*/ 0 h 413640"/>
              <a:gd name="textAreaBottom" fmla="*/ 414000 h 4136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s-AR" sz="2200" spc="-1" strike="noStrike">
                <a:solidFill>
                  <a:srgbClr val="ffffff"/>
                </a:solidFill>
                <a:latin typeface="DejaVu Sans"/>
                <a:ea typeface="DejaVu Sans"/>
              </a:rPr>
              <a:t>Clase 4: Herencia, polimorfismo y sobrecarga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CustomShape 3"/>
          <p:cNvSpPr/>
          <p:nvPr/>
        </p:nvSpPr>
        <p:spPr>
          <a:xfrm>
            <a:off x="189720" y="965880"/>
            <a:ext cx="971928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Interfaces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CustomShape 4"/>
          <p:cNvSpPr/>
          <p:nvPr/>
        </p:nvSpPr>
        <p:spPr>
          <a:xfrm>
            <a:off x="228960" y="1553040"/>
            <a:ext cx="445140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Un ejemplo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9" name="" descr=""/>
          <p:cNvPicPr/>
          <p:nvPr/>
        </p:nvPicPr>
        <p:blipFill>
          <a:blip r:embed="rId1"/>
          <a:stretch/>
        </p:blipFill>
        <p:spPr>
          <a:xfrm>
            <a:off x="900000" y="2130120"/>
            <a:ext cx="2522880" cy="1037160"/>
          </a:xfrm>
          <a:prstGeom prst="rect">
            <a:avLst/>
          </a:prstGeom>
          <a:ln w="0">
            <a:noFill/>
          </a:ln>
        </p:spPr>
      </p:pic>
      <p:pic>
        <p:nvPicPr>
          <p:cNvPr id="300" name="" descr=""/>
          <p:cNvPicPr/>
          <p:nvPr/>
        </p:nvPicPr>
        <p:blipFill>
          <a:blip r:embed="rId2"/>
          <a:stretch/>
        </p:blipFill>
        <p:spPr>
          <a:xfrm>
            <a:off x="7560000" y="1771200"/>
            <a:ext cx="2304000" cy="856080"/>
          </a:xfrm>
          <a:prstGeom prst="rect">
            <a:avLst/>
          </a:prstGeom>
          <a:ln w="0">
            <a:noFill/>
          </a:ln>
        </p:spPr>
      </p:pic>
      <p:pic>
        <p:nvPicPr>
          <p:cNvPr id="301" name="" descr=""/>
          <p:cNvPicPr/>
          <p:nvPr/>
        </p:nvPicPr>
        <p:blipFill>
          <a:blip r:embed="rId3"/>
          <a:stretch/>
        </p:blipFill>
        <p:spPr>
          <a:xfrm>
            <a:off x="7560000" y="3647160"/>
            <a:ext cx="2151720" cy="780120"/>
          </a:xfrm>
          <a:prstGeom prst="rect">
            <a:avLst/>
          </a:prstGeom>
          <a:ln w="0">
            <a:noFill/>
          </a:ln>
        </p:spPr>
      </p:pic>
      <p:pic>
        <p:nvPicPr>
          <p:cNvPr id="302" name="" descr=""/>
          <p:cNvPicPr/>
          <p:nvPr/>
        </p:nvPicPr>
        <p:blipFill>
          <a:blip r:embed="rId4"/>
          <a:stretch/>
        </p:blipFill>
        <p:spPr>
          <a:xfrm>
            <a:off x="7560000" y="5508000"/>
            <a:ext cx="2275560" cy="865800"/>
          </a:xfrm>
          <a:prstGeom prst="rect">
            <a:avLst/>
          </a:prstGeom>
          <a:ln w="0">
            <a:noFill/>
          </a:ln>
        </p:spPr>
      </p:pic>
      <p:pic>
        <p:nvPicPr>
          <p:cNvPr id="303" name="" descr=""/>
          <p:cNvPicPr/>
          <p:nvPr/>
        </p:nvPicPr>
        <p:blipFill>
          <a:blip r:embed="rId5"/>
          <a:stretch/>
        </p:blipFill>
        <p:spPr>
          <a:xfrm>
            <a:off x="180000" y="4248000"/>
            <a:ext cx="6428160" cy="2142000"/>
          </a:xfrm>
          <a:prstGeom prst="rect">
            <a:avLst/>
          </a:prstGeom>
          <a:ln w="0">
            <a:noFill/>
          </a:ln>
        </p:spPr>
      </p:pic>
      <p:sp>
        <p:nvSpPr>
          <p:cNvPr id="304" name="CustomShape 5"/>
          <p:cNvSpPr/>
          <p:nvPr/>
        </p:nvSpPr>
        <p:spPr>
          <a:xfrm rot="16251000">
            <a:off x="1804320" y="3345120"/>
            <a:ext cx="719280" cy="359280"/>
          </a:xfrm>
          <a:custGeom>
            <a:avLst/>
            <a:gdLst>
              <a:gd name="textAreaLeft" fmla="*/ 0 w 719280"/>
              <a:gd name="textAreaRight" fmla="*/ 719640 w 719280"/>
              <a:gd name="textAreaTop" fmla="*/ 0 h 359280"/>
              <a:gd name="textAreaBottom" fmla="*/ 359640 h 359280"/>
            </a:gdLst>
            <a:ahLst/>
            <a:rect l="textAreaLeft" t="textAreaTop" r="textAreaRight" b="textAreaBottom"/>
            <a:pathLst>
              <a:path w="2002" h="1002">
                <a:moveTo>
                  <a:pt x="0" y="251"/>
                </a:moveTo>
                <a:lnTo>
                  <a:pt x="1500" y="250"/>
                </a:lnTo>
                <a:lnTo>
                  <a:pt x="1499" y="0"/>
                </a:lnTo>
                <a:lnTo>
                  <a:pt x="2001" y="500"/>
                </a:lnTo>
                <a:lnTo>
                  <a:pt x="1501" y="1001"/>
                </a:lnTo>
                <a:lnTo>
                  <a:pt x="1500" y="750"/>
                </a:lnTo>
                <a:lnTo>
                  <a:pt x="0" y="752"/>
                </a:lnTo>
                <a:lnTo>
                  <a:pt x="0" y="251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  <p:timing>
    <p:tnLst>
      <p:par>
        <p:cTn id="230" dur="indefinite" restart="never" nodeType="tmRoot">
          <p:childTnLst>
            <p:seq>
              <p:cTn id="231" dur="indefinite" nodeType="mainSeq">
                <p:childTnLst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36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39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42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47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52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55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CustomShape 2"/>
          <p:cNvSpPr/>
          <p:nvPr/>
        </p:nvSpPr>
        <p:spPr>
          <a:xfrm>
            <a:off x="10800" y="1045440"/>
            <a:ext cx="10080000" cy="413640"/>
          </a:xfrm>
          <a:custGeom>
            <a:avLst/>
            <a:gdLst>
              <a:gd name="textAreaLeft" fmla="*/ 0 w 10080000"/>
              <a:gd name="textAreaRight" fmla="*/ 10080360 w 10080000"/>
              <a:gd name="textAreaTop" fmla="*/ 0 h 413640"/>
              <a:gd name="textAreaBottom" fmla="*/ 414000 h 4136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s-AR" sz="2200" spc="-1" strike="noStrike">
                <a:solidFill>
                  <a:srgbClr val="ffffff"/>
                </a:solidFill>
                <a:latin typeface="DejaVu Sans"/>
                <a:ea typeface="DejaVu Sans"/>
              </a:rPr>
              <a:t>Clase 4: Herencia, polimorfismo y sobrecarga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CustomShape 3"/>
          <p:cNvSpPr/>
          <p:nvPr/>
        </p:nvSpPr>
        <p:spPr>
          <a:xfrm>
            <a:off x="190080" y="821880"/>
            <a:ext cx="971928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Interfaces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CustomShape 4"/>
          <p:cNvSpPr/>
          <p:nvPr/>
        </p:nvSpPr>
        <p:spPr>
          <a:xfrm>
            <a:off x="229320" y="1409040"/>
            <a:ext cx="445140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Utilizando todo lo anterior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8" name="" descr=""/>
          <p:cNvPicPr/>
          <p:nvPr/>
        </p:nvPicPr>
        <p:blipFill>
          <a:blip r:embed="rId1"/>
          <a:stretch/>
        </p:blipFill>
        <p:spPr>
          <a:xfrm>
            <a:off x="623520" y="1944000"/>
            <a:ext cx="3875760" cy="4647240"/>
          </a:xfrm>
          <a:prstGeom prst="rect">
            <a:avLst/>
          </a:prstGeom>
          <a:ln w="0">
            <a:noFill/>
          </a:ln>
        </p:spPr>
      </p:pic>
      <p:sp>
        <p:nvSpPr>
          <p:cNvPr id="309" name="CustomShape 5"/>
          <p:cNvSpPr/>
          <p:nvPr/>
        </p:nvSpPr>
        <p:spPr>
          <a:xfrm>
            <a:off x="3924000" y="2504880"/>
            <a:ext cx="719280" cy="359280"/>
          </a:xfrm>
          <a:custGeom>
            <a:avLst/>
            <a:gdLst>
              <a:gd name="textAreaLeft" fmla="*/ 0 w 719280"/>
              <a:gd name="textAreaRight" fmla="*/ 719640 w 719280"/>
              <a:gd name="textAreaTop" fmla="*/ 0 h 359280"/>
              <a:gd name="textAreaBottom" fmla="*/ 359640 h 359280"/>
            </a:gdLst>
            <a:ahLst/>
            <a:rect l="textAreaLeft" t="textAreaTop" r="textAreaRight" b="textAreaBottom"/>
            <a:pathLst>
              <a:path w="2002" h="1002">
                <a:moveTo>
                  <a:pt x="0" y="250"/>
                </a:moveTo>
                <a:lnTo>
                  <a:pt x="1500" y="250"/>
                </a:lnTo>
                <a:lnTo>
                  <a:pt x="1500" y="0"/>
                </a:lnTo>
                <a:lnTo>
                  <a:pt x="2001" y="500"/>
                </a:lnTo>
                <a:lnTo>
                  <a:pt x="1500" y="1001"/>
                </a:lnTo>
                <a:lnTo>
                  <a:pt x="1500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CustomShape 6"/>
          <p:cNvSpPr/>
          <p:nvPr/>
        </p:nvSpPr>
        <p:spPr>
          <a:xfrm>
            <a:off x="4752000" y="2505240"/>
            <a:ext cx="539928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Los métodos reciben como parámetro interfaces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CustomShape 7"/>
          <p:cNvSpPr/>
          <p:nvPr/>
        </p:nvSpPr>
        <p:spPr>
          <a:xfrm>
            <a:off x="3924000" y="5204880"/>
            <a:ext cx="719280" cy="359280"/>
          </a:xfrm>
          <a:custGeom>
            <a:avLst/>
            <a:gdLst>
              <a:gd name="textAreaLeft" fmla="*/ 0 w 719280"/>
              <a:gd name="textAreaRight" fmla="*/ 719640 w 719280"/>
              <a:gd name="textAreaTop" fmla="*/ 0 h 359280"/>
              <a:gd name="textAreaBottom" fmla="*/ 359640 h 359280"/>
            </a:gdLst>
            <a:ahLst/>
            <a:rect l="textAreaLeft" t="textAreaTop" r="textAreaRight" b="textAreaBottom"/>
            <a:pathLst>
              <a:path w="2002" h="1002">
                <a:moveTo>
                  <a:pt x="0" y="250"/>
                </a:moveTo>
                <a:lnTo>
                  <a:pt x="1500" y="250"/>
                </a:lnTo>
                <a:lnTo>
                  <a:pt x="1500" y="0"/>
                </a:lnTo>
                <a:lnTo>
                  <a:pt x="2001" y="500"/>
                </a:lnTo>
                <a:lnTo>
                  <a:pt x="1500" y="1001"/>
                </a:lnTo>
                <a:lnTo>
                  <a:pt x="1500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9999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CustomShape 8"/>
          <p:cNvSpPr/>
          <p:nvPr/>
        </p:nvSpPr>
        <p:spPr>
          <a:xfrm>
            <a:off x="4752000" y="5205240"/>
            <a:ext cx="539928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Se pasa un objeto de tipo </a:t>
            </a:r>
            <a:r>
              <a:rPr b="0" i="1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Hero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en tiempo de ejecución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  <p:timing>
    <p:tnLst>
      <p:par>
        <p:cTn id="256" dur="indefinite" restart="never" nodeType="tmRoot">
          <p:childTnLst>
            <p:seq>
              <p:cTn id="257" dur="indefinite" nodeType="mainSeq">
                <p:childTnLst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62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65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70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73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CustomShape 3"/>
          <p:cNvSpPr/>
          <p:nvPr/>
        </p:nvSpPr>
        <p:spPr>
          <a:xfrm>
            <a:off x="190440" y="965880"/>
            <a:ext cx="971928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Polimorfismo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CustomShape 4"/>
          <p:cNvSpPr/>
          <p:nvPr/>
        </p:nvSpPr>
        <p:spPr>
          <a:xfrm>
            <a:off x="0" y="1729800"/>
            <a:ext cx="10079280" cy="22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Una variable de referencia cambia el comportamiento según el tipo de objeto al que apunta.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Una variable traba a objetos de una clase como objetos de una superclase y se invoca              dinámicamente el método correspondiente (</a:t>
            </a:r>
            <a:r>
              <a:rPr b="0" i="1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binding dinámico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)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 </a:t>
            </a:r>
            <a:r>
              <a:rPr b="0" lang="es-AR" sz="1800" spc="-1" strike="noStrike">
                <a:solidFill>
                  <a:srgbClr val="000000"/>
                </a:solidFill>
                <a:latin typeface="DejaVu Serif Condensed"/>
                <a:ea typeface="DejaVu Sans"/>
              </a:rPr>
              <a:t>Si tenemos un método que espera como parámetro una variable de clase X, podemos               invocarlo usando subclases pasando como parámetros referencias a objetos instancia de          subclases de X.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5" name="" descr=""/>
          <p:cNvPicPr/>
          <p:nvPr/>
        </p:nvPicPr>
        <p:blipFill>
          <a:blip r:embed="rId1"/>
          <a:stretch/>
        </p:blipFill>
        <p:spPr>
          <a:xfrm>
            <a:off x="3270600" y="4255560"/>
            <a:ext cx="3208680" cy="2151720"/>
          </a:xfrm>
          <a:prstGeom prst="rect">
            <a:avLst/>
          </a:prstGeom>
          <a:ln w="0">
            <a:noFill/>
          </a:ln>
        </p:spPr>
      </p:pic>
    </p:spTree>
  </p:cSld>
  <p:transition spd="med">
    <p:wipe dir="d"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CustomShape 2"/>
          <p:cNvSpPr/>
          <p:nvPr/>
        </p:nvSpPr>
        <p:spPr>
          <a:xfrm>
            <a:off x="11520" y="1045440"/>
            <a:ext cx="10080000" cy="413640"/>
          </a:xfrm>
          <a:custGeom>
            <a:avLst/>
            <a:gdLst>
              <a:gd name="textAreaLeft" fmla="*/ 0 w 10080000"/>
              <a:gd name="textAreaRight" fmla="*/ 10080360 w 10080000"/>
              <a:gd name="textAreaTop" fmla="*/ 0 h 413640"/>
              <a:gd name="textAreaBottom" fmla="*/ 414000 h 4136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s-AR" sz="2200" spc="-1" strike="noStrike">
                <a:solidFill>
                  <a:srgbClr val="ffffff"/>
                </a:solidFill>
                <a:latin typeface="DejaVu Sans"/>
                <a:ea typeface="DejaVu Sans"/>
              </a:rPr>
              <a:t>Clase 4: Herencia, polimorfismo y sobrecarga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CustomShape 3"/>
          <p:cNvSpPr/>
          <p:nvPr/>
        </p:nvSpPr>
        <p:spPr>
          <a:xfrm>
            <a:off x="190800" y="1577880"/>
            <a:ext cx="971928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Polimorfismo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8" name="" descr=""/>
          <p:cNvPicPr/>
          <p:nvPr/>
        </p:nvPicPr>
        <p:blipFill>
          <a:blip r:embed="rId1"/>
          <a:stretch/>
        </p:blipFill>
        <p:spPr>
          <a:xfrm>
            <a:off x="243360" y="2880000"/>
            <a:ext cx="4075920" cy="2427840"/>
          </a:xfrm>
          <a:prstGeom prst="rect">
            <a:avLst/>
          </a:prstGeom>
          <a:ln w="0">
            <a:noFill/>
          </a:ln>
        </p:spPr>
      </p:pic>
      <p:pic>
        <p:nvPicPr>
          <p:cNvPr id="319" name="" descr=""/>
          <p:cNvPicPr/>
          <p:nvPr/>
        </p:nvPicPr>
        <p:blipFill>
          <a:blip r:embed="rId2"/>
          <a:stretch/>
        </p:blipFill>
        <p:spPr>
          <a:xfrm>
            <a:off x="4680000" y="2445480"/>
            <a:ext cx="4970880" cy="3313800"/>
          </a:xfrm>
          <a:prstGeom prst="rect">
            <a:avLst/>
          </a:prstGeom>
          <a:ln w="0">
            <a:noFill/>
          </a:ln>
        </p:spPr>
      </p:pic>
    </p:spTree>
  </p:cSld>
  <p:transition spd="med">
    <p:wipe dir="d"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" descr=""/>
          <p:cNvPicPr/>
          <p:nvPr/>
        </p:nvPicPr>
        <p:blipFill>
          <a:blip r:embed="rId1"/>
          <a:stretch/>
        </p:blipFill>
        <p:spPr>
          <a:xfrm>
            <a:off x="528840" y="2415960"/>
            <a:ext cx="3885480" cy="2284920"/>
          </a:xfrm>
          <a:prstGeom prst="rect">
            <a:avLst/>
          </a:prstGeom>
          <a:ln w="0">
            <a:noFill/>
          </a:ln>
        </p:spPr>
      </p:pic>
      <p:pic>
        <p:nvPicPr>
          <p:cNvPr id="321" name="" descr=""/>
          <p:cNvPicPr/>
          <p:nvPr/>
        </p:nvPicPr>
        <p:blipFill>
          <a:blip r:embed="rId2"/>
          <a:stretch/>
        </p:blipFill>
        <p:spPr>
          <a:xfrm>
            <a:off x="5748840" y="1515960"/>
            <a:ext cx="3643920" cy="988560"/>
          </a:xfrm>
          <a:prstGeom prst="rect">
            <a:avLst/>
          </a:prstGeom>
          <a:ln w="0">
            <a:noFill/>
          </a:ln>
        </p:spPr>
      </p:pic>
      <p:pic>
        <p:nvPicPr>
          <p:cNvPr id="322" name="" descr=""/>
          <p:cNvPicPr/>
          <p:nvPr/>
        </p:nvPicPr>
        <p:blipFill>
          <a:blip r:embed="rId3"/>
          <a:stretch/>
        </p:blipFill>
        <p:spPr>
          <a:xfrm>
            <a:off x="5568840" y="2925360"/>
            <a:ext cx="4351680" cy="1541880"/>
          </a:xfrm>
          <a:prstGeom prst="rect">
            <a:avLst/>
          </a:prstGeom>
          <a:ln w="0">
            <a:noFill/>
          </a:ln>
        </p:spPr>
      </p:pic>
      <p:pic>
        <p:nvPicPr>
          <p:cNvPr id="323" name="" descr=""/>
          <p:cNvPicPr/>
          <p:nvPr/>
        </p:nvPicPr>
        <p:blipFill>
          <a:blip r:embed="rId4"/>
          <a:stretch/>
        </p:blipFill>
        <p:spPr>
          <a:xfrm>
            <a:off x="5526720" y="4719960"/>
            <a:ext cx="4361400" cy="1580040"/>
          </a:xfrm>
          <a:prstGeom prst="rect">
            <a:avLst/>
          </a:prstGeom>
          <a:ln w="0">
            <a:noFill/>
          </a:ln>
        </p:spPr>
      </p:pic>
      <p:pic>
        <p:nvPicPr>
          <p:cNvPr id="324" name="" descr=""/>
          <p:cNvPicPr/>
          <p:nvPr/>
        </p:nvPicPr>
        <p:blipFill>
          <a:blip r:embed="rId5"/>
          <a:stretch/>
        </p:blipFill>
        <p:spPr>
          <a:xfrm>
            <a:off x="679320" y="5115960"/>
            <a:ext cx="3808800" cy="1180080"/>
          </a:xfrm>
          <a:prstGeom prst="rect">
            <a:avLst/>
          </a:prstGeom>
          <a:ln w="0">
            <a:noFill/>
          </a:ln>
        </p:spPr>
      </p:pic>
      <p:sp>
        <p:nvSpPr>
          <p:cNvPr id="325" name="CustomShape 2"/>
          <p:cNvSpPr/>
          <p:nvPr/>
        </p:nvSpPr>
        <p:spPr>
          <a:xfrm>
            <a:off x="720" y="581400"/>
            <a:ext cx="10080000" cy="413640"/>
          </a:xfrm>
          <a:custGeom>
            <a:avLst/>
            <a:gdLst>
              <a:gd name="textAreaLeft" fmla="*/ 0 w 10080000"/>
              <a:gd name="textAreaRight" fmla="*/ 10080360 w 10080000"/>
              <a:gd name="textAreaTop" fmla="*/ 0 h 413640"/>
              <a:gd name="textAreaBottom" fmla="*/ 414000 h 4136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s-AR" sz="2200" spc="-1" strike="noStrike">
                <a:solidFill>
                  <a:srgbClr val="ffffff"/>
                </a:solidFill>
                <a:latin typeface="DejaVu Sans"/>
                <a:ea typeface="DejaVu Sans"/>
              </a:rPr>
              <a:t>Clase 4: Herencia, polimorfismo y sobrecarga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CustomShape 3"/>
          <p:cNvSpPr/>
          <p:nvPr/>
        </p:nvSpPr>
        <p:spPr>
          <a:xfrm>
            <a:off x="180000" y="1113840"/>
            <a:ext cx="971928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Polimorfismo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CustomShape 2"/>
          <p:cNvSpPr/>
          <p:nvPr/>
        </p:nvSpPr>
        <p:spPr>
          <a:xfrm>
            <a:off x="720" y="506160"/>
            <a:ext cx="10080000" cy="413640"/>
          </a:xfrm>
          <a:custGeom>
            <a:avLst/>
            <a:gdLst>
              <a:gd name="textAreaLeft" fmla="*/ 0 w 10080000"/>
              <a:gd name="textAreaRight" fmla="*/ 10080360 w 10080000"/>
              <a:gd name="textAreaTop" fmla="*/ 0 h 413640"/>
              <a:gd name="textAreaBottom" fmla="*/ 414000 h 4136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s-AR" sz="2200" spc="-1" strike="noStrike">
                <a:solidFill>
                  <a:srgbClr val="ffffff"/>
                </a:solidFill>
                <a:latin typeface="DejaVu Sans"/>
                <a:ea typeface="DejaVu Sans"/>
              </a:rPr>
              <a:t>Clase 4: Herencia, polimorfismo y sobrecarga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180000" y="1038600"/>
            <a:ext cx="971928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Polimorfismo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9" name="" descr=""/>
          <p:cNvPicPr/>
          <p:nvPr/>
        </p:nvPicPr>
        <p:blipFill>
          <a:blip r:embed="rId1"/>
          <a:stretch/>
        </p:blipFill>
        <p:spPr>
          <a:xfrm>
            <a:off x="529200" y="2341080"/>
            <a:ext cx="3885480" cy="2284920"/>
          </a:xfrm>
          <a:prstGeom prst="rect">
            <a:avLst/>
          </a:prstGeom>
          <a:ln w="0">
            <a:noFill/>
          </a:ln>
        </p:spPr>
      </p:pic>
      <p:pic>
        <p:nvPicPr>
          <p:cNvPr id="330" name="" descr=""/>
          <p:cNvPicPr/>
          <p:nvPr/>
        </p:nvPicPr>
        <p:blipFill>
          <a:blip r:embed="rId2"/>
          <a:stretch/>
        </p:blipFill>
        <p:spPr>
          <a:xfrm>
            <a:off x="5177160" y="2520720"/>
            <a:ext cx="4710960" cy="1619280"/>
          </a:xfrm>
          <a:prstGeom prst="rect">
            <a:avLst/>
          </a:prstGeom>
          <a:ln w="0">
            <a:noFill/>
          </a:ln>
        </p:spPr>
      </p:pic>
      <p:sp>
        <p:nvSpPr>
          <p:cNvPr id="331" name="CustomShape 4"/>
          <p:cNvSpPr/>
          <p:nvPr/>
        </p:nvSpPr>
        <p:spPr>
          <a:xfrm>
            <a:off x="1608840" y="5400720"/>
            <a:ext cx="6659280" cy="719280"/>
          </a:xfrm>
          <a:prstGeom prst="rect">
            <a:avLst/>
          </a:prstGeom>
          <a:solidFill>
            <a:srgbClr val="99cc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s-AR" sz="18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Ejecutamos el método de la clase correspondiente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d"/>
  </p:transition>
  <p:timing>
    <p:tnLst>
      <p:par>
        <p:cTn id="274" dur="indefinite" restart="never" nodeType="tmRoot">
          <p:childTnLst>
            <p:seq>
              <p:cTn id="275" dur="indefinite" nodeType="mainSeq">
                <p:childTnLst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id="280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CustomShape 2"/>
          <p:cNvSpPr/>
          <p:nvPr/>
        </p:nvSpPr>
        <p:spPr>
          <a:xfrm>
            <a:off x="1080360" y="1391760"/>
            <a:ext cx="9179640" cy="473760"/>
          </a:xfrm>
          <a:custGeom>
            <a:avLst/>
            <a:gdLst>
              <a:gd name="textAreaLeft" fmla="*/ 0 w 9179640"/>
              <a:gd name="textAreaRight" fmla="*/ 9180000 w 9179640"/>
              <a:gd name="textAreaTop" fmla="*/ 0 h 473760"/>
              <a:gd name="textAreaBottom" fmla="*/ 474120 h 4737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8000"/>
              </a:lnSpc>
            </a:pPr>
            <a:r>
              <a:rPr b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¿Dudas?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CustomShape 3"/>
          <p:cNvSpPr/>
          <p:nvPr/>
        </p:nvSpPr>
        <p:spPr>
          <a:xfrm>
            <a:off x="180360" y="5826240"/>
            <a:ext cx="8819280" cy="473760"/>
          </a:xfrm>
          <a:custGeom>
            <a:avLst/>
            <a:gdLst>
              <a:gd name="textAreaLeft" fmla="*/ 0 w 8819280"/>
              <a:gd name="textAreaRight" fmla="*/ 8819640 w 8819280"/>
              <a:gd name="textAreaTop" fmla="*/ 0 h 473760"/>
              <a:gd name="textAreaBottom" fmla="*/ 474120 h 4737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98000"/>
              </a:lnSpc>
            </a:pPr>
            <a:r>
              <a:rPr b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¿Consultas?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4" name="" descr=""/>
          <p:cNvPicPr/>
          <p:nvPr/>
        </p:nvPicPr>
        <p:blipFill>
          <a:blip r:embed="rId1"/>
          <a:stretch/>
        </p:blipFill>
        <p:spPr>
          <a:xfrm>
            <a:off x="3593520" y="2437560"/>
            <a:ext cx="3066120" cy="3027960"/>
          </a:xfrm>
          <a:prstGeom prst="rect">
            <a:avLst/>
          </a:prstGeom>
          <a:ln w="0">
            <a:noFill/>
          </a:ln>
        </p:spPr>
      </p:pic>
    </p:spTree>
  </p:cSld>
  <p:transition spd="med">
    <p:wipe dir="d"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CustomShape 1"/>
          <p:cNvSpPr/>
          <p:nvPr/>
        </p:nvSpPr>
        <p:spPr>
          <a:xfrm>
            <a:off x="179280" y="1974960"/>
            <a:ext cx="9719640" cy="473760"/>
          </a:xfrm>
          <a:custGeom>
            <a:avLst/>
            <a:gdLst>
              <a:gd name="textAreaLeft" fmla="*/ 0 w 9719640"/>
              <a:gd name="textAreaRight" fmla="*/ 9720000 w 9719640"/>
              <a:gd name="textAreaTop" fmla="*/ 0 h 473760"/>
              <a:gd name="textAreaBottom" fmla="*/ 474120 h 4737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s-AR" sz="26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Información de contacto</a:t>
            </a:r>
            <a:endParaRPr b="0" lang="es-A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CustomShape 2"/>
          <p:cNvSpPr/>
          <p:nvPr/>
        </p:nvSpPr>
        <p:spPr>
          <a:xfrm>
            <a:off x="863640" y="3167640"/>
            <a:ext cx="3995640" cy="385200"/>
          </a:xfrm>
          <a:custGeom>
            <a:avLst/>
            <a:gdLst>
              <a:gd name="textAreaLeft" fmla="*/ 0 w 3995640"/>
              <a:gd name="textAreaRight" fmla="*/ 3996000 w 3995640"/>
              <a:gd name="textAreaTop" fmla="*/ 0 h 385200"/>
              <a:gd name="textAreaBottom" fmla="*/ 385560 h 3852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8000"/>
              </a:lnSpc>
            </a:pPr>
            <a:r>
              <a:rPr b="0" lang="es-AR" sz="2000" spc="-1" strike="noStrike" u="sng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DejaVu Sans Condensed"/>
                <a:ea typeface="DejaVu Sans"/>
                <a:hlinkClick r:id="rId1"/>
              </a:rPr>
              <a:t>http://www.gugler.com.ar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CustomShape 3"/>
          <p:cNvSpPr/>
          <p:nvPr/>
        </p:nvSpPr>
        <p:spPr>
          <a:xfrm>
            <a:off x="863640" y="5617080"/>
            <a:ext cx="8819280" cy="384840"/>
          </a:xfrm>
          <a:custGeom>
            <a:avLst/>
            <a:gdLst>
              <a:gd name="textAreaLeft" fmla="*/ 0 w 8819280"/>
              <a:gd name="textAreaRight" fmla="*/ 8819640 w 8819280"/>
              <a:gd name="textAreaTop" fmla="*/ 0 h 384840"/>
              <a:gd name="textAreaBottom" fmla="*/ 385200 h 3848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8000"/>
              </a:lnSpc>
            </a:pPr>
            <a:r>
              <a:rPr b="0" lang="es-AR" sz="2000" spc="-1" strike="noStrike" u="sng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DejaVu Sans Condensed"/>
                <a:ea typeface="DejaVu Sans"/>
                <a:hlinkClick r:id="rId2"/>
              </a:rPr>
              <a:t>contacto@gugler.com.ar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CustomShape 4"/>
          <p:cNvSpPr/>
          <p:nvPr/>
        </p:nvSpPr>
        <p:spPr>
          <a:xfrm>
            <a:off x="863640" y="6083640"/>
            <a:ext cx="8819280" cy="384840"/>
          </a:xfrm>
          <a:custGeom>
            <a:avLst/>
            <a:gdLst>
              <a:gd name="textAreaLeft" fmla="*/ 0 w 8819280"/>
              <a:gd name="textAreaRight" fmla="*/ 8819640 w 8819280"/>
              <a:gd name="textAreaTop" fmla="*/ 0 h 384840"/>
              <a:gd name="textAreaBottom" fmla="*/ 385200 h 3848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8000"/>
              </a:lnSpc>
            </a:pPr>
            <a:r>
              <a:rPr b="0" lang="es-AR" sz="2000" spc="-1" strike="noStrike">
                <a:solidFill>
                  <a:srgbClr val="333333"/>
                </a:solidFill>
                <a:latin typeface="DejaVu Sans Condensed"/>
                <a:ea typeface="DejaVu Sans"/>
              </a:rPr>
              <a:t>academica@gugler.com.ar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CustomShape 5"/>
          <p:cNvSpPr/>
          <p:nvPr/>
        </p:nvSpPr>
        <p:spPr>
          <a:xfrm>
            <a:off x="863640" y="6588360"/>
            <a:ext cx="8819280" cy="385200"/>
          </a:xfrm>
          <a:custGeom>
            <a:avLst/>
            <a:gdLst>
              <a:gd name="textAreaLeft" fmla="*/ 0 w 8819280"/>
              <a:gd name="textAreaRight" fmla="*/ 8819640 w 8819280"/>
              <a:gd name="textAreaTop" fmla="*/ 0 h 385200"/>
              <a:gd name="textAreaBottom" fmla="*/ 385560 h 3852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8000"/>
              </a:lnSpc>
            </a:pPr>
            <a:r>
              <a:rPr b="0" lang="es-AR" sz="2000" spc="-1" strike="noStrike">
                <a:solidFill>
                  <a:srgbClr val="333333"/>
                </a:solidFill>
                <a:latin typeface="DejaVu Sans Condensed"/>
                <a:ea typeface="DejaVu Sans"/>
              </a:rPr>
              <a:t>administracion@gugler.com.ar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CustomShape 6"/>
          <p:cNvSpPr/>
          <p:nvPr/>
        </p:nvSpPr>
        <p:spPr>
          <a:xfrm>
            <a:off x="863640" y="3601080"/>
            <a:ext cx="4355640" cy="384840"/>
          </a:xfrm>
          <a:custGeom>
            <a:avLst/>
            <a:gdLst>
              <a:gd name="textAreaLeft" fmla="*/ 0 w 4355640"/>
              <a:gd name="textAreaRight" fmla="*/ 4356000 w 4355640"/>
              <a:gd name="textAreaTop" fmla="*/ 0 h 384840"/>
              <a:gd name="textAreaBottom" fmla="*/ 385200 h 3848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8000"/>
              </a:lnSpc>
            </a:pPr>
            <a:r>
              <a:rPr b="0" lang="es-AR" sz="2000" spc="-1" strike="noStrike" u="sng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DejaVu Sans Condensed"/>
                <a:ea typeface="DejaVu Sans"/>
                <a:hlinkClick r:id="rId3"/>
              </a:rPr>
              <a:t>http://cursos.gugler.com.ar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CustomShape 7"/>
          <p:cNvSpPr/>
          <p:nvPr/>
        </p:nvSpPr>
        <p:spPr>
          <a:xfrm>
            <a:off x="324000" y="2696040"/>
            <a:ext cx="3995280" cy="413640"/>
          </a:xfrm>
          <a:custGeom>
            <a:avLst/>
            <a:gdLst>
              <a:gd name="textAreaLeft" fmla="*/ 0 w 3995280"/>
              <a:gd name="textAreaRight" fmla="*/ 3995640 w 3995280"/>
              <a:gd name="textAreaTop" fmla="*/ 0 h 413640"/>
              <a:gd name="textAreaBottom" fmla="*/ 414000 h 4136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8000"/>
              </a:lnSpc>
            </a:pPr>
            <a:r>
              <a:rPr b="1" lang="es-AR" sz="2200" spc="-1" strike="noStrike">
                <a:solidFill>
                  <a:srgbClr val="000000"/>
                </a:solidFill>
                <a:latin typeface="DejaVu Sans Condensed"/>
                <a:ea typeface="DejaVu Sans"/>
              </a:rPr>
              <a:t>Web: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CustomShape 8"/>
          <p:cNvSpPr/>
          <p:nvPr/>
        </p:nvSpPr>
        <p:spPr>
          <a:xfrm>
            <a:off x="324000" y="5036040"/>
            <a:ext cx="8098560" cy="413640"/>
          </a:xfrm>
          <a:custGeom>
            <a:avLst/>
            <a:gdLst>
              <a:gd name="textAreaLeft" fmla="*/ 0 w 8098560"/>
              <a:gd name="textAreaRight" fmla="*/ 8098920 w 8098560"/>
              <a:gd name="textAreaTop" fmla="*/ 0 h 413640"/>
              <a:gd name="textAreaBottom" fmla="*/ 414000 h 4136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8000"/>
              </a:lnSpc>
            </a:pPr>
            <a:r>
              <a:rPr b="1" lang="es-AR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Mail: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CustomShape 9"/>
          <p:cNvSpPr/>
          <p:nvPr/>
        </p:nvSpPr>
        <p:spPr>
          <a:xfrm>
            <a:off x="180000" y="7081200"/>
            <a:ext cx="9719280" cy="29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s-AR" sz="1400" spc="-1" strike="noStrike">
                <a:solidFill>
                  <a:srgbClr val="000000"/>
                </a:solidFill>
                <a:latin typeface="DejaVu Sans"/>
                <a:ea typeface="DejaVu Sans"/>
              </a:rPr>
              <a:t>Versión 1.1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CustomShape 10"/>
          <p:cNvSpPr/>
          <p:nvPr/>
        </p:nvSpPr>
        <p:spPr>
          <a:xfrm>
            <a:off x="864000" y="4069440"/>
            <a:ext cx="4355640" cy="384840"/>
          </a:xfrm>
          <a:custGeom>
            <a:avLst/>
            <a:gdLst>
              <a:gd name="textAreaLeft" fmla="*/ 0 w 4355640"/>
              <a:gd name="textAreaRight" fmla="*/ 4356000 w 4355640"/>
              <a:gd name="textAreaTop" fmla="*/ 0 h 384840"/>
              <a:gd name="textAreaBottom" fmla="*/ 385200 h 3848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8000"/>
              </a:lnSpc>
            </a:pPr>
            <a:r>
              <a:rPr b="0" lang="es-AR" sz="2000" spc="-1" strike="noStrike" u="sng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DejaVu Sans Condensed"/>
                <a:ea typeface="DejaVu Sans"/>
                <a:hlinkClick r:id="rId4"/>
              </a:rPr>
              <a:t>http://www.facebook.com/gugler.com.ar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CustomShape 11"/>
          <p:cNvSpPr/>
          <p:nvPr/>
        </p:nvSpPr>
        <p:spPr>
          <a:xfrm>
            <a:off x="864000" y="4501440"/>
            <a:ext cx="4355640" cy="384840"/>
          </a:xfrm>
          <a:custGeom>
            <a:avLst/>
            <a:gdLst>
              <a:gd name="textAreaLeft" fmla="*/ 0 w 4355640"/>
              <a:gd name="textAreaRight" fmla="*/ 4356000 w 4355640"/>
              <a:gd name="textAreaTop" fmla="*/ 0 h 384840"/>
              <a:gd name="textAreaBottom" fmla="*/ 385200 h 3848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8000"/>
              </a:lnSpc>
            </a:pPr>
            <a:r>
              <a:rPr b="0" lang="es-AR" sz="2000" spc="-1" strike="noStrike" u="sng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DejaVu Sans Condensed"/>
                <a:ea typeface="DejaVu Sans"/>
                <a:hlinkClick r:id="rId5"/>
              </a:rPr>
              <a:t>http://www.twitter.com/cgugler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CustomShape 12"/>
          <p:cNvSpPr/>
          <p:nvPr/>
        </p:nvSpPr>
        <p:spPr>
          <a:xfrm>
            <a:off x="720" y="1066680"/>
            <a:ext cx="10079280" cy="372600"/>
          </a:xfrm>
          <a:prstGeom prst="rect">
            <a:avLst/>
          </a:prstGeom>
          <a:solidFill>
            <a:srgbClr val="0048b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CustomShape 13"/>
          <p:cNvSpPr/>
          <p:nvPr/>
        </p:nvSpPr>
        <p:spPr>
          <a:xfrm>
            <a:off x="1440" y="1045440"/>
            <a:ext cx="10080000" cy="413640"/>
          </a:xfrm>
          <a:custGeom>
            <a:avLst/>
            <a:gdLst>
              <a:gd name="textAreaLeft" fmla="*/ 0 w 10080000"/>
              <a:gd name="textAreaRight" fmla="*/ 10080360 w 10080000"/>
              <a:gd name="textAreaTop" fmla="*/ 0 h 413640"/>
              <a:gd name="textAreaBottom" fmla="*/ 414000 h 4136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8000"/>
              </a:lnSpc>
            </a:pPr>
            <a:r>
              <a:rPr b="1" lang="es-AR" sz="2200" spc="-1" strike="noStrike">
                <a:solidFill>
                  <a:srgbClr val="ffffff"/>
                </a:solidFill>
                <a:latin typeface="DejaVu Sans"/>
                <a:ea typeface="DejaVu Sans"/>
              </a:rPr>
              <a:t>Capítulo 2: Java y la Programación Orientada a Objetos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8" name="" descr=""/>
          <p:cNvPicPr/>
          <p:nvPr/>
        </p:nvPicPr>
        <p:blipFill>
          <a:blip r:embed="rId6"/>
          <a:stretch/>
        </p:blipFill>
        <p:spPr>
          <a:xfrm>
            <a:off x="360" y="0"/>
            <a:ext cx="10078920" cy="1081440"/>
          </a:xfrm>
          <a:prstGeom prst="rect">
            <a:avLst/>
          </a:prstGeom>
          <a:ln w="0">
            <a:noFill/>
          </a:ln>
        </p:spPr>
      </p:pic>
    </p:spTree>
  </p:cSld>
  <p:transition spd="med">
    <p:wipe dir="d"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10374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2007-08-19T13:48:21Z</dcterms:created>
  <dc:creator/>
  <dc:description/>
  <dc:language>es-ES</dc:language>
  <cp:lastModifiedBy/>
  <dcterms:modified xsi:type="dcterms:W3CDTF">2026-08-10T00:16:52Z</dcterms:modified>
  <cp:revision>918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fo 1">
    <vt:lpwstr/>
  </property>
  <property fmtid="{D5CDD505-2E9C-101B-9397-08002B2CF9AE}" pid="3" name="Info 2">
    <vt:lpwstr/>
  </property>
  <property fmtid="{D5CDD505-2E9C-101B-9397-08002B2CF9AE}" pid="4" name="Info 3">
    <vt:lpwstr/>
  </property>
  <property fmtid="{D5CDD505-2E9C-101B-9397-08002B2CF9AE}" pid="5" name="Info 4">
    <vt:lpwstr/>
  </property>
</Properties>
</file>